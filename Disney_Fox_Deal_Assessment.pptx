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transaction: Disney acquires the 21st Century Fox entertainment assets for $69.5bn, ~51% cash / ~49% new equity, closed March 2019. Recommendation is to approve — optically GAAP-dilutive but cash-accretive within three years and deleveraging to net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Structure: double-dummy under TWDC Holdco. Sources equal uses at $69.5bn. Consideration ~51% cash / ~49% stock; pro forma ownership 83/17 on 1,806mm shares. Total debt at close $38.8bn — new acquisition debt $19.6bn plus assumed 21CF debt $19.2bn; RSN divestiture proceeds of $13.1bn applied to debt paydown.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Valuation: the $69.5bn consideration sits within the negotiated range that rose from $52.4bn initial to $71.3bn revised — a 36% uplift. Implied enterprise value of ~$92.3bn including assumed debt at fair value. Multiples reflect the narrowly-defined RemainCo entertainment perimeter (Hulu equity-method, Sky excluded).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impact: the FY2023E EPS bridge shows standalone $8.24 falling to pro forma $7.74 — GAAP-dilutive, driven almost entirely by share issuance (-$1.41) and non-cash PPA amortization (-$1.49). Offsetting positives: Fox earnings +$1.07, synergies +$0.85, deleveraging +$0.49. Cash EPS turns accretive in FY2021E, reaching +13% by FY2023E. Synergies ramp to a $2.0bn run-rate; all acquisition and assumed debt retired by FY2022E.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strategically compelling and scale-defining. Headline GAAP dilution masks favorable cash economics and a strong deleveraging profile. Sensitivity testing confirms FY2023E cash accretion holds even at zero incremental synergies and across a 2–6% financing-rate range. Recommendation: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47713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438150"/>
            <a:ext cx="72431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WALT DISNEY COMPANY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B7B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OF 21ST CENTURY FOX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539466" y="461963"/>
            <a:ext cx="31804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· CONFIDENTIAL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7250" y="1238250"/>
            <a:ext cx="4737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4394" y="1438275"/>
            <a:ext cx="4728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3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TRANSACTION OVERVIEW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57250" y="1981200"/>
            <a:ext cx="10399395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spc="-42" kern="0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Disney acquires the 21st Century Fox entertainment assets in a $69.5 billion cash-and-stock transaction.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57250" y="4074616"/>
            <a:ext cx="20868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7712" y="3988891"/>
            <a:ext cx="8308019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3A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— cash-accretive within three years and deleveraging to a net-cash position.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1715750" y="2152650"/>
            <a:ext cx="6286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RATIONALE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15750" y="2690813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039600" y="2538413"/>
            <a:ext cx="5552885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Disney's franchises and direct-to-consumer platform with Fox's film, television and content library.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715750" y="346992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4" name="Text 12"/>
          <p:cNvSpPr/>
          <p:nvPr/>
        </p:nvSpPr>
        <p:spPr>
          <a:xfrm>
            <a:off x="12039600" y="3317528"/>
            <a:ext cx="5552885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Consolidates a controlling interest in Hulu, accelerating the streaming strategy.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715750" y="4249043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039600" y="4096643"/>
            <a:ext cx="5552885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Scale-defining: pro forma revenue of ~$97.5bn and EBITDA of ~$28.3bn by FY2023E.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57250" y="4876800"/>
            <a:ext cx="4095750" cy="1471613"/>
          </a:xfrm>
          <a:prstGeom prst="rect">
            <a:avLst/>
          </a:prstGeom>
          <a:solidFill>
            <a:srgbClr val="FFFFFF"/>
          </a:solidFill>
          <a:ln w="14288">
            <a:solidFill>
              <a:srgbClr val="1C1B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2538" y="5176838"/>
            <a:ext cx="363569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ACQUIRER · NYSE: DIS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52538" y="5419725"/>
            <a:ext cx="34043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Walt Disney Company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518053" y="5295900"/>
            <a:ext cx="3577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CONSIDERATION · $69,456MM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5238750" y="5600700"/>
            <a:ext cx="7677150" cy="1905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22" name="Shape 20"/>
          <p:cNvSpPr/>
          <p:nvPr/>
        </p:nvSpPr>
        <p:spPr>
          <a:xfrm>
            <a:off x="12915900" y="5534025"/>
            <a:ext cx="133350" cy="1524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23" name="Text 21"/>
          <p:cNvSpPr/>
          <p:nvPr/>
        </p:nvSpPr>
        <p:spPr>
          <a:xfrm>
            <a:off x="8058522" y="5762625"/>
            <a:ext cx="238805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51% CASH / ≈ 49% STOCK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3335000" y="4876800"/>
            <a:ext cx="4095750" cy="1471613"/>
          </a:xfrm>
          <a:prstGeom prst="rect">
            <a:avLst/>
          </a:prstGeom>
          <a:solidFill>
            <a:srgbClr val="FFFFFF"/>
          </a:solidFill>
          <a:ln w="14288">
            <a:solidFill>
              <a:srgbClr val="1C1B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30288" y="5176838"/>
            <a:ext cx="363569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 21ST CENTURY FOX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3730288" y="5419725"/>
            <a:ext cx="34043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 Assets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(RemainCo)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857250" y="7167563"/>
            <a:ext cx="2712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CONSIDERATION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699260" y="7162800"/>
            <a:ext cx="8076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in millions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857250" y="7415213"/>
            <a:ext cx="8518773" cy="4191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0" name="Text 28"/>
          <p:cNvSpPr/>
          <p:nvPr/>
        </p:nvSpPr>
        <p:spPr>
          <a:xfrm>
            <a:off x="1085850" y="7522369"/>
            <a:ext cx="14719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· $35,703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9376023" y="7415213"/>
            <a:ext cx="8054653" cy="4191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2" name="Text 30"/>
          <p:cNvSpPr/>
          <p:nvPr/>
        </p:nvSpPr>
        <p:spPr>
          <a:xfrm>
            <a:off x="9604623" y="7522369"/>
            <a:ext cx="265571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Disney equity · $33,753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857250" y="7910512"/>
            <a:ext cx="15975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51.4% of consideration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625117" y="7910512"/>
            <a:ext cx="30861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48.6% of consideration · 307mm new shares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857250" y="8496300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6" name="Text 34"/>
          <p:cNvSpPr/>
          <p:nvPr/>
        </p:nvSpPr>
        <p:spPr>
          <a:xfrm>
            <a:off x="857250" y="8682038"/>
            <a:ext cx="4078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CONSIDERATION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7250" y="8910638"/>
            <a:ext cx="4078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$69.5</a:t>
            </a:r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</a:t>
            </a:r>
            <a:endParaRPr lang="en-US" sz="2850" dirty="0"/>
          </a:p>
        </p:txBody>
      </p:sp>
      <p:sp>
        <p:nvSpPr>
          <p:cNvPr id="38" name="Shape 36"/>
          <p:cNvSpPr/>
          <p:nvPr/>
        </p:nvSpPr>
        <p:spPr>
          <a:xfrm>
            <a:off x="4850606" y="8682038"/>
            <a:ext cx="9525" cy="64293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39" name="Text 37"/>
          <p:cNvSpPr/>
          <p:nvPr/>
        </p:nvSpPr>
        <p:spPr>
          <a:xfrm>
            <a:off x="5145881" y="8682038"/>
            <a:ext cx="4078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OWNERSHIP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45881" y="8910638"/>
            <a:ext cx="4078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 </a:t>
            </a:r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 </a:t>
            </a:r>
            <a:pPr algn="l" indent="0" marL="0">
              <a:buNone/>
            </a:pPr>
            <a:r>
              <a:rPr lang="en-US" sz="28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17% </a:t>
            </a:r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21CF</a:t>
            </a:r>
            <a:endParaRPr lang="en-US" sz="2850" dirty="0"/>
          </a:p>
        </p:txBody>
      </p:sp>
      <p:sp>
        <p:nvSpPr>
          <p:cNvPr id="41" name="Shape 39"/>
          <p:cNvSpPr/>
          <p:nvPr/>
        </p:nvSpPr>
        <p:spPr>
          <a:xfrm>
            <a:off x="9139238" y="8682038"/>
            <a:ext cx="9525" cy="64293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42" name="Text 40"/>
          <p:cNvSpPr/>
          <p:nvPr/>
        </p:nvSpPr>
        <p:spPr>
          <a:xfrm>
            <a:off x="9434513" y="8682038"/>
            <a:ext cx="4078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GOODWILL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434513" y="8910638"/>
            <a:ext cx="4078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$47.7</a:t>
            </a:r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</a:t>
            </a:r>
            <a:endParaRPr lang="en-US" sz="2850" dirty="0"/>
          </a:p>
        </p:txBody>
      </p:sp>
      <p:sp>
        <p:nvSpPr>
          <p:cNvPr id="44" name="Shape 42"/>
          <p:cNvSpPr/>
          <p:nvPr/>
        </p:nvSpPr>
        <p:spPr>
          <a:xfrm>
            <a:off x="13427869" y="8682038"/>
            <a:ext cx="9525" cy="64293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45" name="Text 43"/>
          <p:cNvSpPr/>
          <p:nvPr/>
        </p:nvSpPr>
        <p:spPr>
          <a:xfrm>
            <a:off x="13723144" y="8682038"/>
            <a:ext cx="4078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HULU REMEASUREMENT GAIN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3723144" y="8910638"/>
            <a:ext cx="4078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$4.7</a:t>
            </a:r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 </a:t>
            </a:r>
            <a:pPr algn="l" indent="0" marL="0">
              <a:buNone/>
            </a:pPr>
            <a:r>
              <a:rPr lang="en-US" sz="13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</a:t>
            </a:r>
            <a:endParaRPr lang="en-US" sz="2850" dirty="0"/>
          </a:p>
        </p:txBody>
      </p:sp>
      <p:sp>
        <p:nvSpPr>
          <p:cNvPr id="47" name="Shape 45"/>
          <p:cNvSpPr/>
          <p:nvPr/>
        </p:nvSpPr>
        <p:spPr>
          <a:xfrm>
            <a:off x="857250" y="9639300"/>
            <a:ext cx="16573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48" name="Text 46"/>
          <p:cNvSpPr/>
          <p:nvPr/>
        </p:nvSpPr>
        <p:spPr>
          <a:xfrm>
            <a:off x="857250" y="9770269"/>
            <a:ext cx="884833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DIS / 21CF merger model — figures linked live to model engine. $ in millions except per share. Transaction closed March 20, 2019.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7226037" y="9763125"/>
            <a:ext cx="280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47713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438150"/>
            <a:ext cx="72431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WALT DISNEY COMPANY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B7B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OF 21ST CENTURY FOX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539466" y="461963"/>
            <a:ext cx="31804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· CONFIDENTIAL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7250" y="1238250"/>
            <a:ext cx="52290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13508" y="1438275"/>
            <a:ext cx="515010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3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STRUCTURE &amp; FINANCING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4572000" y="1752600"/>
            <a:ext cx="141446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Double-dummy structure under TWDC Holdco · sources balance uses at $69,456mm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7250" y="2381250"/>
            <a:ext cx="182308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TIMELINE &amp; VALUE EVOLUTION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83085" y="2952750"/>
            <a:ext cx="13921829" cy="19050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10" name="Shape 8"/>
          <p:cNvSpPr/>
          <p:nvPr/>
        </p:nvSpPr>
        <p:spPr>
          <a:xfrm>
            <a:off x="2116410" y="2895600"/>
            <a:ext cx="133350" cy="133350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1" name="Shape 9"/>
          <p:cNvSpPr/>
          <p:nvPr/>
        </p:nvSpPr>
        <p:spPr>
          <a:xfrm>
            <a:off x="9077325" y="2895600"/>
            <a:ext cx="133350" cy="133350"/>
          </a:xfrm>
          <a:prstGeom prst="ellipse">
            <a:avLst/>
          </a:prstGeom>
          <a:solidFill>
            <a:srgbClr val="1C1B19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19115" y="2876550"/>
            <a:ext cx="171450" cy="171450"/>
          </a:xfrm>
          <a:prstGeom prst="ellipse">
            <a:avLst/>
          </a:prstGeom>
          <a:solidFill>
            <a:srgbClr val="7B2D3A"/>
          </a:solidFill>
          <a:ln/>
        </p:spPr>
      </p:sp>
      <p:sp>
        <p:nvSpPr>
          <p:cNvPr id="13" name="Text 11"/>
          <p:cNvSpPr/>
          <p:nvPr/>
        </p:nvSpPr>
        <p:spPr>
          <a:xfrm>
            <a:off x="192360" y="3219450"/>
            <a:ext cx="39814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144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2018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360" y="3433763"/>
            <a:ext cx="39814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agreed value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92360" y="3733800"/>
            <a:ext cx="39814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A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$52.4bn equity value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153275" y="3219450"/>
            <a:ext cx="39814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144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53275" y="3433763"/>
            <a:ext cx="39814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Revised agreed value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153275" y="3733800"/>
            <a:ext cx="39814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A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$71.3bn equity value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4114115" y="3219450"/>
            <a:ext cx="39814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144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20, 2019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14115" y="3433763"/>
            <a:ext cx="39814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· recorded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114115" y="3733800"/>
            <a:ext cx="398145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3A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$69.5bn consideration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857250" y="4876800"/>
            <a:ext cx="9220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USES OF FUNDS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7250" y="5238750"/>
            <a:ext cx="7052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23597" y="5238750"/>
            <a:ext cx="891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$69,456mm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7250" y="5514975"/>
            <a:ext cx="4073649" cy="4953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5584031"/>
            <a:ext cx="40619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Disney equity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047750" y="5736431"/>
            <a:ext cx="406191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$33,753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4930899" y="5514975"/>
            <a:ext cx="4308277" cy="4953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29" name="Text 27"/>
          <p:cNvSpPr/>
          <p:nvPr/>
        </p:nvSpPr>
        <p:spPr>
          <a:xfrm>
            <a:off x="5121399" y="5584031"/>
            <a:ext cx="43200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debt incurred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5121399" y="5736431"/>
            <a:ext cx="432000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$35,703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857250" y="6257925"/>
            <a:ext cx="4668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23597" y="6257925"/>
            <a:ext cx="8918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$69,456mm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7250" y="6534150"/>
            <a:ext cx="4308277" cy="495300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750" y="6603206"/>
            <a:ext cx="43200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to 21CF holders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047750" y="6755606"/>
            <a:ext cx="432000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$35,703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5165527" y="6534150"/>
            <a:ext cx="4073649" cy="495300"/>
          </a:xfrm>
          <a:prstGeom prst="rect">
            <a:avLst/>
          </a:prstGeom>
          <a:solidFill>
            <a:srgbClr val="9A6F77"/>
          </a:solidFill>
          <a:ln/>
        </p:spPr>
      </p:sp>
      <p:sp>
        <p:nvSpPr>
          <p:cNvPr id="37" name="Text 35"/>
          <p:cNvSpPr/>
          <p:nvPr/>
        </p:nvSpPr>
        <p:spPr>
          <a:xfrm>
            <a:off x="5356027" y="6603206"/>
            <a:ext cx="40619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to 21CF holders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5356027" y="6755606"/>
            <a:ext cx="406191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$33,753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0001250" y="4876800"/>
            <a:ext cx="817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— BEFORE &amp; AFTER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001250" y="5238750"/>
            <a:ext cx="6166470" cy="4953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41" name="Text 39"/>
          <p:cNvSpPr/>
          <p:nvPr/>
        </p:nvSpPr>
        <p:spPr>
          <a:xfrm>
            <a:off x="10210800" y="5384006"/>
            <a:ext cx="279945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Disney holders 83.0%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16167720" y="5238750"/>
            <a:ext cx="1262955" cy="4953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43" name="Text 41"/>
          <p:cNvSpPr/>
          <p:nvPr/>
        </p:nvSpPr>
        <p:spPr>
          <a:xfrm>
            <a:off x="16542618" y="5384006"/>
            <a:ext cx="58935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0001250" y="5848350"/>
            <a:ext cx="18554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1,499mm existing shares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5300275" y="5848350"/>
            <a:ext cx="23435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+ 307mm new → 1,806mm total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001250" y="6353175"/>
            <a:ext cx="7429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47" name="Text 45"/>
          <p:cNvSpPr/>
          <p:nvPr/>
        </p:nvSpPr>
        <p:spPr>
          <a:xfrm>
            <a:off x="10001250" y="6534150"/>
            <a:ext cx="257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RATIO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0001250" y="6738938"/>
            <a:ext cx="25774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0.3328</a:t>
            </a:r>
            <a:pPr algn="l" indent="0" marL="0">
              <a:buNone/>
            </a:pPr>
            <a:r>
              <a:rPr lang="en-US" sz="1350" b="1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12344400" y="6534150"/>
            <a:ext cx="9525" cy="52863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50" name="Text 48"/>
          <p:cNvSpPr/>
          <p:nvPr/>
        </p:nvSpPr>
        <p:spPr>
          <a:xfrm>
            <a:off x="12544425" y="6534150"/>
            <a:ext cx="257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PER-SHARE VALUE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2544425" y="6738938"/>
            <a:ext cx="25774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$51.57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14887575" y="6534150"/>
            <a:ext cx="9525" cy="52863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53" name="Text 51"/>
          <p:cNvSpPr/>
          <p:nvPr/>
        </p:nvSpPr>
        <p:spPr>
          <a:xfrm>
            <a:off x="15087600" y="6534150"/>
            <a:ext cx="25774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 CLOSE 3/19/19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5087600" y="6738938"/>
            <a:ext cx="25774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$110.00</a:t>
            </a:r>
            <a:endParaRPr lang="en-US" sz="2250" dirty="0"/>
          </a:p>
        </p:txBody>
      </p:sp>
      <p:sp>
        <p:nvSpPr>
          <p:cNvPr id="55" name="Shape 53"/>
          <p:cNvSpPr/>
          <p:nvPr/>
        </p:nvSpPr>
        <p:spPr>
          <a:xfrm>
            <a:off x="857250" y="8020050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56" name="Text 54"/>
          <p:cNvSpPr/>
          <p:nvPr/>
        </p:nvSpPr>
        <p:spPr>
          <a:xfrm>
            <a:off x="857250" y="8205788"/>
            <a:ext cx="4859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DEBT AT CLOSE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7250" y="8434388"/>
            <a:ext cx="48593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$38,811</a:t>
            </a:r>
            <a:pPr algn="l" indent="0" marL="0">
              <a:buNone/>
            </a:pPr>
            <a:r>
              <a:rPr lang="en-US" sz="1500" b="1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</a:t>
            </a:r>
            <a:endParaRPr lang="en-US" sz="3000" dirty="0"/>
          </a:p>
        </p:txBody>
      </p:sp>
      <p:sp>
        <p:nvSpPr>
          <p:cNvPr id="58" name="Shape 56"/>
          <p:cNvSpPr/>
          <p:nvPr/>
        </p:nvSpPr>
        <p:spPr>
          <a:xfrm>
            <a:off x="5560591" y="8320088"/>
            <a:ext cx="9525" cy="54768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59" name="Text 57"/>
          <p:cNvSpPr/>
          <p:nvPr/>
        </p:nvSpPr>
        <p:spPr>
          <a:xfrm>
            <a:off x="5855866" y="8320088"/>
            <a:ext cx="347091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ACQUISITION DEBT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5855866" y="8543925"/>
            <a:ext cx="34709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$19,603</a:t>
            </a:r>
            <a:endParaRPr lang="en-US" sz="2250" dirty="0"/>
          </a:p>
        </p:txBody>
      </p:sp>
      <p:sp>
        <p:nvSpPr>
          <p:cNvPr id="61" name="Shape 59"/>
          <p:cNvSpPr/>
          <p:nvPr/>
        </p:nvSpPr>
        <p:spPr>
          <a:xfrm>
            <a:off x="9296995" y="8320088"/>
            <a:ext cx="9525" cy="54768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62" name="Text 60"/>
          <p:cNvSpPr/>
          <p:nvPr/>
        </p:nvSpPr>
        <p:spPr>
          <a:xfrm>
            <a:off x="9592270" y="8320088"/>
            <a:ext cx="347099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21CF DEBT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9592270" y="8543925"/>
            <a:ext cx="34709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$19,208</a:t>
            </a:r>
            <a:pPr algn="l" indent="0" marL="0">
              <a:buNone/>
            </a:pPr>
            <a:r>
              <a:rPr lang="en-US" sz="1200" b="1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FV 22,800</a:t>
            </a:r>
            <a:endParaRPr lang="en-US" sz="2250" dirty="0"/>
          </a:p>
        </p:txBody>
      </p:sp>
      <p:sp>
        <p:nvSpPr>
          <p:cNvPr id="64" name="Shape 62"/>
          <p:cNvSpPr/>
          <p:nvPr/>
        </p:nvSpPr>
        <p:spPr>
          <a:xfrm>
            <a:off x="13033474" y="8320088"/>
            <a:ext cx="9525" cy="54768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65" name="Text 63"/>
          <p:cNvSpPr/>
          <p:nvPr/>
        </p:nvSpPr>
        <p:spPr>
          <a:xfrm>
            <a:off x="13328749" y="8320088"/>
            <a:ext cx="451220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RSN PROCEEDS → DEBT PAYDOWN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13328749" y="8543925"/>
            <a:ext cx="45122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$13,070</a:t>
            </a:r>
            <a:endParaRPr lang="en-US" sz="2250" dirty="0"/>
          </a:p>
        </p:txBody>
      </p:sp>
      <p:sp>
        <p:nvSpPr>
          <p:cNvPr id="67" name="Shape 65"/>
          <p:cNvSpPr/>
          <p:nvPr/>
        </p:nvSpPr>
        <p:spPr>
          <a:xfrm>
            <a:off x="857250" y="9639300"/>
            <a:ext cx="16573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68" name="Text 66"/>
          <p:cNvSpPr/>
          <p:nvPr/>
        </p:nvSpPr>
        <p:spPr>
          <a:xfrm>
            <a:off x="857250" y="9770269"/>
            <a:ext cx="653779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DIS / 21CF merger model — Sources &amp; Uses, Debt and Assumptions schedules. $ in millions.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7226037" y="9763125"/>
            <a:ext cx="280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47713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438150"/>
            <a:ext cx="72431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WALT DISNEY COMPANY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B7B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OF 21ST CENTURY FOX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539466" y="461963"/>
            <a:ext cx="31804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· CONFIDENTIAL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7250" y="1238250"/>
            <a:ext cx="52030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10903" y="1438275"/>
            <a:ext cx="32523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3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PERSPECTIVE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619500" y="1752600"/>
            <a:ext cx="15192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agreed $69.5bn consideration within the negotiated value range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7250" y="2552700"/>
            <a:ext cx="140398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NEGOTIATED VALUE RANGE &amp; IMPLIED VALUATION </a:t>
            </a:r>
            <a:pPr algn="l" indent="0" marL="0">
              <a:buNone/>
            </a:pPr>
            <a:r>
              <a:rPr lang="en-US" sz="1050" b="1" spc="210" kern="0" dirty="0">
                <a:solidFill>
                  <a:srgbClr val="B7B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$ IN BILLIONS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820275" y="3086100"/>
            <a:ext cx="14288" cy="29718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0" name="Text 8"/>
          <p:cNvSpPr/>
          <p:nvPr/>
        </p:nvSpPr>
        <p:spPr>
          <a:xfrm>
            <a:off x="9113267" y="2838450"/>
            <a:ext cx="1555418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· $69.5BN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030" y="3200400"/>
            <a:ext cx="24269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agreed equity value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3333750" y="3162300"/>
            <a:ext cx="4886325" cy="323850"/>
          </a:xfrm>
          <a:prstGeom prst="rect">
            <a:avLst/>
          </a:prstGeom>
          <a:solidFill>
            <a:srgbClr val="E4DFD7"/>
          </a:solidFill>
          <a:ln w="9525">
            <a:solidFill>
              <a:srgbClr val="C9C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6275" y="3200400"/>
            <a:ext cx="5584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$52.4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030" y="3886200"/>
            <a:ext cx="24269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consideration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3333750" y="3848100"/>
            <a:ext cx="6486525" cy="3238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6" name="Text 14"/>
          <p:cNvSpPr/>
          <p:nvPr/>
        </p:nvSpPr>
        <p:spPr>
          <a:xfrm>
            <a:off x="9896475" y="3886200"/>
            <a:ext cx="5600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$69.5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050" y="4572000"/>
            <a:ext cx="2266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agreed equity value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3333750" y="4533900"/>
            <a:ext cx="6657975" cy="32385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67925" y="4572000"/>
            <a:ext cx="5264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$71.3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6629" y="5257800"/>
            <a:ext cx="19975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enterprise value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38175" y="5462588"/>
            <a:ext cx="240982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incl. assumed debt at FV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3750" y="5219700"/>
            <a:ext cx="8620125" cy="323850"/>
          </a:xfrm>
          <a:prstGeom prst="rect">
            <a:avLst/>
          </a:prstGeom>
          <a:solidFill>
            <a:srgbClr val="9A6F77"/>
          </a:solidFill>
          <a:ln/>
        </p:spPr>
      </p:sp>
      <p:sp>
        <p:nvSpPr>
          <p:cNvPr id="23" name="Text 21"/>
          <p:cNvSpPr/>
          <p:nvPr/>
        </p:nvSpPr>
        <p:spPr>
          <a:xfrm>
            <a:off x="12030075" y="5257800"/>
            <a:ext cx="5630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$92.3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333750" y="5905500"/>
            <a:ext cx="9334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5538" y="6000750"/>
            <a:ext cx="15262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91435" y="6000750"/>
            <a:ext cx="2280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24688" y="6000750"/>
            <a:ext cx="22882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59653" y="6000750"/>
            <a:ext cx="22614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557113" y="6000750"/>
            <a:ext cx="29847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0075" y="6438900"/>
            <a:ext cx="1771650" cy="14288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0075" y="6381750"/>
            <a:ext cx="14288" cy="1143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2" name="Shape 30"/>
          <p:cNvSpPr/>
          <p:nvPr/>
        </p:nvSpPr>
        <p:spPr>
          <a:xfrm>
            <a:off x="9972675" y="6381750"/>
            <a:ext cx="14288" cy="1143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23424" y="6534150"/>
            <a:ext cx="1241152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value uplift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001750" y="2552700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4001750" y="2800350"/>
            <a:ext cx="377190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+36.1%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14001750" y="3547095"/>
            <a:ext cx="353187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7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Uplift from initial ($52.4bn) to revised ($71.3bn) agreed equity value.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4001750" y="4293766"/>
            <a:ext cx="34290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38" name="Text 36"/>
          <p:cNvSpPr/>
          <p:nvPr/>
        </p:nvSpPr>
        <p:spPr>
          <a:xfrm>
            <a:off x="14001750" y="4493791"/>
            <a:ext cx="3771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MULTIPLES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4001750" y="5193878"/>
            <a:ext cx="3429000" cy="9525"/>
          </a:xfrm>
          <a:prstGeom prst="rect">
            <a:avLst/>
          </a:prstGeom>
          <a:solidFill>
            <a:srgbClr val="ECE9E3"/>
          </a:solidFill>
          <a:ln/>
        </p:spPr>
      </p:sp>
      <p:sp>
        <p:nvSpPr>
          <p:cNvPr id="40" name="Text 38"/>
          <p:cNvSpPr/>
          <p:nvPr/>
        </p:nvSpPr>
        <p:spPr>
          <a:xfrm>
            <a:off x="14001750" y="4874791"/>
            <a:ext cx="19646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/ FY19E EBITDA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6861557" y="4798591"/>
            <a:ext cx="64539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15.6x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4001750" y="5712991"/>
            <a:ext cx="3429000" cy="9525"/>
          </a:xfrm>
          <a:prstGeom prst="rect">
            <a:avLst/>
          </a:prstGeom>
          <a:solidFill>
            <a:srgbClr val="ECE9E3"/>
          </a:solidFill>
          <a:ln/>
        </p:spPr>
      </p:sp>
      <p:sp>
        <p:nvSpPr>
          <p:cNvPr id="43" name="Text 41"/>
          <p:cNvSpPr/>
          <p:nvPr/>
        </p:nvSpPr>
        <p:spPr>
          <a:xfrm>
            <a:off x="14001750" y="5393903"/>
            <a:ext cx="16803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/ FY19E EBITDA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6824201" y="5317703"/>
            <a:ext cx="68274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20.7x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4001750" y="5913016"/>
            <a:ext cx="20056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Goodwill / consideration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6733565" y="5836816"/>
            <a:ext cx="77338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68.6%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857250" y="7239000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48" name="Shape 46"/>
          <p:cNvSpPr/>
          <p:nvPr/>
        </p:nvSpPr>
        <p:spPr>
          <a:xfrm>
            <a:off x="857250" y="757713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49" name="Text 47"/>
          <p:cNvSpPr/>
          <p:nvPr/>
        </p:nvSpPr>
        <p:spPr>
          <a:xfrm>
            <a:off x="1181100" y="7424737"/>
            <a:ext cx="502961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of $69.5bn was struck a touch below the $71.3bn revised value, evidencing disciplined final terms.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540475" y="757713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51" name="Text 49"/>
          <p:cNvSpPr/>
          <p:nvPr/>
        </p:nvSpPr>
        <p:spPr>
          <a:xfrm>
            <a:off x="6864325" y="7424737"/>
            <a:ext cx="502969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$47.7bn of preliminary goodwill (69% of consideration) reflects the intangible-heavy asset base and step-ups.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12223775" y="757713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53" name="Text 51"/>
          <p:cNvSpPr/>
          <p:nvPr/>
        </p:nvSpPr>
        <p:spPr>
          <a:xfrm>
            <a:off x="12547625" y="7424737"/>
            <a:ext cx="502961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Multiples reflect the narrow RemainCo perimeter — Hulu equity-method and Sky excluded from EBITDA.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857250" y="9639300"/>
            <a:ext cx="16573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55" name="Text 53"/>
          <p:cNvSpPr/>
          <p:nvPr/>
        </p:nvSpPr>
        <p:spPr>
          <a:xfrm>
            <a:off x="857250" y="9770269"/>
            <a:ext cx="945684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DIS / 21CF merger model — Value Reconciliation, PPA and Fox projection schedules. EBITDA on FY2019E RemainCo basis of $4,452mm.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7226037" y="9763125"/>
            <a:ext cx="280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47713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438150"/>
            <a:ext cx="72431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WALT DISNEY COMPANY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B7B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OF 21ST CENTURY FOX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539466" y="461963"/>
            <a:ext cx="31804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· CONFIDENTIAL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7250" y="1238250"/>
            <a:ext cx="52528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15889" y="1438275"/>
            <a:ext cx="39552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3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FINANCIAL IMPACT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4095750" y="1752600"/>
            <a:ext cx="14668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GAAP-dilutive on structural drivers — cash-accretive within three years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7250" y="2366963"/>
            <a:ext cx="45528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FY2023E EPS ACCRETION / (DILUTION) BRIDGE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05071" y="2362200"/>
            <a:ext cx="7678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per share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857250" y="5438775"/>
            <a:ext cx="11239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11" name="Shape 9"/>
          <p:cNvSpPr/>
          <p:nvPr/>
        </p:nvSpPr>
        <p:spPr>
          <a:xfrm>
            <a:off x="1123950" y="3243263"/>
            <a:ext cx="866775" cy="22098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12" name="Text 10"/>
          <p:cNvSpPr/>
          <p:nvPr/>
        </p:nvSpPr>
        <p:spPr>
          <a:xfrm>
            <a:off x="1085850" y="2995613"/>
            <a:ext cx="9429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8.24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24125" y="3243263"/>
            <a:ext cx="866775" cy="13906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4" name="Text 12"/>
          <p:cNvSpPr/>
          <p:nvPr/>
        </p:nvSpPr>
        <p:spPr>
          <a:xfrm>
            <a:off x="2486025" y="4672013"/>
            <a:ext cx="942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24300" y="3576638"/>
            <a:ext cx="866775" cy="1057275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3348038"/>
            <a:ext cx="942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24475" y="2757488"/>
            <a:ext cx="866775" cy="828675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18" name="Text 16"/>
          <p:cNvSpPr/>
          <p:nvPr/>
        </p:nvSpPr>
        <p:spPr>
          <a:xfrm>
            <a:off x="5286375" y="2519363"/>
            <a:ext cx="942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4650" y="2738438"/>
            <a:ext cx="866775" cy="28575"/>
          </a:xfrm>
          <a:prstGeom prst="rect">
            <a:avLst/>
          </a:prstGeom>
          <a:solidFill>
            <a:srgbClr val="A39E94"/>
          </a:solidFill>
          <a:ln/>
        </p:spPr>
      </p:sp>
      <p:sp>
        <p:nvSpPr>
          <p:cNvPr id="20" name="Text 18"/>
          <p:cNvSpPr/>
          <p:nvPr/>
        </p:nvSpPr>
        <p:spPr>
          <a:xfrm>
            <a:off x="6686550" y="2519363"/>
            <a:ext cx="942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4825" y="2757488"/>
            <a:ext cx="866775" cy="14668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2" name="Text 20"/>
          <p:cNvSpPr/>
          <p:nvPr/>
        </p:nvSpPr>
        <p:spPr>
          <a:xfrm>
            <a:off x="8086725" y="4262438"/>
            <a:ext cx="942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25000" y="3738563"/>
            <a:ext cx="866775" cy="485775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24" name="Text 22"/>
          <p:cNvSpPr/>
          <p:nvPr/>
        </p:nvSpPr>
        <p:spPr>
          <a:xfrm>
            <a:off x="9486900" y="3500438"/>
            <a:ext cx="942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25175" y="3738563"/>
            <a:ext cx="866775" cy="171450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7075" y="3490913"/>
            <a:ext cx="9429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7.74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87003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 standalone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2191941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(−) Share issuance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3596878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Fox earnings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001816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Synergies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6406753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(−) Integration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7811691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(−) PPA amort.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9216628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Financing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10621566" y="5548313"/>
            <a:ext cx="154543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3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12668250" y="2362200"/>
            <a:ext cx="5238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0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FY2023E PRO FORMA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668250" y="2686050"/>
            <a:ext cx="523875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668250" y="2852738"/>
            <a:ext cx="52387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$97.5</a:t>
            </a:r>
            <a:pPr algn="l" indent="0" marL="0">
              <a:buNone/>
            </a:pPr>
            <a:r>
              <a:rPr lang="en-US" sz="1350" b="1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2668250" y="3390900"/>
            <a:ext cx="523875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668250" y="3557588"/>
            <a:ext cx="52387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$28.3</a:t>
            </a:r>
            <a:pPr algn="l" indent="0" marL="0">
              <a:buNone/>
            </a:pPr>
            <a:r>
              <a:rPr lang="en-US" sz="1350" b="1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12668250" y="4095750"/>
            <a:ext cx="523875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 EPS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668250" y="4262438"/>
            <a:ext cx="52387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$7.74 </a:t>
            </a:r>
            <a:pPr algn="l" indent="0" marL="0">
              <a:buNone/>
            </a:pPr>
            <a:r>
              <a:rPr lang="en-US" sz="135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−6.1%</a:t>
            </a:r>
            <a:endParaRPr lang="en-US" sz="2550" dirty="0"/>
          </a:p>
        </p:txBody>
      </p:sp>
      <p:sp>
        <p:nvSpPr>
          <p:cNvPr id="42" name="Text 40"/>
          <p:cNvSpPr/>
          <p:nvPr/>
        </p:nvSpPr>
        <p:spPr>
          <a:xfrm>
            <a:off x="12668250" y="4800600"/>
            <a:ext cx="523875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EPS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668250" y="4967288"/>
            <a:ext cx="52387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$9.32 </a:t>
            </a:r>
            <a:pPr algn="l" indent="0" marL="0">
              <a:buNone/>
            </a:pPr>
            <a:r>
              <a:rPr lang="en-US" sz="1350" b="1" dirty="0">
                <a:solidFill>
                  <a:srgbClr val="46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+13.1%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857250" y="6457950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45" name="Text 43"/>
          <p:cNvSpPr/>
          <p:nvPr/>
        </p:nvSpPr>
        <p:spPr>
          <a:xfrm>
            <a:off x="857250" y="6662738"/>
            <a:ext cx="55111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ACCRETION / (DILUTION) %</a:t>
            </a:r>
            <a:endParaRPr lang="en-US" sz="975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6943725"/>
            <a:ext cx="5010150" cy="1714500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857250" y="8808244"/>
            <a:ext cx="152400" cy="28575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48" name="Text 45"/>
          <p:cNvSpPr/>
          <p:nvPr/>
        </p:nvSpPr>
        <p:spPr>
          <a:xfrm>
            <a:off x="1066800" y="8748713"/>
            <a:ext cx="207086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A/(D) — crosses + in FY21E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251969" y="8808244"/>
            <a:ext cx="152400" cy="28575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50" name="Text 47"/>
          <p:cNvSpPr/>
          <p:nvPr/>
        </p:nvSpPr>
        <p:spPr>
          <a:xfrm>
            <a:off x="3461519" y="8748713"/>
            <a:ext cx="80143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 A/(D)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248400" y="6662738"/>
            <a:ext cx="9525" cy="241458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52" name="Text 49"/>
          <p:cNvSpPr/>
          <p:nvPr/>
        </p:nvSpPr>
        <p:spPr>
          <a:xfrm>
            <a:off x="6638925" y="6662738"/>
            <a:ext cx="55111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SYNERGIES REALIZED · $MM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6638925" y="7115175"/>
            <a:ext cx="5010150" cy="14288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54" name="Text 51"/>
          <p:cNvSpPr/>
          <p:nvPr/>
        </p:nvSpPr>
        <p:spPr>
          <a:xfrm>
            <a:off x="10802317" y="6943725"/>
            <a:ext cx="9229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 run-rate</a:t>
            </a:r>
            <a:endParaRPr lang="en-US" sz="975" dirty="0"/>
          </a:p>
        </p:txBody>
      </p:sp>
      <p:sp>
        <p:nvSpPr>
          <p:cNvPr id="55" name="Text 52"/>
          <p:cNvSpPr/>
          <p:nvPr/>
        </p:nvSpPr>
        <p:spPr>
          <a:xfrm>
            <a:off x="6960096" y="8315325"/>
            <a:ext cx="2986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811863" y="8505825"/>
            <a:ext cx="518889" cy="152400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57" name="Text 54"/>
          <p:cNvSpPr/>
          <p:nvPr/>
        </p:nvSpPr>
        <p:spPr>
          <a:xfrm>
            <a:off x="7940799" y="7696200"/>
            <a:ext cx="4099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7848228" y="7886700"/>
            <a:ext cx="518889" cy="771525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59" name="Text 56"/>
          <p:cNvSpPr/>
          <p:nvPr/>
        </p:nvSpPr>
        <p:spPr>
          <a:xfrm>
            <a:off x="8977089" y="7077075"/>
            <a:ext cx="4099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1,800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8884518" y="7267575"/>
            <a:ext cx="518889" cy="1390650"/>
          </a:xfrm>
          <a:prstGeom prst="rect">
            <a:avLst/>
          </a:prstGeom>
          <a:solidFill>
            <a:srgbClr val="46423A"/>
          </a:solidFill>
          <a:ln/>
        </p:spPr>
      </p:sp>
      <p:sp>
        <p:nvSpPr>
          <p:cNvPr id="61" name="Text 58"/>
          <p:cNvSpPr/>
          <p:nvPr/>
        </p:nvSpPr>
        <p:spPr>
          <a:xfrm>
            <a:off x="10013454" y="6924675"/>
            <a:ext cx="4099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9920883" y="7115175"/>
            <a:ext cx="518889" cy="1543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63" name="Text 60"/>
          <p:cNvSpPr/>
          <p:nvPr/>
        </p:nvSpPr>
        <p:spPr>
          <a:xfrm>
            <a:off x="11049744" y="6924675"/>
            <a:ext cx="4099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10957173" y="7115175"/>
            <a:ext cx="518889" cy="1543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65" name="Text 62"/>
          <p:cNvSpPr/>
          <p:nvPr/>
        </p:nvSpPr>
        <p:spPr>
          <a:xfrm>
            <a:off x="6600825" y="8734425"/>
            <a:ext cx="10781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FY19</a:t>
            </a:r>
            <a:endParaRPr lang="en-US" sz="975" dirty="0"/>
          </a:p>
        </p:txBody>
      </p:sp>
      <p:sp>
        <p:nvSpPr>
          <p:cNvPr id="66" name="Text 63"/>
          <p:cNvSpPr/>
          <p:nvPr/>
        </p:nvSpPr>
        <p:spPr>
          <a:xfrm>
            <a:off x="7602810" y="8734425"/>
            <a:ext cx="1078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</a:t>
            </a:r>
            <a:endParaRPr lang="en-US" sz="975" dirty="0"/>
          </a:p>
        </p:txBody>
      </p:sp>
      <p:sp>
        <p:nvSpPr>
          <p:cNvPr id="67" name="Text 64"/>
          <p:cNvSpPr/>
          <p:nvPr/>
        </p:nvSpPr>
        <p:spPr>
          <a:xfrm>
            <a:off x="8604870" y="8734425"/>
            <a:ext cx="10781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FY21</a:t>
            </a:r>
            <a:endParaRPr lang="en-US" sz="975" dirty="0"/>
          </a:p>
        </p:txBody>
      </p:sp>
      <p:sp>
        <p:nvSpPr>
          <p:cNvPr id="68" name="Text 65"/>
          <p:cNvSpPr/>
          <p:nvPr/>
        </p:nvSpPr>
        <p:spPr>
          <a:xfrm>
            <a:off x="9606855" y="8734425"/>
            <a:ext cx="1078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FY22</a:t>
            </a:r>
            <a:endParaRPr lang="en-US" sz="975" dirty="0"/>
          </a:p>
        </p:txBody>
      </p:sp>
      <p:sp>
        <p:nvSpPr>
          <p:cNvPr id="69" name="Text 66"/>
          <p:cNvSpPr/>
          <p:nvPr/>
        </p:nvSpPr>
        <p:spPr>
          <a:xfrm>
            <a:off x="10608915" y="8734425"/>
            <a:ext cx="1078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975" dirty="0"/>
          </a:p>
        </p:txBody>
      </p:sp>
      <p:sp>
        <p:nvSpPr>
          <p:cNvPr id="70" name="Shape 67"/>
          <p:cNvSpPr/>
          <p:nvPr/>
        </p:nvSpPr>
        <p:spPr>
          <a:xfrm>
            <a:off x="12030075" y="6662738"/>
            <a:ext cx="9525" cy="2414588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71" name="Text 68"/>
          <p:cNvSpPr/>
          <p:nvPr/>
        </p:nvSpPr>
        <p:spPr>
          <a:xfrm>
            <a:off x="12420600" y="6662738"/>
            <a:ext cx="551116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DEBT OUTSTANDING · $MM</a:t>
            </a:r>
            <a:endParaRPr lang="en-US" sz="975" dirty="0"/>
          </a:p>
        </p:txBody>
      </p:sp>
      <p:sp>
        <p:nvSpPr>
          <p:cNvPr id="72" name="Text 69"/>
          <p:cNvSpPr/>
          <p:nvPr/>
        </p:nvSpPr>
        <p:spPr>
          <a:xfrm>
            <a:off x="12649051" y="7038975"/>
            <a:ext cx="4840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19,396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12593538" y="7229475"/>
            <a:ext cx="518889" cy="142875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74" name="Text 71"/>
          <p:cNvSpPr/>
          <p:nvPr/>
        </p:nvSpPr>
        <p:spPr>
          <a:xfrm>
            <a:off x="13685416" y="7572375"/>
            <a:ext cx="4840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12,164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13629903" y="7762875"/>
            <a:ext cx="518889" cy="89535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76" name="Text 73"/>
          <p:cNvSpPr/>
          <p:nvPr/>
        </p:nvSpPr>
        <p:spPr>
          <a:xfrm>
            <a:off x="14763750" y="8162925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4,112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14666193" y="8353425"/>
            <a:ext cx="518889" cy="3048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78" name="Text 75"/>
          <p:cNvSpPr/>
          <p:nvPr/>
        </p:nvSpPr>
        <p:spPr>
          <a:xfrm>
            <a:off x="15924907" y="8439150"/>
            <a:ext cx="1503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15702558" y="8629650"/>
            <a:ext cx="518889" cy="28575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80" name="Text 77"/>
          <p:cNvSpPr/>
          <p:nvPr/>
        </p:nvSpPr>
        <p:spPr>
          <a:xfrm>
            <a:off x="16961197" y="8439150"/>
            <a:ext cx="1503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81" name="Shape 78"/>
          <p:cNvSpPr/>
          <p:nvPr/>
        </p:nvSpPr>
        <p:spPr>
          <a:xfrm>
            <a:off x="16738848" y="8629650"/>
            <a:ext cx="518889" cy="28575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82" name="Text 79"/>
          <p:cNvSpPr/>
          <p:nvPr/>
        </p:nvSpPr>
        <p:spPr>
          <a:xfrm>
            <a:off x="12382500" y="8734425"/>
            <a:ext cx="10781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FY19</a:t>
            </a:r>
            <a:endParaRPr lang="en-US" sz="975" dirty="0"/>
          </a:p>
        </p:txBody>
      </p:sp>
      <p:sp>
        <p:nvSpPr>
          <p:cNvPr id="83" name="Text 80"/>
          <p:cNvSpPr/>
          <p:nvPr/>
        </p:nvSpPr>
        <p:spPr>
          <a:xfrm>
            <a:off x="13384485" y="8734425"/>
            <a:ext cx="1078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</a:t>
            </a:r>
            <a:endParaRPr lang="en-US" sz="975" dirty="0"/>
          </a:p>
        </p:txBody>
      </p:sp>
      <p:sp>
        <p:nvSpPr>
          <p:cNvPr id="84" name="Text 81"/>
          <p:cNvSpPr/>
          <p:nvPr/>
        </p:nvSpPr>
        <p:spPr>
          <a:xfrm>
            <a:off x="14386545" y="8734425"/>
            <a:ext cx="10781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FY21</a:t>
            </a:r>
            <a:endParaRPr lang="en-US" sz="975" dirty="0"/>
          </a:p>
        </p:txBody>
      </p:sp>
      <p:sp>
        <p:nvSpPr>
          <p:cNvPr id="85" name="Text 82"/>
          <p:cNvSpPr/>
          <p:nvPr/>
        </p:nvSpPr>
        <p:spPr>
          <a:xfrm>
            <a:off x="15388530" y="8734425"/>
            <a:ext cx="1078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FY22</a:t>
            </a:r>
            <a:endParaRPr lang="en-US" sz="975" dirty="0"/>
          </a:p>
        </p:txBody>
      </p:sp>
      <p:sp>
        <p:nvSpPr>
          <p:cNvPr id="86" name="Text 83"/>
          <p:cNvSpPr/>
          <p:nvPr/>
        </p:nvSpPr>
        <p:spPr>
          <a:xfrm>
            <a:off x="16390590" y="8734425"/>
            <a:ext cx="1078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FY23</a:t>
            </a:r>
            <a:endParaRPr lang="en-US" sz="975" dirty="0"/>
          </a:p>
        </p:txBody>
      </p:sp>
      <p:sp>
        <p:nvSpPr>
          <p:cNvPr id="87" name="Text 84"/>
          <p:cNvSpPr/>
          <p:nvPr/>
        </p:nvSpPr>
        <p:spPr>
          <a:xfrm>
            <a:off x="12420600" y="8924925"/>
            <a:ext cx="55111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cash by FY2022E · 0.67x → net cash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857250" y="9639300"/>
            <a:ext cx="16573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89" name="Text 86"/>
          <p:cNvSpPr/>
          <p:nvPr/>
        </p:nvSpPr>
        <p:spPr>
          <a:xfrm>
            <a:off x="857250" y="9770269"/>
            <a:ext cx="971575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DIS / 21CF merger model — Accretion/(Dilution), Synergies and Debt schedules. GAAP basis; cash EPS excludes non-cash PPA amortization.</a:t>
            </a:r>
            <a:endParaRPr lang="en-US" sz="1050" dirty="0"/>
          </a:p>
        </p:txBody>
      </p:sp>
      <p:sp>
        <p:nvSpPr>
          <p:cNvPr id="90" name="Text 87"/>
          <p:cNvSpPr/>
          <p:nvPr/>
        </p:nvSpPr>
        <p:spPr>
          <a:xfrm>
            <a:off x="17226037" y="9763125"/>
            <a:ext cx="280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47713"/>
            <a:ext cx="16573500" cy="14288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438150"/>
            <a:ext cx="72431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WALT DISNEY COMPANY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B7B1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200" b="1" spc="19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OF 21ST CENTURY FOX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539466" y="461963"/>
            <a:ext cx="31804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7B2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· CONFIDENTIAL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7250" y="1238250"/>
            <a:ext cx="51137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B2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1973" y="1438275"/>
            <a:ext cx="447716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332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INVESTMENT CONCLUSION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857250" y="2114550"/>
            <a:ext cx="54552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BENEFITS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857250" y="2638425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2486025"/>
            <a:ext cx="4774539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Scale-defining content engine across film, television and direct-to-consumer.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857250" y="338985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3237458"/>
            <a:ext cx="4988109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Hulu accelerates the streaming roadmap.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57250" y="3851300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698900"/>
            <a:ext cx="4253619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$2.0bn run-rate cost synergies by FY2022E.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857250" y="4312741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4160341"/>
            <a:ext cx="4774539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deleveraging to a net-cash position by FY2022E.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235675" y="2114550"/>
            <a:ext cx="9525" cy="2915766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17" name="Text 15"/>
          <p:cNvSpPr/>
          <p:nvPr/>
        </p:nvSpPr>
        <p:spPr>
          <a:xfrm>
            <a:off x="6664300" y="2114550"/>
            <a:ext cx="54553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EXECUTION RISKS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6664300" y="2638425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19" name="Text 17"/>
          <p:cNvSpPr/>
          <p:nvPr/>
        </p:nvSpPr>
        <p:spPr>
          <a:xfrm>
            <a:off x="6988150" y="2486025"/>
            <a:ext cx="4774616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GAAP-dilutive through the forecast (−36% → −6%) on share issuance and PPA amortization.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6664300" y="338985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1" name="Text 19"/>
          <p:cNvSpPr/>
          <p:nvPr/>
        </p:nvSpPr>
        <p:spPr>
          <a:xfrm>
            <a:off x="6988150" y="3237458"/>
            <a:ext cx="4774616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$560mm of front-loaded costs to achieve synergies in FY2019–20E.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6664300" y="4141291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3" name="Text 21"/>
          <p:cNvSpPr/>
          <p:nvPr/>
        </p:nvSpPr>
        <p:spPr>
          <a:xfrm>
            <a:off x="6988150" y="3988891"/>
            <a:ext cx="4935803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realization risk against the FY2022E ramp.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6664300" y="4602733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5" name="Text 23"/>
          <p:cNvSpPr/>
          <p:nvPr/>
        </p:nvSpPr>
        <p:spPr>
          <a:xfrm>
            <a:off x="6988150" y="4450333"/>
            <a:ext cx="4774616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$47.7bn goodwill carries future impairment exposure.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2042800" y="2114550"/>
            <a:ext cx="9525" cy="2915766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27" name="Text 25"/>
          <p:cNvSpPr/>
          <p:nvPr/>
        </p:nvSpPr>
        <p:spPr>
          <a:xfrm>
            <a:off x="12471425" y="2114550"/>
            <a:ext cx="54552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SENSITIVITIES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2471425" y="2638425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29" name="Text 27"/>
          <p:cNvSpPr/>
          <p:nvPr/>
        </p:nvSpPr>
        <p:spPr>
          <a:xfrm>
            <a:off x="12795275" y="2486025"/>
            <a:ext cx="4774539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FY2023E cash accretion holds at +7.9% even at 50% of synergies.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471425" y="3389858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1" name="Text 29"/>
          <p:cNvSpPr/>
          <p:nvPr/>
        </p:nvSpPr>
        <p:spPr>
          <a:xfrm>
            <a:off x="12795275" y="3237458"/>
            <a:ext cx="4774539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FY2023E invariant to financing rate (2–6%) — debt fully retired.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12471425" y="4141291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3" name="Text 31"/>
          <p:cNvSpPr/>
          <p:nvPr/>
        </p:nvSpPr>
        <p:spPr>
          <a:xfrm>
            <a:off x="12795275" y="3988891"/>
            <a:ext cx="4774539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 amortization (−$1.49) and shares (−$1.41) dominate the bridge — both structural.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2471425" y="4892725"/>
            <a:ext cx="171450" cy="19050"/>
          </a:xfrm>
          <a:prstGeom prst="rect">
            <a:avLst/>
          </a:prstGeom>
          <a:solidFill>
            <a:srgbClr val="7B2D3A"/>
          </a:solidFill>
          <a:ln/>
        </p:spPr>
      </p:sp>
      <p:sp>
        <p:nvSpPr>
          <p:cNvPr id="35" name="Text 33"/>
          <p:cNvSpPr/>
          <p:nvPr/>
        </p:nvSpPr>
        <p:spPr>
          <a:xfrm>
            <a:off x="12795275" y="4740325"/>
            <a:ext cx="4801314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B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Financing-rate risk concentrated in FY2019E only.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857250" y="6819900"/>
            <a:ext cx="16573500" cy="2209800"/>
          </a:xfrm>
          <a:prstGeom prst="rect">
            <a:avLst/>
          </a:prstGeom>
          <a:solidFill>
            <a:srgbClr val="1C1B19"/>
          </a:solidFill>
          <a:ln/>
        </p:spPr>
      </p:sp>
      <p:sp>
        <p:nvSpPr>
          <p:cNvPr id="37" name="Shape 35"/>
          <p:cNvSpPr/>
          <p:nvPr/>
        </p:nvSpPr>
        <p:spPr>
          <a:xfrm>
            <a:off x="4181475" y="7200900"/>
            <a:ext cx="9525" cy="1215330"/>
          </a:xfrm>
          <a:prstGeom prst="rect">
            <a:avLst/>
          </a:prstGeom>
          <a:solidFill>
            <a:srgbClr val="4A463E"/>
          </a:solidFill>
          <a:ln/>
        </p:spPr>
      </p:sp>
      <p:sp>
        <p:nvSpPr>
          <p:cNvPr id="38" name="Text 36"/>
          <p:cNvSpPr/>
          <p:nvPr/>
        </p:nvSpPr>
        <p:spPr>
          <a:xfrm>
            <a:off x="1333500" y="7200900"/>
            <a:ext cx="27136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C9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333500" y="7496175"/>
            <a:ext cx="2543175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F3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transaction.</a:t>
            </a:r>
            <a:endParaRPr lang="en-US" sz="3450" dirty="0"/>
          </a:p>
        </p:txBody>
      </p:sp>
      <p:sp>
        <p:nvSpPr>
          <p:cNvPr id="40" name="Text 38"/>
          <p:cNvSpPr/>
          <p:nvPr/>
        </p:nvSpPr>
        <p:spPr>
          <a:xfrm>
            <a:off x="4667250" y="7200900"/>
            <a:ext cx="12655868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E7E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compelling and scale-defining. The headline GAAP dilution masks favorable cash economics and a strong deleveraging profile; sensitivity testing confirms FY2023E cash accretion holds even at zero incremental synergies and across a 2–6% financing-rate range.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4667250" y="8320088"/>
            <a:ext cx="1351597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Accretive on the metric that matters within three years.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857250" y="9639300"/>
            <a:ext cx="16573500" cy="9525"/>
          </a:xfrm>
          <a:prstGeom prst="rect">
            <a:avLst/>
          </a:prstGeom>
          <a:solidFill>
            <a:srgbClr val="D9D5CE"/>
          </a:solidFill>
          <a:ln/>
        </p:spPr>
      </p:sp>
      <p:sp>
        <p:nvSpPr>
          <p:cNvPr id="43" name="Text 41"/>
          <p:cNvSpPr/>
          <p:nvPr/>
        </p:nvSpPr>
        <p:spPr>
          <a:xfrm>
            <a:off x="857250" y="9770269"/>
            <a:ext cx="77619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39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DIS / 21CF merger model — Sensitivity &amp; Scenario analysis and Executive Conclusion. $ per share unless noted.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7226037" y="9763125"/>
            <a:ext cx="280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1C1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2026-06-26T04:05:17Z</dcterms:created>
  <dcterms:modified xsi:type="dcterms:W3CDTF">2026-06-26T04:05:17Z</dcterms:modified>
</cp:coreProperties>
</file>