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Initiating coverage of Prologis at Underweight, price target $117 versus the current $145 — roughly 19% downside. Intrinsic value from independent NAV, DCF and comps methods clusters near $124; today's price already discounts the bull case. All figures tie to the valuation model built from public SEC filings.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thesis: Prologis is the highest-quality name in the sector, but quality is more than priced in. Three independent methods triangulate intrinsic value near $124 base, while the stock trades at $145 — a ~17% premium to NAV and at or above every method's bull case. We like the platform; we don't like the entry point.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Prologis is the global logistics-REIT bellwether: roughly 777 million square feet in the same-store pool at 95% occupancy, $235B of gross assets under management, and disciplined ~5x leverage. The business runs on three engines — the standing portfolio, a development pipeline spanning logistics and data centers, and a fee-earning strategic-capital franchise.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three-year record shows steady compounding: rental revenue from $6.8B to $8.2B and property NOI from $5.2B to $6.2B, driven by mid-single-digit same-store growth and exceptional mark-to-market — net-effective rent change on rollover ran +43.8% in FY2025. Occupancy normalized from a tight 97.7% toward a stabilized ~95.6%.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Our base-case forecast compounds Core FFO per share from $5.78 in FY2026 to $8.39 by FY2030 — roughly 8% a year — on ~5% same-store NOI growth, accretive development deliveries and scaling fee income. AFFO per share reaches $6.54. Leverage de-levers gradually from 5.6x toward 5.0x as retained cash and dispositions fund the pipeline alongside measured ATM equity.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NAV is a sum-of-the-parts on a Prologis-share basis. Capitalizing forward stabilized NOI of $6.67B at a 5.0% cap rate yields $133B of real estate — the dominant component. Adding the development pipeline, land bank and the fee platform builds a $146.6B gross asset value; netting cash, co-investments, debt, preferred and NCI gives $119.1B of equity, or $124.43 per share. At $145 the stock trades ~17% above base NAV.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DCF discounts AFFO — a levered, post-interest cash flow — so its present value is equity value directly, with no debt subtracted. At a 7.5% equity discount rate and 2.5% terminal growth, the five-year AFFO stream is worth $22.2B and the Gordon-growth terminal value $96.3B, for $118.5B of equity, or $123.77 per share. Terminal value is ~81% of the total, so the sensitivity table stresses both rate and growth.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Against the logistics peer group, Prologis screens expensive on every multiple — 25x Core FFO and 32x AFFO versus peer medians of 18.5x and 20.5x, a 36–57% premium. Applying peer-median multiples to PLD's own metrics implies $93–107 per share, below the $145 price. The premium is warranted by scale, the fee platform and data-center optionality that pure-play peers lack, but it leaves little margin of safety.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Three scenarios frame the range. Base compounds Core FFO per share to $8.40 by FY2030 with intrinsic value near $124. Bull layers stronger rents and heavier accretive development, NAV reaching $146 — essentially today's price. Bear assumes rent declines and higher cap and discount rates, with NAV at $99 and DCF at $71. Weighting Base 50%, Bull and Bear 25% each gives a probability-weighted value of $117 — about 19% below the current price.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Pulling it together: NAV, DCF and comps all sit below the $145 price, and the stock trades at or above the high end of every range. The blended midpoint is $114 and the probability-weighted target $117. We initiate at Underweight. We would turn more constructive on cap-rate compression, data-center development scaling, or a pullback toward intrinsic value in the low-$120s.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appendix details the scenario levers. Only these inputs move across cases; everything else is held identical so scenario deltas are attributable. Operating and development levers drive the cash-flow base; capital and valuation levers — cap rate, discount rate and terminal growth — drive the bridge from cash flow to value.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Methodology in brief: NAV is a sum-of-the-parts; the DCF discounts AFFO as a levered equity stream so no debt is subtracted; comps apply forward peer-median multiples; and the recommendation blends method midpoints on a probability-weighted basis. All inputs derive from public SEC filings; this is an independent analysis, not investment advice.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1047750"/>
            <a:ext cx="16459200" cy="14288"/>
          </a:xfrm>
          <a:prstGeom prst="rect">
            <a:avLst/>
          </a:prstGeom>
          <a:solidFill>
            <a:srgbClr val="1C1C1A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704850"/>
            <a:ext cx="6316295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75" b="1" spc="188" kern="0" dirty="0">
                <a:solidFill>
                  <a:srgbClr val="8C8C86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EQUITY RESEARCH · REAL ESTATE — INDUSTRIAL REITS</a:t>
            </a:r>
            <a:endParaRPr lang="en-US" sz="1275" dirty="0"/>
          </a:p>
        </p:txBody>
      </p:sp>
      <p:sp>
        <p:nvSpPr>
          <p:cNvPr id="4" name="Text 2"/>
          <p:cNvSpPr/>
          <p:nvPr/>
        </p:nvSpPr>
        <p:spPr>
          <a:xfrm>
            <a:off x="14736961" y="704850"/>
            <a:ext cx="2900303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75" b="1" spc="188" kern="0" dirty="0">
                <a:solidFill>
                  <a:srgbClr val="2B3A52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INITIATION OF COVERAGE</a:t>
            </a:r>
            <a:endParaRPr lang="en-US" sz="1275" dirty="0"/>
          </a:p>
        </p:txBody>
      </p:sp>
      <p:sp>
        <p:nvSpPr>
          <p:cNvPr id="5" name="Text 3"/>
          <p:cNvSpPr/>
          <p:nvPr/>
        </p:nvSpPr>
        <p:spPr>
          <a:xfrm>
            <a:off x="914400" y="1976438"/>
            <a:ext cx="1810512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75" kern="0" dirty="0">
                <a:solidFill>
                  <a:srgbClr val="8C8C86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NYSE: PLD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914400" y="2309813"/>
            <a:ext cx="18105120" cy="12668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9900" spc="-112" kern="0" dirty="0">
                <a:solidFill>
                  <a:srgbClr val="1C1C1A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Prologis, Inc.</a:t>
            </a:r>
            <a:endParaRPr lang="en-US" sz="9900" dirty="0"/>
          </a:p>
        </p:txBody>
      </p:sp>
      <p:sp>
        <p:nvSpPr>
          <p:cNvPr id="7" name="Text 5"/>
          <p:cNvSpPr/>
          <p:nvPr/>
        </p:nvSpPr>
        <p:spPr>
          <a:xfrm>
            <a:off x="914400" y="3709988"/>
            <a:ext cx="18105120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850" i="1" dirty="0">
                <a:solidFill>
                  <a:srgbClr val="4A4A47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Valuation by net asset value, discounted cash flow &amp; trading comparables</a:t>
            </a:r>
            <a:endParaRPr lang="en-US" sz="2850" dirty="0"/>
          </a:p>
        </p:txBody>
      </p:sp>
      <p:sp>
        <p:nvSpPr>
          <p:cNvPr id="8" name="Shape 6"/>
          <p:cNvSpPr/>
          <p:nvPr/>
        </p:nvSpPr>
        <p:spPr>
          <a:xfrm>
            <a:off x="914400" y="9344025"/>
            <a:ext cx="16459200" cy="9525"/>
          </a:xfrm>
          <a:prstGeom prst="rect">
            <a:avLst/>
          </a:prstGeom>
          <a:solidFill>
            <a:srgbClr val="E3E3DF"/>
          </a:solidFill>
          <a:ln/>
        </p:spPr>
      </p:sp>
      <p:sp>
        <p:nvSpPr>
          <p:cNvPr id="9" name="Shape 7"/>
          <p:cNvSpPr/>
          <p:nvPr/>
        </p:nvSpPr>
        <p:spPr>
          <a:xfrm>
            <a:off x="914400" y="8243888"/>
            <a:ext cx="16459200" cy="14288"/>
          </a:xfrm>
          <a:prstGeom prst="rect">
            <a:avLst/>
          </a:prstGeom>
          <a:solidFill>
            <a:srgbClr val="1C1C1A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8467725"/>
            <a:ext cx="4078367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b="1" spc="150" kern="0" dirty="0">
                <a:solidFill>
                  <a:srgbClr val="8C8C86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RATING</a:t>
            </a:r>
            <a:endParaRPr lang="en-US" sz="1125" dirty="0"/>
          </a:p>
        </p:txBody>
      </p:sp>
      <p:sp>
        <p:nvSpPr>
          <p:cNvPr id="11" name="Text 9"/>
          <p:cNvSpPr/>
          <p:nvPr/>
        </p:nvSpPr>
        <p:spPr>
          <a:xfrm>
            <a:off x="914400" y="8696325"/>
            <a:ext cx="4078367" cy="476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450" dirty="0">
                <a:solidFill>
                  <a:srgbClr val="9E5A4A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Underweight</a:t>
            </a:r>
            <a:endParaRPr lang="en-US" sz="3450" dirty="0"/>
          </a:p>
        </p:txBody>
      </p:sp>
      <p:sp>
        <p:nvSpPr>
          <p:cNvPr id="12" name="Shape 10"/>
          <p:cNvSpPr/>
          <p:nvPr/>
        </p:nvSpPr>
        <p:spPr>
          <a:xfrm>
            <a:off x="4888706" y="8258175"/>
            <a:ext cx="9525" cy="1085850"/>
          </a:xfrm>
          <a:prstGeom prst="rect">
            <a:avLst/>
          </a:prstGeom>
          <a:solidFill>
            <a:srgbClr val="E3E3DF"/>
          </a:solidFill>
          <a:ln/>
        </p:spPr>
      </p:sp>
      <p:sp>
        <p:nvSpPr>
          <p:cNvPr id="13" name="Text 11"/>
          <p:cNvSpPr/>
          <p:nvPr/>
        </p:nvSpPr>
        <p:spPr>
          <a:xfrm>
            <a:off x="5164931" y="8467725"/>
            <a:ext cx="4078367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b="1" spc="150" kern="0" dirty="0">
                <a:solidFill>
                  <a:srgbClr val="8C8C86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PRICE TARGET</a:t>
            </a:r>
            <a:endParaRPr lang="en-US" sz="1125" dirty="0"/>
          </a:p>
        </p:txBody>
      </p:sp>
      <p:sp>
        <p:nvSpPr>
          <p:cNvPr id="14" name="Text 12"/>
          <p:cNvSpPr/>
          <p:nvPr/>
        </p:nvSpPr>
        <p:spPr>
          <a:xfrm>
            <a:off x="5164931" y="8696325"/>
            <a:ext cx="4078367" cy="476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450" dirty="0">
                <a:solidFill>
                  <a:srgbClr val="1C1C1A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$117</a:t>
            </a:r>
            <a:endParaRPr lang="en-US" sz="3450" dirty="0"/>
          </a:p>
        </p:txBody>
      </p:sp>
      <p:sp>
        <p:nvSpPr>
          <p:cNvPr id="15" name="Shape 13"/>
          <p:cNvSpPr/>
          <p:nvPr/>
        </p:nvSpPr>
        <p:spPr>
          <a:xfrm>
            <a:off x="9139238" y="8258175"/>
            <a:ext cx="9525" cy="1085850"/>
          </a:xfrm>
          <a:prstGeom prst="rect">
            <a:avLst/>
          </a:prstGeom>
          <a:solidFill>
            <a:srgbClr val="E3E3DF"/>
          </a:solidFill>
          <a:ln/>
        </p:spPr>
      </p:sp>
      <p:sp>
        <p:nvSpPr>
          <p:cNvPr id="16" name="Text 14"/>
          <p:cNvSpPr/>
          <p:nvPr/>
        </p:nvSpPr>
        <p:spPr>
          <a:xfrm>
            <a:off x="9415463" y="8467725"/>
            <a:ext cx="4078367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b="1" spc="150" kern="0" dirty="0">
                <a:solidFill>
                  <a:srgbClr val="8C8C86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CURRENT PRICE</a:t>
            </a:r>
            <a:endParaRPr lang="en-US" sz="1125" dirty="0"/>
          </a:p>
        </p:txBody>
      </p:sp>
      <p:sp>
        <p:nvSpPr>
          <p:cNvPr id="17" name="Text 15"/>
          <p:cNvSpPr/>
          <p:nvPr/>
        </p:nvSpPr>
        <p:spPr>
          <a:xfrm>
            <a:off x="9415463" y="8696325"/>
            <a:ext cx="4078367" cy="476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450" dirty="0">
                <a:solidFill>
                  <a:srgbClr val="1C1C1A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$145</a:t>
            </a:r>
            <a:endParaRPr lang="en-US" sz="3450" dirty="0"/>
          </a:p>
        </p:txBody>
      </p:sp>
      <p:sp>
        <p:nvSpPr>
          <p:cNvPr id="18" name="Shape 16"/>
          <p:cNvSpPr/>
          <p:nvPr/>
        </p:nvSpPr>
        <p:spPr>
          <a:xfrm>
            <a:off x="13389769" y="8258175"/>
            <a:ext cx="9525" cy="1085850"/>
          </a:xfrm>
          <a:prstGeom prst="rect">
            <a:avLst/>
          </a:prstGeom>
          <a:solidFill>
            <a:srgbClr val="E3E3DF"/>
          </a:solidFill>
          <a:ln/>
        </p:spPr>
      </p:sp>
      <p:sp>
        <p:nvSpPr>
          <p:cNvPr id="19" name="Text 17"/>
          <p:cNvSpPr/>
          <p:nvPr/>
        </p:nvSpPr>
        <p:spPr>
          <a:xfrm>
            <a:off x="13665994" y="8467725"/>
            <a:ext cx="4078367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b="1" spc="150" kern="0" dirty="0">
                <a:solidFill>
                  <a:srgbClr val="8C8C86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IMPLIED RETURN</a:t>
            </a:r>
            <a:endParaRPr lang="en-US" sz="1125" dirty="0"/>
          </a:p>
        </p:txBody>
      </p:sp>
      <p:sp>
        <p:nvSpPr>
          <p:cNvPr id="20" name="Text 18"/>
          <p:cNvSpPr/>
          <p:nvPr/>
        </p:nvSpPr>
        <p:spPr>
          <a:xfrm>
            <a:off x="13665994" y="8696325"/>
            <a:ext cx="4078367" cy="476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450" dirty="0">
                <a:solidFill>
                  <a:srgbClr val="9E5A4A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−19%</a:t>
            </a:r>
            <a:endParaRPr lang="en-US" sz="3450" dirty="0"/>
          </a:p>
        </p:txBody>
      </p:sp>
      <p:sp>
        <p:nvSpPr>
          <p:cNvPr id="21" name="Text 19"/>
          <p:cNvSpPr/>
          <p:nvPr/>
        </p:nvSpPr>
        <p:spPr>
          <a:xfrm>
            <a:off x="914400" y="9505950"/>
            <a:ext cx="10964704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spc="22" kern="0" dirty="0">
                <a:solidFill>
                  <a:srgbClr val="A0A09A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Prepared from public SEC filings — Form 10-K FY2025, Form 10-Q Q1 2026, Supplemental Q1 2026. Independent analysis; not investment advice.</a:t>
            </a:r>
            <a:endParaRPr lang="en-US" sz="1125" dirty="0"/>
          </a:p>
        </p:txBody>
      </p:sp>
      <p:sp>
        <p:nvSpPr>
          <p:cNvPr id="22" name="Text 20"/>
          <p:cNvSpPr/>
          <p:nvPr/>
        </p:nvSpPr>
        <p:spPr>
          <a:xfrm>
            <a:off x="16636157" y="9505950"/>
            <a:ext cx="813643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spc="22" kern="0" dirty="0">
                <a:solidFill>
                  <a:srgbClr val="4A4A47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June 2026</a:t>
            </a:r>
            <a:endParaRPr lang="en-US" sz="1125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904875"/>
            <a:ext cx="16459200" cy="14288"/>
          </a:xfrm>
          <a:prstGeom prst="rect">
            <a:avLst/>
          </a:prstGeom>
          <a:solidFill>
            <a:srgbClr val="1C1C1A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590550"/>
            <a:ext cx="2935992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rgbClr val="8C8C86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PROLOGIS, INC. · NYSE: PLD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4345841" y="590550"/>
            <a:ext cx="3330535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rgbClr val="8C8C86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EQUITY RESEARCH — INITIATION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914400" y="1443038"/>
            <a:ext cx="329952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spc="188" kern="0" dirty="0">
                <a:solidFill>
                  <a:srgbClr val="2B3A52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02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339602" y="1147763"/>
            <a:ext cx="4059540" cy="514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750" dirty="0">
                <a:solidFill>
                  <a:srgbClr val="1C1C1A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Investment Thesis</a:t>
            </a:r>
            <a:endParaRPr lang="en-US" sz="3750" dirty="0"/>
          </a:p>
        </p:txBody>
      </p:sp>
      <p:sp>
        <p:nvSpPr>
          <p:cNvPr id="7" name="Shape 5"/>
          <p:cNvSpPr/>
          <p:nvPr/>
        </p:nvSpPr>
        <p:spPr>
          <a:xfrm>
            <a:off x="914400" y="3295650"/>
            <a:ext cx="16459200" cy="9525"/>
          </a:xfrm>
          <a:prstGeom prst="rect">
            <a:avLst/>
          </a:prstGeom>
          <a:solidFill>
            <a:srgbClr val="E3E3DF"/>
          </a:solidFill>
          <a:ln/>
        </p:spPr>
      </p:sp>
      <p:sp>
        <p:nvSpPr>
          <p:cNvPr id="8" name="Shape 6"/>
          <p:cNvSpPr/>
          <p:nvPr/>
        </p:nvSpPr>
        <p:spPr>
          <a:xfrm>
            <a:off x="914400" y="1909762"/>
            <a:ext cx="16459200" cy="14288"/>
          </a:xfrm>
          <a:prstGeom prst="rect">
            <a:avLst/>
          </a:prstGeom>
          <a:solidFill>
            <a:srgbClr val="1C1C1A"/>
          </a:solidFill>
          <a:ln/>
        </p:spPr>
      </p:sp>
      <p:sp>
        <p:nvSpPr>
          <p:cNvPr id="9" name="Shape 7"/>
          <p:cNvSpPr/>
          <p:nvPr/>
        </p:nvSpPr>
        <p:spPr>
          <a:xfrm>
            <a:off x="5842546" y="1924050"/>
            <a:ext cx="9525" cy="1371600"/>
          </a:xfrm>
          <a:prstGeom prst="rect">
            <a:avLst/>
          </a:prstGeom>
          <a:solidFill>
            <a:srgbClr val="E3E3DF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2114550"/>
            <a:ext cx="5106635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spc="135" kern="0" dirty="0">
                <a:solidFill>
                  <a:srgbClr val="8C8C86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RECOMMENDATION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914400" y="2352675"/>
            <a:ext cx="2343195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000" dirty="0">
                <a:solidFill>
                  <a:srgbClr val="9E5A4A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Underweight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914400" y="2828925"/>
            <a:ext cx="5106635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4A4A47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PT </a:t>
            </a:r>
            <a:pPr algn="l" indent="0" marL="0">
              <a:buNone/>
            </a:pPr>
            <a:r>
              <a:rPr lang="en-US" sz="1800" b="1" dirty="0">
                <a:solidFill>
                  <a:srgbClr val="1C1C1A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$117 </a:t>
            </a:r>
            <a:pPr algn="l" indent="0" marL="0">
              <a:buNone/>
            </a:pPr>
            <a:r>
              <a:rPr lang="en-US" sz="1800" dirty="0">
                <a:solidFill>
                  <a:srgbClr val="4A4A47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vs </a:t>
            </a:r>
            <a:pPr algn="l" indent="0" marL="0">
              <a:buNone/>
            </a:pPr>
            <a:r>
              <a:rPr lang="en-US" sz="1800" b="1" dirty="0">
                <a:solidFill>
                  <a:srgbClr val="1C1C1A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$145 </a:t>
            </a:r>
            <a:pPr algn="l" indent="0" marL="0">
              <a:buNone/>
            </a:pPr>
            <a:r>
              <a:rPr lang="en-US" sz="1800" dirty="0">
                <a:solidFill>
                  <a:srgbClr val="4A4A47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· </a:t>
            </a:r>
            <a:pPr algn="l" indent="0" marL="0">
              <a:buNone/>
            </a:pPr>
            <a:r>
              <a:rPr lang="en-US" sz="1800" b="1" dirty="0">
                <a:solidFill>
                  <a:srgbClr val="9E5A4A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−19%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5959867" y="2114550"/>
            <a:ext cx="2657683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050" b="1" spc="113" kern="0" dirty="0">
                <a:solidFill>
                  <a:srgbClr val="8C8C86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NAV / SHARE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5959867" y="2333625"/>
            <a:ext cx="2657683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2850" dirty="0">
                <a:solidFill>
                  <a:srgbClr val="1C1C1A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$124</a:t>
            </a:r>
            <a:endParaRPr lang="en-US" sz="2850" dirty="0"/>
          </a:p>
        </p:txBody>
      </p:sp>
      <p:sp>
        <p:nvSpPr>
          <p:cNvPr id="15" name="Shape 13"/>
          <p:cNvSpPr/>
          <p:nvPr/>
        </p:nvSpPr>
        <p:spPr>
          <a:xfrm>
            <a:off x="8725346" y="1924050"/>
            <a:ext cx="9525" cy="1371600"/>
          </a:xfrm>
          <a:prstGeom prst="rect">
            <a:avLst/>
          </a:prstGeom>
          <a:solidFill>
            <a:srgbClr val="E3E3DF"/>
          </a:solidFill>
          <a:ln/>
        </p:spPr>
      </p:sp>
      <p:sp>
        <p:nvSpPr>
          <p:cNvPr id="16" name="Text 14"/>
          <p:cNvSpPr/>
          <p:nvPr/>
        </p:nvSpPr>
        <p:spPr>
          <a:xfrm>
            <a:off x="8842668" y="2114550"/>
            <a:ext cx="2657683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050" b="1" spc="113" kern="0" dirty="0">
                <a:solidFill>
                  <a:srgbClr val="8C8C86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DCF / SHARE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8842668" y="2333625"/>
            <a:ext cx="2657683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2850" dirty="0">
                <a:solidFill>
                  <a:srgbClr val="1C1C1A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$124</a:t>
            </a:r>
            <a:endParaRPr lang="en-US" sz="2850" dirty="0"/>
          </a:p>
        </p:txBody>
      </p:sp>
      <p:sp>
        <p:nvSpPr>
          <p:cNvPr id="18" name="Shape 16"/>
          <p:cNvSpPr/>
          <p:nvPr/>
        </p:nvSpPr>
        <p:spPr>
          <a:xfrm>
            <a:off x="11608147" y="1924050"/>
            <a:ext cx="9525" cy="1371600"/>
          </a:xfrm>
          <a:prstGeom prst="rect">
            <a:avLst/>
          </a:prstGeom>
          <a:solidFill>
            <a:srgbClr val="E3E3DF"/>
          </a:solidFill>
          <a:ln/>
        </p:spPr>
      </p:sp>
      <p:sp>
        <p:nvSpPr>
          <p:cNvPr id="19" name="Text 17"/>
          <p:cNvSpPr/>
          <p:nvPr/>
        </p:nvSpPr>
        <p:spPr>
          <a:xfrm>
            <a:off x="11725468" y="2114550"/>
            <a:ext cx="2657683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050" b="1" spc="113" kern="0" dirty="0">
                <a:solidFill>
                  <a:srgbClr val="8C8C86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COMPS IMPLIED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11725468" y="2333625"/>
            <a:ext cx="2657683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2850" dirty="0">
                <a:solidFill>
                  <a:srgbClr val="1C1C1A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$93–107</a:t>
            </a:r>
            <a:endParaRPr lang="en-US" sz="2850" dirty="0"/>
          </a:p>
        </p:txBody>
      </p:sp>
      <p:sp>
        <p:nvSpPr>
          <p:cNvPr id="21" name="Shape 19"/>
          <p:cNvSpPr/>
          <p:nvPr/>
        </p:nvSpPr>
        <p:spPr>
          <a:xfrm>
            <a:off x="14490948" y="1924050"/>
            <a:ext cx="9525" cy="1371600"/>
          </a:xfrm>
          <a:prstGeom prst="rect">
            <a:avLst/>
          </a:prstGeom>
          <a:solidFill>
            <a:srgbClr val="E3E3DF"/>
          </a:solidFill>
          <a:ln/>
        </p:spPr>
      </p:sp>
      <p:sp>
        <p:nvSpPr>
          <p:cNvPr id="22" name="Text 20"/>
          <p:cNvSpPr/>
          <p:nvPr/>
        </p:nvSpPr>
        <p:spPr>
          <a:xfrm>
            <a:off x="14608269" y="2114550"/>
            <a:ext cx="2657683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050" b="1" spc="113" kern="0" dirty="0">
                <a:solidFill>
                  <a:srgbClr val="8C8C86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BLENDED MIDPOINT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14608269" y="2333625"/>
            <a:ext cx="2657683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2850" dirty="0">
                <a:solidFill>
                  <a:srgbClr val="1C1C1A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$114</a:t>
            </a:r>
            <a:endParaRPr lang="en-US" sz="2850" dirty="0"/>
          </a:p>
        </p:txBody>
      </p:sp>
      <p:sp>
        <p:nvSpPr>
          <p:cNvPr id="24" name="Shape 22"/>
          <p:cNvSpPr/>
          <p:nvPr/>
        </p:nvSpPr>
        <p:spPr>
          <a:xfrm>
            <a:off x="914400" y="3952875"/>
            <a:ext cx="7924800" cy="9525"/>
          </a:xfrm>
          <a:prstGeom prst="rect">
            <a:avLst/>
          </a:prstGeom>
          <a:solidFill>
            <a:srgbClr val="E3E3DF"/>
          </a:solidFill>
          <a:ln/>
        </p:spPr>
      </p:sp>
      <p:sp>
        <p:nvSpPr>
          <p:cNvPr id="25" name="Text 23"/>
          <p:cNvSpPr/>
          <p:nvPr/>
        </p:nvSpPr>
        <p:spPr>
          <a:xfrm>
            <a:off x="914400" y="3629025"/>
            <a:ext cx="8162544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75" b="1" spc="150" kern="0" dirty="0">
                <a:solidFill>
                  <a:srgbClr val="5E7A66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WHAT WE LIKE</a:t>
            </a:r>
            <a:endParaRPr lang="en-US" sz="1275" dirty="0"/>
          </a:p>
        </p:txBody>
      </p:sp>
      <p:sp>
        <p:nvSpPr>
          <p:cNvPr id="26" name="Shape 24"/>
          <p:cNvSpPr/>
          <p:nvPr/>
        </p:nvSpPr>
        <p:spPr>
          <a:xfrm>
            <a:off x="914400" y="5210175"/>
            <a:ext cx="7924800" cy="9525"/>
          </a:xfrm>
          <a:prstGeom prst="rect">
            <a:avLst/>
          </a:prstGeom>
          <a:solidFill>
            <a:srgbClr val="E3E3DF"/>
          </a:solidFill>
          <a:ln/>
        </p:spPr>
      </p:sp>
      <p:sp>
        <p:nvSpPr>
          <p:cNvPr id="27" name="Text 25"/>
          <p:cNvSpPr/>
          <p:nvPr/>
        </p:nvSpPr>
        <p:spPr>
          <a:xfrm>
            <a:off x="914400" y="4152900"/>
            <a:ext cx="871728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725" b="1" dirty="0">
                <a:solidFill>
                  <a:srgbClr val="1C1C1A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Premium global logistics platform</a:t>
            </a:r>
            <a:endParaRPr lang="en-US" sz="1725" dirty="0"/>
          </a:p>
        </p:txBody>
      </p:sp>
      <p:sp>
        <p:nvSpPr>
          <p:cNvPr id="28" name="Text 26"/>
          <p:cNvSpPr/>
          <p:nvPr/>
        </p:nvSpPr>
        <p:spPr>
          <a:xfrm>
            <a:off x="914400" y="4486275"/>
            <a:ext cx="8162544" cy="590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500" dirty="0">
                <a:solidFill>
                  <a:srgbClr val="4A4A47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~95% occupancy with embedded below-market rents; ~5%/yr same-store NOI growth from contractual escalators plus mark-to-market on rollover.</a:t>
            </a:r>
            <a:endParaRPr lang="en-US" sz="1500" dirty="0"/>
          </a:p>
        </p:txBody>
      </p:sp>
      <p:sp>
        <p:nvSpPr>
          <p:cNvPr id="29" name="Shape 27"/>
          <p:cNvSpPr/>
          <p:nvPr/>
        </p:nvSpPr>
        <p:spPr>
          <a:xfrm>
            <a:off x="914400" y="6448425"/>
            <a:ext cx="7924800" cy="9525"/>
          </a:xfrm>
          <a:prstGeom prst="rect">
            <a:avLst/>
          </a:prstGeom>
          <a:solidFill>
            <a:srgbClr val="E3E3DF"/>
          </a:solidFill>
          <a:ln/>
        </p:spPr>
      </p:sp>
      <p:sp>
        <p:nvSpPr>
          <p:cNvPr id="30" name="Text 28"/>
          <p:cNvSpPr/>
          <p:nvPr/>
        </p:nvSpPr>
        <p:spPr>
          <a:xfrm>
            <a:off x="914400" y="5391150"/>
            <a:ext cx="871728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725" b="1" dirty="0">
                <a:solidFill>
                  <a:srgbClr val="1C1C1A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Multiple growth engines</a:t>
            </a:r>
            <a:endParaRPr lang="en-US" sz="1725" dirty="0"/>
          </a:p>
        </p:txBody>
      </p:sp>
      <p:sp>
        <p:nvSpPr>
          <p:cNvPr id="31" name="Text 29"/>
          <p:cNvSpPr/>
          <p:nvPr/>
        </p:nvSpPr>
        <p:spPr>
          <a:xfrm>
            <a:off x="914400" y="5724525"/>
            <a:ext cx="8162544" cy="590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500" dirty="0">
                <a:solidFill>
                  <a:srgbClr val="4A4A47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Development in logistics and data centers creates value at cost-plus-margin; strategic-capital fees scale toward ~$87B third-party AUM by FY2030.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914400" y="6629400"/>
            <a:ext cx="871728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725" b="1" dirty="0">
                <a:solidFill>
                  <a:srgbClr val="1C1C1A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Balance-sheet strength</a:t>
            </a:r>
            <a:endParaRPr lang="en-US" sz="1725" dirty="0"/>
          </a:p>
        </p:txBody>
      </p:sp>
      <p:sp>
        <p:nvSpPr>
          <p:cNvPr id="33" name="Text 31"/>
          <p:cNvSpPr/>
          <p:nvPr/>
        </p:nvSpPr>
        <p:spPr>
          <a:xfrm>
            <a:off x="914400" y="6962775"/>
            <a:ext cx="8162544" cy="590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500" dirty="0">
                <a:solidFill>
                  <a:srgbClr val="4A4A47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Net debt/EBITDA ~5.0x under a disciplined leverage policy, funding the pipeline while preserving capacity.</a:t>
            </a:r>
            <a:endParaRPr lang="en-US" sz="1500" dirty="0"/>
          </a:p>
        </p:txBody>
      </p:sp>
      <p:sp>
        <p:nvSpPr>
          <p:cNvPr id="34" name="Shape 32"/>
          <p:cNvSpPr/>
          <p:nvPr/>
        </p:nvSpPr>
        <p:spPr>
          <a:xfrm>
            <a:off x="9448800" y="3952875"/>
            <a:ext cx="7924800" cy="9525"/>
          </a:xfrm>
          <a:prstGeom prst="rect">
            <a:avLst/>
          </a:prstGeom>
          <a:solidFill>
            <a:srgbClr val="E3E3DF"/>
          </a:solidFill>
          <a:ln/>
        </p:spPr>
      </p:sp>
      <p:sp>
        <p:nvSpPr>
          <p:cNvPr id="35" name="Text 33"/>
          <p:cNvSpPr/>
          <p:nvPr/>
        </p:nvSpPr>
        <p:spPr>
          <a:xfrm>
            <a:off x="9448800" y="3629025"/>
            <a:ext cx="8162544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75" b="1" spc="150" kern="0" dirty="0">
                <a:solidFill>
                  <a:srgbClr val="9E5A4A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KEY RISKS</a:t>
            </a:r>
            <a:endParaRPr lang="en-US" sz="1275" dirty="0"/>
          </a:p>
        </p:txBody>
      </p:sp>
      <p:sp>
        <p:nvSpPr>
          <p:cNvPr id="36" name="Shape 34"/>
          <p:cNvSpPr/>
          <p:nvPr/>
        </p:nvSpPr>
        <p:spPr>
          <a:xfrm>
            <a:off x="9448800" y="5210175"/>
            <a:ext cx="7924800" cy="9525"/>
          </a:xfrm>
          <a:prstGeom prst="rect">
            <a:avLst/>
          </a:prstGeom>
          <a:solidFill>
            <a:srgbClr val="E3E3DF"/>
          </a:solidFill>
          <a:ln/>
        </p:spPr>
      </p:sp>
      <p:sp>
        <p:nvSpPr>
          <p:cNvPr id="37" name="Text 35"/>
          <p:cNvSpPr/>
          <p:nvPr/>
        </p:nvSpPr>
        <p:spPr>
          <a:xfrm>
            <a:off x="9448800" y="4152900"/>
            <a:ext cx="871728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725" b="1" dirty="0">
                <a:solidFill>
                  <a:srgbClr val="1C1C1A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Valuation premium</a:t>
            </a:r>
            <a:endParaRPr lang="en-US" sz="1725" dirty="0"/>
          </a:p>
        </p:txBody>
      </p:sp>
      <p:sp>
        <p:nvSpPr>
          <p:cNvPr id="38" name="Text 36"/>
          <p:cNvSpPr/>
          <p:nvPr/>
        </p:nvSpPr>
        <p:spPr>
          <a:xfrm>
            <a:off x="9448800" y="4486275"/>
            <a:ext cx="8162544" cy="590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500" dirty="0">
                <a:solidFill>
                  <a:srgbClr val="4A4A47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Trades ~17% above base NAV and toward the bull case; exposed to multiple compression if growth slows.</a:t>
            </a:r>
            <a:endParaRPr lang="en-US" sz="1500" dirty="0"/>
          </a:p>
        </p:txBody>
      </p:sp>
      <p:sp>
        <p:nvSpPr>
          <p:cNvPr id="39" name="Shape 37"/>
          <p:cNvSpPr/>
          <p:nvPr/>
        </p:nvSpPr>
        <p:spPr>
          <a:xfrm>
            <a:off x="9448800" y="6448425"/>
            <a:ext cx="7924800" cy="9525"/>
          </a:xfrm>
          <a:prstGeom prst="rect">
            <a:avLst/>
          </a:prstGeom>
          <a:solidFill>
            <a:srgbClr val="E3E3DF"/>
          </a:solidFill>
          <a:ln/>
        </p:spPr>
      </p:sp>
      <p:sp>
        <p:nvSpPr>
          <p:cNvPr id="40" name="Text 38"/>
          <p:cNvSpPr/>
          <p:nvPr/>
        </p:nvSpPr>
        <p:spPr>
          <a:xfrm>
            <a:off x="9448800" y="5391150"/>
            <a:ext cx="871728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725" b="1" dirty="0">
                <a:solidFill>
                  <a:srgbClr val="1C1C1A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Development &amp; capital intensity</a:t>
            </a:r>
            <a:endParaRPr lang="en-US" sz="1725" dirty="0"/>
          </a:p>
        </p:txBody>
      </p:sp>
      <p:sp>
        <p:nvSpPr>
          <p:cNvPr id="41" name="Text 39"/>
          <p:cNvSpPr/>
          <p:nvPr/>
        </p:nvSpPr>
        <p:spPr>
          <a:xfrm>
            <a:off x="9448800" y="5724525"/>
            <a:ext cx="8162544" cy="590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500" dirty="0">
                <a:solidFill>
                  <a:srgbClr val="4A4A47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Heavy starts require external funding via ATM equity and debt; value-creation margins compress sharply in the bear case.</a:t>
            </a:r>
            <a:endParaRPr lang="en-US" sz="1500" dirty="0"/>
          </a:p>
        </p:txBody>
      </p:sp>
      <p:sp>
        <p:nvSpPr>
          <p:cNvPr id="42" name="Text 40"/>
          <p:cNvSpPr/>
          <p:nvPr/>
        </p:nvSpPr>
        <p:spPr>
          <a:xfrm>
            <a:off x="9448800" y="6629400"/>
            <a:ext cx="871728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725" b="1" dirty="0">
                <a:solidFill>
                  <a:srgbClr val="1C1C1A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Macro &amp; rate sensitivity</a:t>
            </a:r>
            <a:endParaRPr lang="en-US" sz="1725" dirty="0"/>
          </a:p>
        </p:txBody>
      </p:sp>
      <p:sp>
        <p:nvSpPr>
          <p:cNvPr id="43" name="Text 41"/>
          <p:cNvSpPr/>
          <p:nvPr/>
        </p:nvSpPr>
        <p:spPr>
          <a:xfrm>
            <a:off x="9448800" y="6962775"/>
            <a:ext cx="8162544" cy="590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500" dirty="0">
                <a:solidFill>
                  <a:srgbClr val="4A4A47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Cap and discount rates are the dominant value levers; the bear case (5.8% cap, 8.5% WACC, falling rents) implies ~30–50% downside.</a:t>
            </a:r>
            <a:endParaRPr lang="en-US" sz="1500" dirty="0"/>
          </a:p>
        </p:txBody>
      </p:sp>
      <p:sp>
        <p:nvSpPr>
          <p:cNvPr id="44" name="Shape 42"/>
          <p:cNvSpPr/>
          <p:nvPr/>
        </p:nvSpPr>
        <p:spPr>
          <a:xfrm>
            <a:off x="914400" y="9505950"/>
            <a:ext cx="16459200" cy="9525"/>
          </a:xfrm>
          <a:prstGeom prst="rect">
            <a:avLst/>
          </a:prstGeom>
          <a:solidFill>
            <a:srgbClr val="E3E3DF"/>
          </a:solidFill>
          <a:ln/>
        </p:spPr>
      </p:sp>
      <p:sp>
        <p:nvSpPr>
          <p:cNvPr id="45" name="Text 43"/>
          <p:cNvSpPr/>
          <p:nvPr/>
        </p:nvSpPr>
        <p:spPr>
          <a:xfrm>
            <a:off x="914400" y="9648825"/>
            <a:ext cx="7459653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A0A09A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Source: company valuation model — Summary, NAV, DCF, Comps &amp; Football Field tabs. Reference state = Base.</a:t>
            </a:r>
            <a:endParaRPr lang="en-US" sz="1050" dirty="0"/>
          </a:p>
        </p:txBody>
      </p:sp>
      <p:sp>
        <p:nvSpPr>
          <p:cNvPr id="46" name="Text 44"/>
          <p:cNvSpPr/>
          <p:nvPr/>
        </p:nvSpPr>
        <p:spPr>
          <a:xfrm>
            <a:off x="17199173" y="9648825"/>
            <a:ext cx="250627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4A4A47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02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904875"/>
            <a:ext cx="16459200" cy="14288"/>
          </a:xfrm>
          <a:prstGeom prst="rect">
            <a:avLst/>
          </a:prstGeom>
          <a:solidFill>
            <a:srgbClr val="1C1C1A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590550"/>
            <a:ext cx="2935992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rgbClr val="8C8C86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PROLOGIS, INC. · NYSE: PLD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4345841" y="590550"/>
            <a:ext cx="3330535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rgbClr val="8C8C86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EQUITY RESEARCH — INITIATION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914400" y="1443038"/>
            <a:ext cx="333524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spc="188" kern="0" dirty="0">
                <a:solidFill>
                  <a:srgbClr val="2B3A52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03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343174" y="1147763"/>
            <a:ext cx="4191327" cy="514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750" dirty="0">
                <a:solidFill>
                  <a:srgbClr val="1C1C1A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Business Overview</a:t>
            </a:r>
            <a:endParaRPr lang="en-US" sz="3750" dirty="0"/>
          </a:p>
        </p:txBody>
      </p:sp>
      <p:sp>
        <p:nvSpPr>
          <p:cNvPr id="7" name="Shape 5"/>
          <p:cNvSpPr/>
          <p:nvPr/>
        </p:nvSpPr>
        <p:spPr>
          <a:xfrm>
            <a:off x="914400" y="1890713"/>
            <a:ext cx="16459200" cy="14288"/>
          </a:xfrm>
          <a:prstGeom prst="rect">
            <a:avLst/>
          </a:prstGeom>
          <a:solidFill>
            <a:srgbClr val="1C1C1A"/>
          </a:solidFill>
          <a:ln/>
        </p:spPr>
      </p:sp>
      <p:sp>
        <p:nvSpPr>
          <p:cNvPr id="8" name="Shape 6"/>
          <p:cNvSpPr/>
          <p:nvPr/>
        </p:nvSpPr>
        <p:spPr>
          <a:xfrm>
            <a:off x="4888706" y="1905000"/>
            <a:ext cx="9525" cy="981075"/>
          </a:xfrm>
          <a:prstGeom prst="rect">
            <a:avLst/>
          </a:prstGeom>
          <a:solidFill>
            <a:srgbClr val="E3E3DF"/>
          </a:solidFill>
          <a:ln/>
        </p:spPr>
      </p:sp>
      <p:sp>
        <p:nvSpPr>
          <p:cNvPr id="9" name="Text 7"/>
          <p:cNvSpPr/>
          <p:nvPr/>
        </p:nvSpPr>
        <p:spPr>
          <a:xfrm>
            <a:off x="914400" y="2076450"/>
            <a:ext cx="4078367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300" dirty="0">
                <a:solidFill>
                  <a:srgbClr val="1C1C1A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777</a:t>
            </a:r>
            <a:pPr algn="l" indent="0" marL="0">
              <a:buNone/>
            </a:pPr>
            <a:r>
              <a:rPr lang="en-US" sz="1800" dirty="0">
                <a:solidFill>
                  <a:srgbClr val="8C8C86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M sf</a:t>
            </a:r>
            <a:endParaRPr lang="en-US" sz="3300" dirty="0"/>
          </a:p>
        </p:txBody>
      </p:sp>
      <p:sp>
        <p:nvSpPr>
          <p:cNvPr id="10" name="Text 8"/>
          <p:cNvSpPr/>
          <p:nvPr/>
        </p:nvSpPr>
        <p:spPr>
          <a:xfrm>
            <a:off x="914400" y="2533650"/>
            <a:ext cx="4078367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38" kern="0" dirty="0">
                <a:solidFill>
                  <a:srgbClr val="8C8C86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Same-store operating pool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9139238" y="1905000"/>
            <a:ext cx="9525" cy="981075"/>
          </a:xfrm>
          <a:prstGeom prst="rect">
            <a:avLst/>
          </a:prstGeom>
          <a:solidFill>
            <a:srgbClr val="E3E3DF"/>
          </a:solidFill>
          <a:ln/>
        </p:spPr>
      </p:sp>
      <p:sp>
        <p:nvSpPr>
          <p:cNvPr id="12" name="Text 10"/>
          <p:cNvSpPr/>
          <p:nvPr/>
        </p:nvSpPr>
        <p:spPr>
          <a:xfrm>
            <a:off x="5164931" y="2076450"/>
            <a:ext cx="4078367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300" dirty="0">
                <a:solidFill>
                  <a:srgbClr val="1C1C1A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95.3</a:t>
            </a:r>
            <a:pPr algn="l" indent="0" marL="0">
              <a:buNone/>
            </a:pPr>
            <a:r>
              <a:rPr lang="en-US" sz="1800" dirty="0">
                <a:solidFill>
                  <a:srgbClr val="8C8C86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%</a:t>
            </a:r>
            <a:endParaRPr lang="en-US" sz="3300" dirty="0"/>
          </a:p>
        </p:txBody>
      </p:sp>
      <p:sp>
        <p:nvSpPr>
          <p:cNvPr id="13" name="Text 11"/>
          <p:cNvSpPr/>
          <p:nvPr/>
        </p:nvSpPr>
        <p:spPr>
          <a:xfrm>
            <a:off x="5164931" y="2533650"/>
            <a:ext cx="4078367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38" kern="0" dirty="0">
                <a:solidFill>
                  <a:srgbClr val="8C8C86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Average occupancy, Q1 2026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13389769" y="1905000"/>
            <a:ext cx="9525" cy="981075"/>
          </a:xfrm>
          <a:prstGeom prst="rect">
            <a:avLst/>
          </a:prstGeom>
          <a:solidFill>
            <a:srgbClr val="E3E3DF"/>
          </a:solidFill>
          <a:ln/>
        </p:spPr>
      </p:sp>
      <p:sp>
        <p:nvSpPr>
          <p:cNvPr id="15" name="Text 13"/>
          <p:cNvSpPr/>
          <p:nvPr/>
        </p:nvSpPr>
        <p:spPr>
          <a:xfrm>
            <a:off x="9415463" y="2076450"/>
            <a:ext cx="4078367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300" dirty="0">
                <a:solidFill>
                  <a:srgbClr val="1C1C1A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$235</a:t>
            </a:r>
            <a:pPr algn="l" indent="0" marL="0">
              <a:buNone/>
            </a:pPr>
            <a:r>
              <a:rPr lang="en-US" sz="1800" dirty="0">
                <a:solidFill>
                  <a:srgbClr val="8C8C86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B</a:t>
            </a:r>
            <a:endParaRPr lang="en-US" sz="3300" dirty="0"/>
          </a:p>
        </p:txBody>
      </p:sp>
      <p:sp>
        <p:nvSpPr>
          <p:cNvPr id="16" name="Text 14"/>
          <p:cNvSpPr/>
          <p:nvPr/>
        </p:nvSpPr>
        <p:spPr>
          <a:xfrm>
            <a:off x="9415463" y="2533650"/>
            <a:ext cx="4078367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38" kern="0" dirty="0">
                <a:solidFill>
                  <a:srgbClr val="8C8C86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Gross assets under management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3665994" y="2076450"/>
            <a:ext cx="4078367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300" dirty="0">
                <a:solidFill>
                  <a:srgbClr val="1C1C1A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~5.0</a:t>
            </a:r>
            <a:pPr algn="l" indent="0" marL="0">
              <a:buNone/>
            </a:pPr>
            <a:r>
              <a:rPr lang="en-US" sz="1800" dirty="0">
                <a:solidFill>
                  <a:srgbClr val="8C8C86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x</a:t>
            </a:r>
            <a:endParaRPr lang="en-US" sz="3300" dirty="0"/>
          </a:p>
        </p:txBody>
      </p:sp>
      <p:sp>
        <p:nvSpPr>
          <p:cNvPr id="18" name="Text 16"/>
          <p:cNvSpPr/>
          <p:nvPr/>
        </p:nvSpPr>
        <p:spPr>
          <a:xfrm>
            <a:off x="13665994" y="2533650"/>
            <a:ext cx="4078367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38" kern="0" dirty="0">
                <a:solidFill>
                  <a:srgbClr val="8C8C86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Net debt / EBITDA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914400" y="3209925"/>
            <a:ext cx="7241917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75" b="1" spc="150" kern="0" dirty="0">
                <a:solidFill>
                  <a:srgbClr val="2B3A52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REVENUE DRIVERS — FY2025</a:t>
            </a:r>
            <a:endParaRPr lang="en-US" sz="1275" dirty="0"/>
          </a:p>
        </p:txBody>
      </p:sp>
      <p:sp>
        <p:nvSpPr>
          <p:cNvPr id="20" name="Text 18"/>
          <p:cNvSpPr/>
          <p:nvPr/>
        </p:nvSpPr>
        <p:spPr>
          <a:xfrm>
            <a:off x="914400" y="3438525"/>
            <a:ext cx="7241917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8C8C86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Total revenue $8,790M; rental income is the core engine.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914400" y="3848100"/>
            <a:ext cx="6583561" cy="438150"/>
          </a:xfrm>
          <a:prstGeom prst="rect">
            <a:avLst/>
          </a:prstGeom>
          <a:ln w="9525">
            <a:solidFill>
              <a:srgbClr val="E3E3DF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23925" y="3857625"/>
            <a:ext cx="6091833" cy="419100"/>
          </a:xfrm>
          <a:prstGeom prst="rect">
            <a:avLst/>
          </a:prstGeom>
          <a:solidFill>
            <a:srgbClr val="2B3A52"/>
          </a:solidFill>
          <a:ln/>
        </p:spPr>
      </p:sp>
      <p:sp>
        <p:nvSpPr>
          <p:cNvPr id="23" name="Shape 21"/>
          <p:cNvSpPr/>
          <p:nvPr/>
        </p:nvSpPr>
        <p:spPr>
          <a:xfrm>
            <a:off x="7015758" y="3857625"/>
            <a:ext cx="439787" cy="419100"/>
          </a:xfrm>
          <a:prstGeom prst="rect">
            <a:avLst/>
          </a:prstGeom>
          <a:solidFill>
            <a:srgbClr val="5A6B85"/>
          </a:solidFill>
          <a:ln/>
        </p:spPr>
      </p:sp>
      <p:sp>
        <p:nvSpPr>
          <p:cNvPr id="24" name="Shape 22"/>
          <p:cNvSpPr/>
          <p:nvPr/>
        </p:nvSpPr>
        <p:spPr>
          <a:xfrm>
            <a:off x="7455545" y="3857625"/>
            <a:ext cx="32742" cy="419100"/>
          </a:xfrm>
          <a:prstGeom prst="rect">
            <a:avLst/>
          </a:prstGeom>
          <a:solidFill>
            <a:srgbClr val="A9B2C2"/>
          </a:solidFill>
          <a:ln/>
        </p:spPr>
      </p:sp>
      <p:sp>
        <p:nvSpPr>
          <p:cNvPr id="25" name="Shape 23"/>
          <p:cNvSpPr/>
          <p:nvPr/>
        </p:nvSpPr>
        <p:spPr>
          <a:xfrm>
            <a:off x="914400" y="5014913"/>
            <a:ext cx="6583561" cy="9525"/>
          </a:xfrm>
          <a:prstGeom prst="rect">
            <a:avLst/>
          </a:prstGeom>
          <a:solidFill>
            <a:srgbClr val="E3E3DF"/>
          </a:solidFill>
          <a:ln/>
        </p:spPr>
      </p:sp>
      <p:sp>
        <p:nvSpPr>
          <p:cNvPr id="26" name="Shape 24"/>
          <p:cNvSpPr/>
          <p:nvPr/>
        </p:nvSpPr>
        <p:spPr>
          <a:xfrm>
            <a:off x="914400" y="4705350"/>
            <a:ext cx="114300" cy="114300"/>
          </a:xfrm>
          <a:prstGeom prst="rect">
            <a:avLst/>
          </a:prstGeom>
          <a:solidFill>
            <a:srgbClr val="2B3A52"/>
          </a:solidFill>
          <a:ln/>
        </p:spPr>
      </p:sp>
      <p:sp>
        <p:nvSpPr>
          <p:cNvPr id="27" name="Text 25"/>
          <p:cNvSpPr/>
          <p:nvPr/>
        </p:nvSpPr>
        <p:spPr>
          <a:xfrm>
            <a:off x="1143000" y="4643438"/>
            <a:ext cx="1472017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75" dirty="0">
                <a:solidFill>
                  <a:srgbClr val="1C1C1A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Rental revenue</a:t>
            </a:r>
            <a:endParaRPr lang="en-US" sz="1575" dirty="0"/>
          </a:p>
        </p:txBody>
      </p:sp>
      <p:sp>
        <p:nvSpPr>
          <p:cNvPr id="28" name="Text 26"/>
          <p:cNvSpPr/>
          <p:nvPr/>
        </p:nvSpPr>
        <p:spPr>
          <a:xfrm>
            <a:off x="6106269" y="4629150"/>
            <a:ext cx="1530861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75" b="1" dirty="0">
                <a:solidFill>
                  <a:srgbClr val="1C1C1A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$8,159M </a:t>
            </a:r>
            <a:pPr algn="l" indent="0" marL="0">
              <a:buNone/>
            </a:pPr>
            <a:r>
              <a:rPr lang="en-US" sz="1575" dirty="0">
                <a:solidFill>
                  <a:srgbClr val="8C8C86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93%</a:t>
            </a:r>
            <a:endParaRPr lang="en-US" sz="1575" dirty="0"/>
          </a:p>
        </p:txBody>
      </p:sp>
      <p:sp>
        <p:nvSpPr>
          <p:cNvPr id="29" name="Shape 27"/>
          <p:cNvSpPr/>
          <p:nvPr/>
        </p:nvSpPr>
        <p:spPr>
          <a:xfrm>
            <a:off x="914400" y="5543550"/>
            <a:ext cx="6583561" cy="9525"/>
          </a:xfrm>
          <a:prstGeom prst="rect">
            <a:avLst/>
          </a:prstGeom>
          <a:solidFill>
            <a:srgbClr val="E3E3DF"/>
          </a:solidFill>
          <a:ln/>
        </p:spPr>
      </p:sp>
      <p:sp>
        <p:nvSpPr>
          <p:cNvPr id="30" name="Shape 28"/>
          <p:cNvSpPr/>
          <p:nvPr/>
        </p:nvSpPr>
        <p:spPr>
          <a:xfrm>
            <a:off x="914400" y="5233988"/>
            <a:ext cx="114300" cy="114300"/>
          </a:xfrm>
          <a:prstGeom prst="rect">
            <a:avLst/>
          </a:prstGeom>
          <a:solidFill>
            <a:srgbClr val="5A6B85"/>
          </a:solidFill>
          <a:ln/>
        </p:spPr>
      </p:sp>
      <p:sp>
        <p:nvSpPr>
          <p:cNvPr id="31" name="Text 29"/>
          <p:cNvSpPr/>
          <p:nvPr/>
        </p:nvSpPr>
        <p:spPr>
          <a:xfrm>
            <a:off x="1143000" y="5172075"/>
            <a:ext cx="2038295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75" dirty="0">
                <a:solidFill>
                  <a:srgbClr val="1C1C1A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Strategic capital fees</a:t>
            </a:r>
            <a:endParaRPr lang="en-US" sz="1575" dirty="0"/>
          </a:p>
        </p:txBody>
      </p:sp>
      <p:sp>
        <p:nvSpPr>
          <p:cNvPr id="32" name="Text 30"/>
          <p:cNvSpPr/>
          <p:nvPr/>
        </p:nvSpPr>
        <p:spPr>
          <a:xfrm>
            <a:off x="6402586" y="5157788"/>
            <a:ext cx="1171575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75" b="1" dirty="0">
                <a:solidFill>
                  <a:srgbClr val="1C1C1A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$592M </a:t>
            </a:r>
            <a:pPr algn="l" indent="0" marL="0">
              <a:buNone/>
            </a:pPr>
            <a:r>
              <a:rPr lang="en-US" sz="1575" dirty="0">
                <a:solidFill>
                  <a:srgbClr val="8C8C86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7%</a:t>
            </a:r>
            <a:endParaRPr lang="en-US" sz="1575" dirty="0"/>
          </a:p>
        </p:txBody>
      </p:sp>
      <p:sp>
        <p:nvSpPr>
          <p:cNvPr id="33" name="Shape 31"/>
          <p:cNvSpPr/>
          <p:nvPr/>
        </p:nvSpPr>
        <p:spPr>
          <a:xfrm>
            <a:off x="914400" y="5762625"/>
            <a:ext cx="114300" cy="114300"/>
          </a:xfrm>
          <a:prstGeom prst="rect">
            <a:avLst/>
          </a:prstGeom>
          <a:solidFill>
            <a:srgbClr val="A9B2C2"/>
          </a:solidFill>
          <a:ln/>
        </p:spPr>
      </p:sp>
      <p:sp>
        <p:nvSpPr>
          <p:cNvPr id="34" name="Text 32"/>
          <p:cNvSpPr/>
          <p:nvPr/>
        </p:nvSpPr>
        <p:spPr>
          <a:xfrm>
            <a:off x="1143000" y="5700713"/>
            <a:ext cx="2677324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75" dirty="0">
                <a:solidFill>
                  <a:srgbClr val="1C1C1A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Development mgmt &amp; other</a:t>
            </a:r>
            <a:endParaRPr lang="en-US" sz="1575" dirty="0"/>
          </a:p>
        </p:txBody>
      </p:sp>
      <p:sp>
        <p:nvSpPr>
          <p:cNvPr id="35" name="Text 33"/>
          <p:cNvSpPr/>
          <p:nvPr/>
        </p:nvSpPr>
        <p:spPr>
          <a:xfrm>
            <a:off x="6448276" y="5686425"/>
            <a:ext cx="1125885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75" b="1" dirty="0">
                <a:solidFill>
                  <a:srgbClr val="1C1C1A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$39M </a:t>
            </a:r>
            <a:pPr algn="l" indent="0" marL="0">
              <a:buNone/>
            </a:pPr>
            <a:r>
              <a:rPr lang="en-US" sz="1575" dirty="0">
                <a:solidFill>
                  <a:srgbClr val="8C8C86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&lt;1%</a:t>
            </a:r>
            <a:endParaRPr lang="en-US" sz="1575" dirty="0"/>
          </a:p>
        </p:txBody>
      </p:sp>
      <p:sp>
        <p:nvSpPr>
          <p:cNvPr id="36" name="Text 34"/>
          <p:cNvSpPr/>
          <p:nvPr/>
        </p:nvSpPr>
        <p:spPr>
          <a:xfrm>
            <a:off x="914400" y="6243638"/>
            <a:ext cx="7241917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4A4A47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Dividend </a:t>
            </a:r>
            <a:pPr algn="l" indent="0" marL="0">
              <a:buNone/>
            </a:pPr>
            <a:r>
              <a:rPr lang="en-US" sz="1350" b="1" dirty="0">
                <a:solidFill>
                  <a:srgbClr val="1C1C1A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$4.28</a:t>
            </a:r>
            <a:pPr algn="l" indent="0" marL="0">
              <a:buNone/>
            </a:pPr>
            <a:r>
              <a:rPr lang="en-US" sz="1350" dirty="0">
                <a:solidFill>
                  <a:srgbClr val="4A4A47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/share · yield </a:t>
            </a:r>
            <a:pPr algn="l" indent="0" marL="0">
              <a:buNone/>
            </a:pPr>
            <a:r>
              <a:rPr lang="en-US" sz="1350" b="1" dirty="0">
                <a:solidFill>
                  <a:srgbClr val="1C1C1A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2.95%</a:t>
            </a:r>
            <a:endParaRPr lang="en-US" sz="1350" dirty="0"/>
          </a:p>
        </p:txBody>
      </p:sp>
      <p:sp>
        <p:nvSpPr>
          <p:cNvPr id="37" name="Shape 35"/>
          <p:cNvSpPr/>
          <p:nvPr/>
        </p:nvSpPr>
        <p:spPr>
          <a:xfrm>
            <a:off x="8107561" y="3533775"/>
            <a:ext cx="9266039" cy="9525"/>
          </a:xfrm>
          <a:prstGeom prst="rect">
            <a:avLst/>
          </a:prstGeom>
          <a:solidFill>
            <a:srgbClr val="E3E3DF"/>
          </a:solidFill>
          <a:ln/>
        </p:spPr>
      </p:sp>
      <p:sp>
        <p:nvSpPr>
          <p:cNvPr id="38" name="Text 36"/>
          <p:cNvSpPr/>
          <p:nvPr/>
        </p:nvSpPr>
        <p:spPr>
          <a:xfrm>
            <a:off x="8107561" y="3209925"/>
            <a:ext cx="9544020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75" b="1" spc="150" kern="0" dirty="0">
                <a:solidFill>
                  <a:srgbClr val="2B3A52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THREE BUSINESS SEGMENTS</a:t>
            </a:r>
            <a:endParaRPr lang="en-US" sz="1275" dirty="0"/>
          </a:p>
        </p:txBody>
      </p:sp>
      <p:sp>
        <p:nvSpPr>
          <p:cNvPr id="39" name="Shape 37"/>
          <p:cNvSpPr/>
          <p:nvPr/>
        </p:nvSpPr>
        <p:spPr>
          <a:xfrm>
            <a:off x="8107561" y="4381500"/>
            <a:ext cx="9266039" cy="9525"/>
          </a:xfrm>
          <a:prstGeom prst="rect">
            <a:avLst/>
          </a:prstGeom>
          <a:solidFill>
            <a:srgbClr val="E3E3DF"/>
          </a:solidFill>
          <a:ln/>
        </p:spPr>
      </p:sp>
      <p:sp>
        <p:nvSpPr>
          <p:cNvPr id="40" name="Text 38"/>
          <p:cNvSpPr/>
          <p:nvPr/>
        </p:nvSpPr>
        <p:spPr>
          <a:xfrm>
            <a:off x="8107561" y="3714750"/>
            <a:ext cx="2266950" cy="533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1C1C1A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Real estate portfolio</a:t>
            </a:r>
            <a:endParaRPr lang="en-US" sz="1650" dirty="0"/>
          </a:p>
        </p:txBody>
      </p:sp>
      <p:sp>
        <p:nvSpPr>
          <p:cNvPr id="41" name="Text 39"/>
          <p:cNvSpPr/>
          <p:nvPr/>
        </p:nvSpPr>
        <p:spPr>
          <a:xfrm>
            <a:off x="10526911" y="3714750"/>
            <a:ext cx="7052090" cy="533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425" dirty="0">
                <a:solidFill>
                  <a:srgbClr val="4A4A47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~777M sf at 95.3% occupancy. FY2025 property NOI </a:t>
            </a:r>
            <a:pPr algn="l" indent="0" marL="0">
              <a:lnSpc>
                <a:spcPct val="140000"/>
              </a:lnSpc>
              <a:buNone/>
            </a:pPr>
            <a:r>
              <a:rPr lang="en-US" sz="1425" b="1" dirty="0">
                <a:solidFill>
                  <a:srgbClr val="1C1C1A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$6,195M </a:t>
            </a:r>
            <a:pPr algn="l" indent="0" marL="0">
              <a:lnSpc>
                <a:spcPct val="140000"/>
              </a:lnSpc>
              <a:buNone/>
            </a:pPr>
            <a:r>
              <a:rPr lang="en-US" sz="1425" dirty="0">
                <a:solidFill>
                  <a:srgbClr val="4A4A47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; same-store NOI growth ~5%, with +43.8% net-effective rent change on FY2025 rollover.</a:t>
            </a:r>
            <a:endParaRPr lang="en-US" sz="1425" dirty="0"/>
          </a:p>
        </p:txBody>
      </p:sp>
      <p:sp>
        <p:nvSpPr>
          <p:cNvPr id="42" name="Shape 40"/>
          <p:cNvSpPr/>
          <p:nvPr/>
        </p:nvSpPr>
        <p:spPr>
          <a:xfrm>
            <a:off x="8107561" y="5229225"/>
            <a:ext cx="9266039" cy="9525"/>
          </a:xfrm>
          <a:prstGeom prst="rect">
            <a:avLst/>
          </a:prstGeom>
          <a:solidFill>
            <a:srgbClr val="E3E3DF"/>
          </a:solidFill>
          <a:ln/>
        </p:spPr>
      </p:sp>
      <p:sp>
        <p:nvSpPr>
          <p:cNvPr id="43" name="Text 41"/>
          <p:cNvSpPr/>
          <p:nvPr/>
        </p:nvSpPr>
        <p:spPr>
          <a:xfrm>
            <a:off x="8107561" y="4562475"/>
            <a:ext cx="2266950" cy="533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1C1C1A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Development platform</a:t>
            </a:r>
            <a:endParaRPr lang="en-US" sz="1650" dirty="0"/>
          </a:p>
        </p:txBody>
      </p:sp>
      <p:sp>
        <p:nvSpPr>
          <p:cNvPr id="44" name="Text 42"/>
          <p:cNvSpPr/>
          <p:nvPr/>
        </p:nvSpPr>
        <p:spPr>
          <a:xfrm>
            <a:off x="10526911" y="4562475"/>
            <a:ext cx="7052090" cy="533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425" dirty="0">
                <a:solidFill>
                  <a:srgbClr val="4A4A47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Construction-in-progress </a:t>
            </a:r>
            <a:pPr algn="l" indent="0" marL="0">
              <a:lnSpc>
                <a:spcPct val="140000"/>
              </a:lnSpc>
              <a:buNone/>
            </a:pPr>
            <a:r>
              <a:rPr lang="en-US" sz="1425" b="1" dirty="0">
                <a:solidFill>
                  <a:srgbClr val="1C1C1A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$5.49B </a:t>
            </a:r>
            <a:pPr algn="l" indent="0" marL="0">
              <a:lnSpc>
                <a:spcPct val="140000"/>
              </a:lnSpc>
              <a:buNone/>
            </a:pPr>
            <a:r>
              <a:rPr lang="en-US" sz="1425" dirty="0">
                <a:solidFill>
                  <a:srgbClr val="4A4A47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(47.5% pre-leased); land bank </a:t>
            </a:r>
            <a:pPr algn="l" indent="0" marL="0">
              <a:lnSpc>
                <a:spcPct val="140000"/>
              </a:lnSpc>
              <a:buNone/>
            </a:pPr>
            <a:r>
              <a:rPr lang="en-US" sz="1425" b="1" dirty="0">
                <a:solidFill>
                  <a:srgbClr val="1C1C1A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$4.80B </a:t>
            </a:r>
            <a:pPr algn="l" indent="0" marL="0">
              <a:lnSpc>
                <a:spcPct val="140000"/>
              </a:lnSpc>
              <a:buNone/>
            </a:pPr>
            <a:r>
              <a:rPr lang="en-US" sz="1425" dirty="0">
                <a:solidFill>
                  <a:srgbClr val="4A4A47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with ~$38B of buildout capacity, spanning logistics and data centers.</a:t>
            </a:r>
            <a:endParaRPr lang="en-US" sz="1425" dirty="0"/>
          </a:p>
        </p:txBody>
      </p:sp>
      <p:sp>
        <p:nvSpPr>
          <p:cNvPr id="45" name="Text 43"/>
          <p:cNvSpPr/>
          <p:nvPr/>
        </p:nvSpPr>
        <p:spPr>
          <a:xfrm>
            <a:off x="8107561" y="5410200"/>
            <a:ext cx="2266950" cy="533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1C1C1A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Strategic capital</a:t>
            </a:r>
            <a:endParaRPr lang="en-US" sz="1650" dirty="0"/>
          </a:p>
        </p:txBody>
      </p:sp>
      <p:sp>
        <p:nvSpPr>
          <p:cNvPr id="46" name="Text 44"/>
          <p:cNvSpPr/>
          <p:nvPr/>
        </p:nvSpPr>
        <p:spPr>
          <a:xfrm>
            <a:off x="10526911" y="5410200"/>
            <a:ext cx="7052090" cy="533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425" dirty="0">
                <a:solidFill>
                  <a:srgbClr val="4A4A47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Third-party AUM </a:t>
            </a:r>
            <a:pPr algn="l" indent="0" marL="0">
              <a:lnSpc>
                <a:spcPct val="140000"/>
              </a:lnSpc>
              <a:buNone/>
            </a:pPr>
            <a:r>
              <a:rPr lang="en-US" sz="1425" b="1" dirty="0">
                <a:solidFill>
                  <a:srgbClr val="1C1C1A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$69B </a:t>
            </a:r>
            <a:pPr algn="l" indent="0" marL="0">
              <a:lnSpc>
                <a:spcPct val="140000"/>
              </a:lnSpc>
              <a:buNone/>
            </a:pPr>
            <a:r>
              <a:rPr lang="en-US" sz="1425" dirty="0">
                <a:solidFill>
                  <a:srgbClr val="4A4A47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of $235B gross. FY2025 fees </a:t>
            </a:r>
            <a:pPr algn="l" indent="0" marL="0">
              <a:lnSpc>
                <a:spcPct val="140000"/>
              </a:lnSpc>
              <a:buNone/>
            </a:pPr>
            <a:r>
              <a:rPr lang="en-US" sz="1425" b="1" dirty="0">
                <a:solidFill>
                  <a:srgbClr val="1C1C1A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$407M </a:t>
            </a:r>
            <a:pPr algn="l" indent="0" marL="0">
              <a:lnSpc>
                <a:spcPct val="140000"/>
              </a:lnSpc>
              <a:buNone/>
            </a:pPr>
            <a:r>
              <a:rPr lang="en-US" sz="1425" dirty="0">
                <a:solidFill>
                  <a:srgbClr val="4A4A47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; fee-related earnings ~$188M, a sticky, real-asset-backed franchise.</a:t>
            </a:r>
            <a:endParaRPr lang="en-US" sz="1425" dirty="0"/>
          </a:p>
        </p:txBody>
      </p:sp>
      <p:sp>
        <p:nvSpPr>
          <p:cNvPr id="47" name="Shape 45"/>
          <p:cNvSpPr/>
          <p:nvPr/>
        </p:nvSpPr>
        <p:spPr>
          <a:xfrm>
            <a:off x="914400" y="9505950"/>
            <a:ext cx="16459200" cy="9525"/>
          </a:xfrm>
          <a:prstGeom prst="rect">
            <a:avLst/>
          </a:prstGeom>
          <a:solidFill>
            <a:srgbClr val="E3E3DF"/>
          </a:solidFill>
          <a:ln/>
        </p:spPr>
      </p:sp>
      <p:sp>
        <p:nvSpPr>
          <p:cNvPr id="48" name="Text 46"/>
          <p:cNvSpPr/>
          <p:nvPr/>
        </p:nvSpPr>
        <p:spPr>
          <a:xfrm>
            <a:off x="914400" y="9648825"/>
            <a:ext cx="8444374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A0A09A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Source: PLD Form 10-K FY2025, Supplemental Q1 2026; model Historicals, Development, Strategic Capital tabs. $ in millions.</a:t>
            </a:r>
            <a:endParaRPr lang="en-US" sz="1050" dirty="0"/>
          </a:p>
        </p:txBody>
      </p:sp>
      <p:sp>
        <p:nvSpPr>
          <p:cNvPr id="49" name="Text 47"/>
          <p:cNvSpPr/>
          <p:nvPr/>
        </p:nvSpPr>
        <p:spPr>
          <a:xfrm>
            <a:off x="17194411" y="9648825"/>
            <a:ext cx="255389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4A4A47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03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904875"/>
            <a:ext cx="16459200" cy="14288"/>
          </a:xfrm>
          <a:prstGeom prst="rect">
            <a:avLst/>
          </a:prstGeom>
          <a:solidFill>
            <a:srgbClr val="1C1C1A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590550"/>
            <a:ext cx="2935992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rgbClr val="8C8C86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PROLOGIS, INC. · NYSE: PLD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4345841" y="590550"/>
            <a:ext cx="3330535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rgbClr val="8C8C86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EQUITY RESEARCH — INITIATION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914400" y="1443038"/>
            <a:ext cx="336947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spc="188" kern="0" dirty="0">
                <a:solidFill>
                  <a:srgbClr val="2B3A52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04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346597" y="1147763"/>
            <a:ext cx="5144780" cy="514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750" dirty="0">
                <a:solidFill>
                  <a:srgbClr val="1C1C1A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Historical Performance</a:t>
            </a:r>
            <a:endParaRPr lang="en-US" sz="3750" dirty="0"/>
          </a:p>
        </p:txBody>
      </p:sp>
      <p:sp>
        <p:nvSpPr>
          <p:cNvPr id="7" name="Text 5"/>
          <p:cNvSpPr/>
          <p:nvPr/>
        </p:nvSpPr>
        <p:spPr>
          <a:xfrm>
            <a:off x="914400" y="1909762"/>
            <a:ext cx="2930917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75" b="1" spc="150" kern="0" dirty="0">
                <a:solidFill>
                  <a:srgbClr val="2B3A52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REVENUE &amp; PROPERTY NOI</a:t>
            </a:r>
            <a:endParaRPr lang="en-US" sz="1275" dirty="0"/>
          </a:p>
        </p:txBody>
      </p:sp>
      <p:sp>
        <p:nvSpPr>
          <p:cNvPr id="8" name="Shape 6"/>
          <p:cNvSpPr/>
          <p:nvPr/>
        </p:nvSpPr>
        <p:spPr>
          <a:xfrm>
            <a:off x="8256389" y="1943100"/>
            <a:ext cx="123825" cy="123825"/>
          </a:xfrm>
          <a:prstGeom prst="rect">
            <a:avLst/>
          </a:prstGeom>
          <a:solidFill>
            <a:srgbClr val="2B3A52"/>
          </a:solidFill>
          <a:ln/>
        </p:spPr>
      </p:sp>
      <p:sp>
        <p:nvSpPr>
          <p:cNvPr id="9" name="Text 7"/>
          <p:cNvSpPr/>
          <p:nvPr/>
        </p:nvSpPr>
        <p:spPr>
          <a:xfrm>
            <a:off x="8456414" y="1919288"/>
            <a:ext cx="1073212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25" dirty="0">
                <a:solidFill>
                  <a:srgbClr val="8C8C86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Rental revenue</a:t>
            </a:r>
            <a:endParaRPr lang="en-US" sz="1125" dirty="0"/>
          </a:p>
        </p:txBody>
      </p:sp>
      <p:sp>
        <p:nvSpPr>
          <p:cNvPr id="10" name="Shape 8"/>
          <p:cNvSpPr/>
          <p:nvPr/>
        </p:nvSpPr>
        <p:spPr>
          <a:xfrm>
            <a:off x="9682163" y="1943100"/>
            <a:ext cx="123825" cy="123825"/>
          </a:xfrm>
          <a:prstGeom prst="rect">
            <a:avLst/>
          </a:prstGeom>
          <a:solidFill>
            <a:srgbClr val="9DAAC0"/>
          </a:solidFill>
          <a:ln/>
        </p:spPr>
      </p:sp>
      <p:sp>
        <p:nvSpPr>
          <p:cNvPr id="11" name="Text 9"/>
          <p:cNvSpPr/>
          <p:nvPr/>
        </p:nvSpPr>
        <p:spPr>
          <a:xfrm>
            <a:off x="9882188" y="1919288"/>
            <a:ext cx="956473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25" dirty="0">
                <a:solidFill>
                  <a:srgbClr val="8C8C86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Property NOI</a:t>
            </a:r>
            <a:endParaRPr lang="en-US" sz="1125" dirty="0"/>
          </a:p>
        </p:txBody>
      </p:sp>
      <p:sp>
        <p:nvSpPr>
          <p:cNvPr id="12" name="Text 10"/>
          <p:cNvSpPr/>
          <p:nvPr/>
        </p:nvSpPr>
        <p:spPr>
          <a:xfrm>
            <a:off x="914400" y="2138363"/>
            <a:ext cx="10832916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dirty="0">
                <a:solidFill>
                  <a:srgbClr val="8C8C86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$ in millions</a:t>
            </a:r>
            <a:endParaRPr lang="en-US" sz="1125" dirty="0"/>
          </a:p>
        </p:txBody>
      </p:sp>
      <p:sp>
        <p:nvSpPr>
          <p:cNvPr id="13" name="Shape 11"/>
          <p:cNvSpPr/>
          <p:nvPr/>
        </p:nvSpPr>
        <p:spPr>
          <a:xfrm>
            <a:off x="914400" y="9163050"/>
            <a:ext cx="9848106" cy="9525"/>
          </a:xfrm>
          <a:prstGeom prst="rect">
            <a:avLst/>
          </a:prstGeom>
          <a:solidFill>
            <a:srgbClr val="CFCFC9"/>
          </a:solidFill>
          <a:ln/>
        </p:spPr>
      </p:sp>
      <p:sp>
        <p:nvSpPr>
          <p:cNvPr id="14" name="Text 12"/>
          <p:cNvSpPr/>
          <p:nvPr/>
        </p:nvSpPr>
        <p:spPr>
          <a:xfrm>
            <a:off x="1871663" y="6457950"/>
            <a:ext cx="523577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75" b="1" dirty="0">
                <a:solidFill>
                  <a:srgbClr val="1C1C1A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6,819</a:t>
            </a:r>
            <a:endParaRPr lang="en-US" sz="1275" dirty="0"/>
          </a:p>
        </p:txBody>
      </p:sp>
      <p:sp>
        <p:nvSpPr>
          <p:cNvPr id="15" name="Shape 13"/>
          <p:cNvSpPr/>
          <p:nvPr/>
        </p:nvSpPr>
        <p:spPr>
          <a:xfrm>
            <a:off x="1761976" y="6715125"/>
            <a:ext cx="666750" cy="2447925"/>
          </a:xfrm>
          <a:prstGeom prst="rect">
            <a:avLst/>
          </a:prstGeom>
          <a:solidFill>
            <a:srgbClr val="2B3A52"/>
          </a:solidFill>
          <a:ln/>
        </p:spPr>
      </p:sp>
      <p:sp>
        <p:nvSpPr>
          <p:cNvPr id="16" name="Text 14"/>
          <p:cNvSpPr/>
          <p:nvPr/>
        </p:nvSpPr>
        <p:spPr>
          <a:xfrm>
            <a:off x="2691705" y="7038975"/>
            <a:ext cx="521791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75" b="1" dirty="0">
                <a:solidFill>
                  <a:srgbClr val="5A6B85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5,194</a:t>
            </a:r>
            <a:endParaRPr lang="en-US" sz="1275" dirty="0"/>
          </a:p>
        </p:txBody>
      </p:sp>
      <p:sp>
        <p:nvSpPr>
          <p:cNvPr id="17" name="Shape 15"/>
          <p:cNvSpPr/>
          <p:nvPr/>
        </p:nvSpPr>
        <p:spPr>
          <a:xfrm>
            <a:off x="2581126" y="7296150"/>
            <a:ext cx="666750" cy="1866900"/>
          </a:xfrm>
          <a:prstGeom prst="rect">
            <a:avLst/>
          </a:prstGeom>
          <a:solidFill>
            <a:srgbClr val="9DAAC0"/>
          </a:solidFill>
          <a:ln/>
        </p:spPr>
      </p:sp>
      <p:sp>
        <p:nvSpPr>
          <p:cNvPr id="18" name="Text 16"/>
          <p:cNvSpPr/>
          <p:nvPr/>
        </p:nvSpPr>
        <p:spPr>
          <a:xfrm>
            <a:off x="5211663" y="6210300"/>
            <a:ext cx="510480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75" b="1" dirty="0">
                <a:solidFill>
                  <a:srgbClr val="1C1C1A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7,515</a:t>
            </a:r>
            <a:endParaRPr lang="en-US" sz="1275" dirty="0"/>
          </a:p>
        </p:txBody>
      </p:sp>
      <p:sp>
        <p:nvSpPr>
          <p:cNvPr id="19" name="Shape 17"/>
          <p:cNvSpPr/>
          <p:nvPr/>
        </p:nvSpPr>
        <p:spPr>
          <a:xfrm>
            <a:off x="5095429" y="6467475"/>
            <a:ext cx="666750" cy="2695575"/>
          </a:xfrm>
          <a:prstGeom prst="rect">
            <a:avLst/>
          </a:prstGeom>
          <a:solidFill>
            <a:srgbClr val="2B3A52"/>
          </a:solidFill>
          <a:ln/>
        </p:spPr>
      </p:sp>
      <p:sp>
        <p:nvSpPr>
          <p:cNvPr id="20" name="Text 18"/>
          <p:cNvSpPr/>
          <p:nvPr/>
        </p:nvSpPr>
        <p:spPr>
          <a:xfrm>
            <a:off x="6015484" y="6838950"/>
            <a:ext cx="540990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75" b="1" dirty="0">
                <a:solidFill>
                  <a:srgbClr val="5A6B85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5,749</a:t>
            </a:r>
            <a:endParaRPr lang="en-US" sz="1275" dirty="0"/>
          </a:p>
        </p:txBody>
      </p:sp>
      <p:sp>
        <p:nvSpPr>
          <p:cNvPr id="21" name="Shape 19"/>
          <p:cNvSpPr/>
          <p:nvPr/>
        </p:nvSpPr>
        <p:spPr>
          <a:xfrm>
            <a:off x="5914579" y="7096125"/>
            <a:ext cx="666750" cy="2066925"/>
          </a:xfrm>
          <a:prstGeom prst="rect">
            <a:avLst/>
          </a:prstGeom>
          <a:solidFill>
            <a:srgbClr val="9DAAC0"/>
          </a:solidFill>
          <a:ln/>
        </p:spPr>
      </p:sp>
      <p:sp>
        <p:nvSpPr>
          <p:cNvPr id="22" name="Text 20"/>
          <p:cNvSpPr/>
          <p:nvPr/>
        </p:nvSpPr>
        <p:spPr>
          <a:xfrm>
            <a:off x="8539163" y="5972175"/>
            <a:ext cx="522238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75" b="1" dirty="0">
                <a:solidFill>
                  <a:srgbClr val="1C1C1A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8,159</a:t>
            </a:r>
            <a:endParaRPr lang="en-US" sz="1275" dirty="0"/>
          </a:p>
        </p:txBody>
      </p:sp>
      <p:sp>
        <p:nvSpPr>
          <p:cNvPr id="23" name="Shape 21"/>
          <p:cNvSpPr/>
          <p:nvPr/>
        </p:nvSpPr>
        <p:spPr>
          <a:xfrm>
            <a:off x="8428881" y="6229350"/>
            <a:ext cx="666750" cy="2933700"/>
          </a:xfrm>
          <a:prstGeom prst="rect">
            <a:avLst/>
          </a:prstGeom>
          <a:solidFill>
            <a:srgbClr val="2B3A52"/>
          </a:solidFill>
          <a:ln/>
        </p:spPr>
      </p:sp>
      <p:sp>
        <p:nvSpPr>
          <p:cNvPr id="24" name="Text 22"/>
          <p:cNvSpPr/>
          <p:nvPr/>
        </p:nvSpPr>
        <p:spPr>
          <a:xfrm>
            <a:off x="9358461" y="6677025"/>
            <a:ext cx="521940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75" b="1" dirty="0">
                <a:solidFill>
                  <a:srgbClr val="5A6B85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6,195</a:t>
            </a:r>
            <a:endParaRPr lang="en-US" sz="1275" dirty="0"/>
          </a:p>
        </p:txBody>
      </p:sp>
      <p:sp>
        <p:nvSpPr>
          <p:cNvPr id="25" name="Shape 23"/>
          <p:cNvSpPr/>
          <p:nvPr/>
        </p:nvSpPr>
        <p:spPr>
          <a:xfrm>
            <a:off x="9248031" y="6934200"/>
            <a:ext cx="666750" cy="2228850"/>
          </a:xfrm>
          <a:prstGeom prst="rect">
            <a:avLst/>
          </a:prstGeom>
          <a:solidFill>
            <a:srgbClr val="9DAAC0"/>
          </a:solidFill>
          <a:ln/>
        </p:spPr>
      </p:sp>
      <p:sp>
        <p:nvSpPr>
          <p:cNvPr id="26" name="Text 24"/>
          <p:cNvSpPr/>
          <p:nvPr/>
        </p:nvSpPr>
        <p:spPr>
          <a:xfrm>
            <a:off x="922987" y="9286875"/>
            <a:ext cx="3163878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425" b="1" dirty="0">
                <a:solidFill>
                  <a:srgbClr val="4A4A47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FY2023</a:t>
            </a:r>
            <a:endParaRPr lang="en-US" sz="1425" dirty="0"/>
          </a:p>
        </p:txBody>
      </p:sp>
      <p:sp>
        <p:nvSpPr>
          <p:cNvPr id="27" name="Text 25"/>
          <p:cNvSpPr/>
          <p:nvPr/>
        </p:nvSpPr>
        <p:spPr>
          <a:xfrm>
            <a:off x="4256440" y="9286875"/>
            <a:ext cx="3163878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425" b="1" dirty="0">
                <a:solidFill>
                  <a:srgbClr val="4A4A47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FY2024</a:t>
            </a:r>
            <a:endParaRPr lang="en-US" sz="1425" dirty="0"/>
          </a:p>
        </p:txBody>
      </p:sp>
      <p:sp>
        <p:nvSpPr>
          <p:cNvPr id="28" name="Text 26"/>
          <p:cNvSpPr/>
          <p:nvPr/>
        </p:nvSpPr>
        <p:spPr>
          <a:xfrm>
            <a:off x="7589892" y="9286875"/>
            <a:ext cx="3163878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425" b="1" dirty="0">
                <a:solidFill>
                  <a:srgbClr val="4A4A47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FY2025</a:t>
            </a:r>
            <a:endParaRPr lang="en-US" sz="1425" dirty="0"/>
          </a:p>
        </p:txBody>
      </p:sp>
      <p:sp>
        <p:nvSpPr>
          <p:cNvPr id="29" name="Shape 27"/>
          <p:cNvSpPr/>
          <p:nvPr/>
        </p:nvSpPr>
        <p:spPr>
          <a:xfrm>
            <a:off x="11448306" y="2176463"/>
            <a:ext cx="5925294" cy="14288"/>
          </a:xfrm>
          <a:prstGeom prst="rect">
            <a:avLst/>
          </a:prstGeom>
          <a:solidFill>
            <a:srgbClr val="1C1C1A"/>
          </a:solidFill>
          <a:ln/>
        </p:spPr>
      </p:sp>
      <p:sp>
        <p:nvSpPr>
          <p:cNvPr id="30" name="Text 28"/>
          <p:cNvSpPr/>
          <p:nvPr/>
        </p:nvSpPr>
        <p:spPr>
          <a:xfrm>
            <a:off x="11448306" y="1909762"/>
            <a:ext cx="6103053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75" b="1" spc="150" kern="0" dirty="0">
                <a:solidFill>
                  <a:srgbClr val="2B3A52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FY2025 METRICS</a:t>
            </a:r>
            <a:endParaRPr lang="en-US" sz="1275" dirty="0"/>
          </a:p>
        </p:txBody>
      </p:sp>
      <p:sp>
        <p:nvSpPr>
          <p:cNvPr id="31" name="Shape 29"/>
          <p:cNvSpPr/>
          <p:nvPr/>
        </p:nvSpPr>
        <p:spPr>
          <a:xfrm>
            <a:off x="11448306" y="2800350"/>
            <a:ext cx="5925294" cy="9525"/>
          </a:xfrm>
          <a:prstGeom prst="rect">
            <a:avLst/>
          </a:prstGeom>
          <a:solidFill>
            <a:srgbClr val="E3E3DF"/>
          </a:solidFill>
          <a:ln/>
        </p:spPr>
      </p:sp>
      <p:sp>
        <p:nvSpPr>
          <p:cNvPr id="32" name="Text 30"/>
          <p:cNvSpPr/>
          <p:nvPr/>
        </p:nvSpPr>
        <p:spPr>
          <a:xfrm>
            <a:off x="11448306" y="2381250"/>
            <a:ext cx="1628760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4A4A47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Core FFO / share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16660267" y="2352675"/>
            <a:ext cx="789533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dirty="0">
                <a:solidFill>
                  <a:srgbClr val="1C1C1A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$5.81</a:t>
            </a:r>
            <a:endParaRPr lang="en-US" sz="2250" dirty="0"/>
          </a:p>
        </p:txBody>
      </p:sp>
      <p:sp>
        <p:nvSpPr>
          <p:cNvPr id="34" name="Shape 32"/>
          <p:cNvSpPr/>
          <p:nvPr/>
        </p:nvSpPr>
        <p:spPr>
          <a:xfrm>
            <a:off x="11448306" y="3419475"/>
            <a:ext cx="5925294" cy="9525"/>
          </a:xfrm>
          <a:prstGeom prst="rect">
            <a:avLst/>
          </a:prstGeom>
          <a:solidFill>
            <a:srgbClr val="E3E3DF"/>
          </a:solidFill>
          <a:ln/>
        </p:spPr>
      </p:sp>
      <p:sp>
        <p:nvSpPr>
          <p:cNvPr id="35" name="Text 33"/>
          <p:cNvSpPr/>
          <p:nvPr/>
        </p:nvSpPr>
        <p:spPr>
          <a:xfrm>
            <a:off x="11448306" y="3000375"/>
            <a:ext cx="1224707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4A4A47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AFFO / share</a:t>
            </a:r>
            <a:endParaRPr lang="en-US" sz="1500" dirty="0"/>
          </a:p>
        </p:txBody>
      </p:sp>
      <p:sp>
        <p:nvSpPr>
          <p:cNvPr id="36" name="Text 34"/>
          <p:cNvSpPr/>
          <p:nvPr/>
        </p:nvSpPr>
        <p:spPr>
          <a:xfrm>
            <a:off x="16660267" y="2971800"/>
            <a:ext cx="789533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dirty="0">
                <a:solidFill>
                  <a:srgbClr val="1C1C1A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$4.53</a:t>
            </a:r>
            <a:endParaRPr lang="en-US" sz="2250" dirty="0"/>
          </a:p>
        </p:txBody>
      </p:sp>
      <p:sp>
        <p:nvSpPr>
          <p:cNvPr id="37" name="Shape 35"/>
          <p:cNvSpPr/>
          <p:nvPr/>
        </p:nvSpPr>
        <p:spPr>
          <a:xfrm>
            <a:off x="11448306" y="4038600"/>
            <a:ext cx="5925294" cy="9525"/>
          </a:xfrm>
          <a:prstGeom prst="rect">
            <a:avLst/>
          </a:prstGeom>
          <a:solidFill>
            <a:srgbClr val="E3E3DF"/>
          </a:solidFill>
          <a:ln/>
        </p:spPr>
      </p:sp>
      <p:sp>
        <p:nvSpPr>
          <p:cNvPr id="38" name="Text 36"/>
          <p:cNvSpPr/>
          <p:nvPr/>
        </p:nvSpPr>
        <p:spPr>
          <a:xfrm>
            <a:off x="11448306" y="3619500"/>
            <a:ext cx="2935337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4A4A47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Same-store NOI growth (cash)</a:t>
            </a:r>
            <a:endParaRPr lang="en-US" sz="1500" dirty="0"/>
          </a:p>
        </p:txBody>
      </p:sp>
      <p:sp>
        <p:nvSpPr>
          <p:cNvPr id="39" name="Text 37"/>
          <p:cNvSpPr/>
          <p:nvPr/>
        </p:nvSpPr>
        <p:spPr>
          <a:xfrm>
            <a:off x="16614874" y="3590925"/>
            <a:ext cx="834926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dirty="0">
                <a:solidFill>
                  <a:srgbClr val="1C1C1A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+6.3%</a:t>
            </a:r>
            <a:endParaRPr lang="en-US" sz="2250" dirty="0"/>
          </a:p>
        </p:txBody>
      </p:sp>
      <p:sp>
        <p:nvSpPr>
          <p:cNvPr id="40" name="Shape 38"/>
          <p:cNvSpPr/>
          <p:nvPr/>
        </p:nvSpPr>
        <p:spPr>
          <a:xfrm>
            <a:off x="11448306" y="4657725"/>
            <a:ext cx="5925294" cy="9525"/>
          </a:xfrm>
          <a:prstGeom prst="rect">
            <a:avLst/>
          </a:prstGeom>
          <a:solidFill>
            <a:srgbClr val="E3E3DF"/>
          </a:solidFill>
          <a:ln/>
        </p:spPr>
      </p:sp>
      <p:sp>
        <p:nvSpPr>
          <p:cNvPr id="41" name="Text 39"/>
          <p:cNvSpPr/>
          <p:nvPr/>
        </p:nvSpPr>
        <p:spPr>
          <a:xfrm>
            <a:off x="11448306" y="4238625"/>
            <a:ext cx="3592309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4A4A47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Net-effective rent change on rollover</a:t>
            </a:r>
            <a:endParaRPr lang="en-US" sz="1500" dirty="0"/>
          </a:p>
        </p:txBody>
      </p:sp>
      <p:sp>
        <p:nvSpPr>
          <p:cNvPr id="42" name="Text 40"/>
          <p:cNvSpPr/>
          <p:nvPr/>
        </p:nvSpPr>
        <p:spPr>
          <a:xfrm>
            <a:off x="16452949" y="4210050"/>
            <a:ext cx="996851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dirty="0">
                <a:solidFill>
                  <a:srgbClr val="1C1C1A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+43.8%</a:t>
            </a:r>
            <a:endParaRPr lang="en-US" sz="2250" dirty="0"/>
          </a:p>
        </p:txBody>
      </p:sp>
      <p:sp>
        <p:nvSpPr>
          <p:cNvPr id="43" name="Text 41"/>
          <p:cNvSpPr/>
          <p:nvPr/>
        </p:nvSpPr>
        <p:spPr>
          <a:xfrm>
            <a:off x="11448306" y="4857750"/>
            <a:ext cx="3083823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4A4A47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Average occupancy (PLD share)</a:t>
            </a:r>
            <a:endParaRPr lang="en-US" sz="1500" dirty="0"/>
          </a:p>
        </p:txBody>
      </p:sp>
      <p:sp>
        <p:nvSpPr>
          <p:cNvPr id="44" name="Text 42"/>
          <p:cNvSpPr/>
          <p:nvPr/>
        </p:nvSpPr>
        <p:spPr>
          <a:xfrm>
            <a:off x="16599098" y="4829175"/>
            <a:ext cx="850702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dirty="0">
                <a:solidFill>
                  <a:srgbClr val="1C1C1A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95.6%</a:t>
            </a:r>
            <a:endParaRPr lang="en-US" sz="2250" dirty="0"/>
          </a:p>
        </p:txBody>
      </p:sp>
      <p:sp>
        <p:nvSpPr>
          <p:cNvPr id="45" name="Text 43"/>
          <p:cNvSpPr/>
          <p:nvPr/>
        </p:nvSpPr>
        <p:spPr>
          <a:xfrm>
            <a:off x="11448306" y="5429250"/>
            <a:ext cx="6103053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275" dirty="0">
                <a:solidFill>
                  <a:srgbClr val="8C8C86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Occupancy normalized from 97.7% (FY2023) → 95.6% (FY2025) as the market re-stocked; rent change decelerated from +74.1% as peak mark-to-market was harvested.</a:t>
            </a:r>
            <a:endParaRPr lang="en-US" sz="1275" dirty="0"/>
          </a:p>
        </p:txBody>
      </p:sp>
      <p:sp>
        <p:nvSpPr>
          <p:cNvPr id="46" name="Shape 44"/>
          <p:cNvSpPr/>
          <p:nvPr/>
        </p:nvSpPr>
        <p:spPr>
          <a:xfrm>
            <a:off x="914400" y="9505950"/>
            <a:ext cx="16459200" cy="9525"/>
          </a:xfrm>
          <a:prstGeom prst="rect">
            <a:avLst/>
          </a:prstGeom>
          <a:solidFill>
            <a:srgbClr val="E3E3DF"/>
          </a:solidFill>
          <a:ln/>
        </p:spPr>
      </p:sp>
      <p:sp>
        <p:nvSpPr>
          <p:cNvPr id="47" name="Text 45"/>
          <p:cNvSpPr/>
          <p:nvPr/>
        </p:nvSpPr>
        <p:spPr>
          <a:xfrm>
            <a:off x="914400" y="9648825"/>
            <a:ext cx="8940091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A0A09A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Source: model Historicals, Drivers &amp; Model tabs (FY2023–FY2025 actuals). $ in millions; per-share on units-inclusive Core FFO basis.</a:t>
            </a:r>
            <a:endParaRPr lang="en-US" sz="1050" dirty="0"/>
          </a:p>
        </p:txBody>
      </p:sp>
      <p:sp>
        <p:nvSpPr>
          <p:cNvPr id="48" name="Text 46"/>
          <p:cNvSpPr/>
          <p:nvPr/>
        </p:nvSpPr>
        <p:spPr>
          <a:xfrm>
            <a:off x="17192774" y="9648825"/>
            <a:ext cx="257026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4A4A47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04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904875"/>
            <a:ext cx="16459200" cy="14288"/>
          </a:xfrm>
          <a:prstGeom prst="rect">
            <a:avLst/>
          </a:prstGeom>
          <a:solidFill>
            <a:srgbClr val="1C1C1A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590550"/>
            <a:ext cx="2935992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rgbClr val="8C8C86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PROLOGIS, INC. · NYSE: PLD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4345841" y="590550"/>
            <a:ext cx="3330535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rgbClr val="8C8C86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EQUITY RESEARCH — INITIATION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914400" y="1443038"/>
            <a:ext cx="334863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spc="188" kern="0" dirty="0">
                <a:solidFill>
                  <a:srgbClr val="2B3A52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05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344513" y="1147763"/>
            <a:ext cx="6867838" cy="514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750" dirty="0">
                <a:solidFill>
                  <a:srgbClr val="1C1C1A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Five-Year Forecast — Base Case</a:t>
            </a:r>
            <a:endParaRPr lang="en-US" sz="3750" dirty="0"/>
          </a:p>
        </p:txBody>
      </p:sp>
      <p:sp>
        <p:nvSpPr>
          <p:cNvPr id="7" name="Text 5"/>
          <p:cNvSpPr/>
          <p:nvPr/>
        </p:nvSpPr>
        <p:spPr>
          <a:xfrm>
            <a:off x="914400" y="1890713"/>
            <a:ext cx="2423086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75" b="1" spc="150" kern="0" dirty="0">
                <a:solidFill>
                  <a:srgbClr val="2B3A52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EARNINGS PER SHARE</a:t>
            </a:r>
            <a:endParaRPr lang="en-US" sz="1275" dirty="0"/>
          </a:p>
        </p:txBody>
      </p:sp>
      <p:sp>
        <p:nvSpPr>
          <p:cNvPr id="8" name="Shape 6"/>
          <p:cNvSpPr/>
          <p:nvPr/>
        </p:nvSpPr>
        <p:spPr>
          <a:xfrm>
            <a:off x="6125617" y="1924050"/>
            <a:ext cx="123825" cy="123825"/>
          </a:xfrm>
          <a:prstGeom prst="rect">
            <a:avLst/>
          </a:prstGeom>
          <a:solidFill>
            <a:srgbClr val="2B3A52"/>
          </a:solidFill>
          <a:ln/>
        </p:spPr>
      </p:sp>
      <p:sp>
        <p:nvSpPr>
          <p:cNvPr id="9" name="Text 7"/>
          <p:cNvSpPr/>
          <p:nvPr/>
        </p:nvSpPr>
        <p:spPr>
          <a:xfrm>
            <a:off x="6325642" y="1900238"/>
            <a:ext cx="911241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25" dirty="0">
                <a:solidFill>
                  <a:srgbClr val="8C8C86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Core FFO/sh</a:t>
            </a:r>
            <a:endParaRPr lang="en-US" sz="1125" dirty="0"/>
          </a:p>
        </p:txBody>
      </p:sp>
      <p:sp>
        <p:nvSpPr>
          <p:cNvPr id="10" name="Shape 8"/>
          <p:cNvSpPr/>
          <p:nvPr/>
        </p:nvSpPr>
        <p:spPr>
          <a:xfrm>
            <a:off x="7370266" y="1924050"/>
            <a:ext cx="123825" cy="123825"/>
          </a:xfrm>
          <a:prstGeom prst="rect">
            <a:avLst/>
          </a:prstGeom>
          <a:solidFill>
            <a:srgbClr val="9DAAC0"/>
          </a:solidFill>
          <a:ln/>
        </p:spPr>
      </p:sp>
      <p:sp>
        <p:nvSpPr>
          <p:cNvPr id="11" name="Text 9"/>
          <p:cNvSpPr/>
          <p:nvPr/>
        </p:nvSpPr>
        <p:spPr>
          <a:xfrm>
            <a:off x="7570291" y="1900238"/>
            <a:ext cx="662189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25" dirty="0">
                <a:solidFill>
                  <a:srgbClr val="8C8C86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AFFO/sh</a:t>
            </a:r>
            <a:endParaRPr lang="en-US" sz="1125" dirty="0"/>
          </a:p>
        </p:txBody>
      </p:sp>
      <p:sp>
        <p:nvSpPr>
          <p:cNvPr id="12" name="Shape 10"/>
          <p:cNvSpPr/>
          <p:nvPr/>
        </p:nvSpPr>
        <p:spPr>
          <a:xfrm>
            <a:off x="914400" y="8867775"/>
            <a:ext cx="7241977" cy="9525"/>
          </a:xfrm>
          <a:prstGeom prst="rect">
            <a:avLst/>
          </a:prstGeom>
          <a:solidFill>
            <a:srgbClr val="CFCFC9"/>
          </a:solidFill>
          <a:ln/>
        </p:spPr>
      </p:sp>
      <p:sp>
        <p:nvSpPr>
          <p:cNvPr id="13" name="Text 11"/>
          <p:cNvSpPr/>
          <p:nvPr/>
        </p:nvSpPr>
        <p:spPr>
          <a:xfrm>
            <a:off x="1223516" y="6619875"/>
            <a:ext cx="389930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b="1" dirty="0">
                <a:solidFill>
                  <a:srgbClr val="1C1C1A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5.78</a:t>
            </a:r>
            <a:endParaRPr lang="en-US" sz="1125" dirty="0"/>
          </a:p>
        </p:txBody>
      </p:sp>
      <p:sp>
        <p:nvSpPr>
          <p:cNvPr id="14" name="Shape 12"/>
          <p:cNvSpPr/>
          <p:nvPr/>
        </p:nvSpPr>
        <p:spPr>
          <a:xfrm>
            <a:off x="1218456" y="6848475"/>
            <a:ext cx="323850" cy="2019300"/>
          </a:xfrm>
          <a:prstGeom prst="rect">
            <a:avLst/>
          </a:prstGeom>
          <a:solidFill>
            <a:srgbClr val="2B3A52"/>
          </a:solidFill>
          <a:ln/>
        </p:spPr>
      </p:sp>
      <p:sp>
        <p:nvSpPr>
          <p:cNvPr id="15" name="Text 13"/>
          <p:cNvSpPr/>
          <p:nvPr/>
        </p:nvSpPr>
        <p:spPr>
          <a:xfrm>
            <a:off x="1641723" y="7067550"/>
            <a:ext cx="372666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b="1" dirty="0">
                <a:solidFill>
                  <a:srgbClr val="5A6B85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4.51</a:t>
            </a:r>
            <a:endParaRPr lang="en-US" sz="1125" dirty="0"/>
          </a:p>
        </p:txBody>
      </p:sp>
      <p:sp>
        <p:nvSpPr>
          <p:cNvPr id="16" name="Shape 14"/>
          <p:cNvSpPr/>
          <p:nvPr/>
        </p:nvSpPr>
        <p:spPr>
          <a:xfrm>
            <a:off x="1628031" y="7296150"/>
            <a:ext cx="323850" cy="1571625"/>
          </a:xfrm>
          <a:prstGeom prst="rect">
            <a:avLst/>
          </a:prstGeom>
          <a:solidFill>
            <a:srgbClr val="9DAAC0"/>
          </a:solidFill>
          <a:ln/>
        </p:spPr>
      </p:sp>
      <p:sp>
        <p:nvSpPr>
          <p:cNvPr id="17" name="Text 15"/>
          <p:cNvSpPr/>
          <p:nvPr/>
        </p:nvSpPr>
        <p:spPr>
          <a:xfrm>
            <a:off x="2692450" y="6372225"/>
            <a:ext cx="399752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b="1" dirty="0">
                <a:solidFill>
                  <a:srgbClr val="1C1C1A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6.49</a:t>
            </a:r>
            <a:endParaRPr lang="en-US" sz="1125" dirty="0"/>
          </a:p>
        </p:txBody>
      </p:sp>
      <p:sp>
        <p:nvSpPr>
          <p:cNvPr id="18" name="Shape 16"/>
          <p:cNvSpPr/>
          <p:nvPr/>
        </p:nvSpPr>
        <p:spPr>
          <a:xfrm>
            <a:off x="2692301" y="6600825"/>
            <a:ext cx="323850" cy="2266950"/>
          </a:xfrm>
          <a:prstGeom prst="rect">
            <a:avLst/>
          </a:prstGeom>
          <a:solidFill>
            <a:srgbClr val="2B3A52"/>
          </a:solidFill>
          <a:ln/>
        </p:spPr>
      </p:sp>
      <p:sp>
        <p:nvSpPr>
          <p:cNvPr id="19" name="Text 17"/>
          <p:cNvSpPr/>
          <p:nvPr/>
        </p:nvSpPr>
        <p:spPr>
          <a:xfrm>
            <a:off x="3101876" y="6867525"/>
            <a:ext cx="402580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b="1" dirty="0">
                <a:solidFill>
                  <a:srgbClr val="5A6B85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5.06</a:t>
            </a:r>
            <a:endParaRPr lang="en-US" sz="1125" dirty="0"/>
          </a:p>
        </p:txBody>
      </p:sp>
      <p:sp>
        <p:nvSpPr>
          <p:cNvPr id="20" name="Shape 18"/>
          <p:cNvSpPr/>
          <p:nvPr/>
        </p:nvSpPr>
        <p:spPr>
          <a:xfrm>
            <a:off x="3103066" y="7096125"/>
            <a:ext cx="323850" cy="1771650"/>
          </a:xfrm>
          <a:prstGeom prst="rect">
            <a:avLst/>
          </a:prstGeom>
          <a:solidFill>
            <a:srgbClr val="9DAAC0"/>
          </a:solidFill>
          <a:ln/>
        </p:spPr>
      </p:sp>
      <p:sp>
        <p:nvSpPr>
          <p:cNvPr id="21" name="Text 19"/>
          <p:cNvSpPr/>
          <p:nvPr/>
        </p:nvSpPr>
        <p:spPr>
          <a:xfrm>
            <a:off x="4186238" y="6143625"/>
            <a:ext cx="364629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b="1" dirty="0">
                <a:solidFill>
                  <a:srgbClr val="1C1C1A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7.14</a:t>
            </a:r>
            <a:endParaRPr lang="en-US" sz="1125" dirty="0"/>
          </a:p>
        </p:txBody>
      </p:sp>
      <p:sp>
        <p:nvSpPr>
          <p:cNvPr id="22" name="Shape 20"/>
          <p:cNvSpPr/>
          <p:nvPr/>
        </p:nvSpPr>
        <p:spPr>
          <a:xfrm>
            <a:off x="4168527" y="6372225"/>
            <a:ext cx="323850" cy="2495550"/>
          </a:xfrm>
          <a:prstGeom prst="rect">
            <a:avLst/>
          </a:prstGeom>
          <a:solidFill>
            <a:srgbClr val="2B3A52"/>
          </a:solidFill>
          <a:ln/>
        </p:spPr>
      </p:sp>
      <p:sp>
        <p:nvSpPr>
          <p:cNvPr id="23" name="Text 21"/>
          <p:cNvSpPr/>
          <p:nvPr/>
        </p:nvSpPr>
        <p:spPr>
          <a:xfrm>
            <a:off x="4583757" y="6696075"/>
            <a:ext cx="388590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b="1" dirty="0">
                <a:solidFill>
                  <a:srgbClr val="5A6B85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5.57</a:t>
            </a:r>
            <a:endParaRPr lang="en-US" sz="1125" dirty="0"/>
          </a:p>
        </p:txBody>
      </p:sp>
      <p:sp>
        <p:nvSpPr>
          <p:cNvPr id="24" name="Shape 22"/>
          <p:cNvSpPr/>
          <p:nvPr/>
        </p:nvSpPr>
        <p:spPr>
          <a:xfrm>
            <a:off x="4578102" y="6924675"/>
            <a:ext cx="323850" cy="1943100"/>
          </a:xfrm>
          <a:prstGeom prst="rect">
            <a:avLst/>
          </a:prstGeom>
          <a:solidFill>
            <a:srgbClr val="9DAAC0"/>
          </a:solidFill>
          <a:ln/>
        </p:spPr>
      </p:sp>
      <p:sp>
        <p:nvSpPr>
          <p:cNvPr id="25" name="Text 23"/>
          <p:cNvSpPr/>
          <p:nvPr/>
        </p:nvSpPr>
        <p:spPr>
          <a:xfrm>
            <a:off x="5650855" y="5924550"/>
            <a:ext cx="381893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b="1" dirty="0">
                <a:solidFill>
                  <a:srgbClr val="1C1C1A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7.78</a:t>
            </a:r>
            <a:endParaRPr lang="en-US" sz="1125" dirty="0"/>
          </a:p>
        </p:txBody>
      </p:sp>
      <p:sp>
        <p:nvSpPr>
          <p:cNvPr id="26" name="Shape 24"/>
          <p:cNvSpPr/>
          <p:nvPr/>
        </p:nvSpPr>
        <p:spPr>
          <a:xfrm>
            <a:off x="5641777" y="6153150"/>
            <a:ext cx="323850" cy="2714625"/>
          </a:xfrm>
          <a:prstGeom prst="rect">
            <a:avLst/>
          </a:prstGeom>
          <a:solidFill>
            <a:srgbClr val="2B3A52"/>
          </a:solidFill>
          <a:ln/>
        </p:spPr>
      </p:sp>
      <p:sp>
        <p:nvSpPr>
          <p:cNvPr id="27" name="Text 25"/>
          <p:cNvSpPr/>
          <p:nvPr/>
        </p:nvSpPr>
        <p:spPr>
          <a:xfrm>
            <a:off x="6051352" y="6524625"/>
            <a:ext cx="403771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b="1" dirty="0">
                <a:solidFill>
                  <a:srgbClr val="5A6B85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6.06</a:t>
            </a:r>
            <a:endParaRPr lang="en-US" sz="1125" dirty="0"/>
          </a:p>
        </p:txBody>
      </p:sp>
      <p:sp>
        <p:nvSpPr>
          <p:cNvPr id="28" name="Shape 26"/>
          <p:cNvSpPr/>
          <p:nvPr/>
        </p:nvSpPr>
        <p:spPr>
          <a:xfrm>
            <a:off x="6053138" y="6753225"/>
            <a:ext cx="323850" cy="2114550"/>
          </a:xfrm>
          <a:prstGeom prst="rect">
            <a:avLst/>
          </a:prstGeom>
          <a:solidFill>
            <a:srgbClr val="9DAAC0"/>
          </a:solidFill>
          <a:ln/>
        </p:spPr>
      </p:sp>
      <p:sp>
        <p:nvSpPr>
          <p:cNvPr id="29" name="Text 27"/>
          <p:cNvSpPr/>
          <p:nvPr/>
        </p:nvSpPr>
        <p:spPr>
          <a:xfrm>
            <a:off x="7119938" y="5705475"/>
            <a:ext cx="397371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b="1" dirty="0">
                <a:solidFill>
                  <a:srgbClr val="1C1C1A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8.39</a:t>
            </a:r>
            <a:endParaRPr lang="en-US" sz="1125" dirty="0"/>
          </a:p>
        </p:txBody>
      </p:sp>
      <p:sp>
        <p:nvSpPr>
          <p:cNvPr id="30" name="Shape 28"/>
          <p:cNvSpPr/>
          <p:nvPr/>
        </p:nvSpPr>
        <p:spPr>
          <a:xfrm>
            <a:off x="7118598" y="5934075"/>
            <a:ext cx="323850" cy="2933700"/>
          </a:xfrm>
          <a:prstGeom prst="rect">
            <a:avLst/>
          </a:prstGeom>
          <a:solidFill>
            <a:srgbClr val="2B3A52"/>
          </a:solidFill>
          <a:ln/>
        </p:spPr>
      </p:sp>
      <p:sp>
        <p:nvSpPr>
          <p:cNvPr id="31" name="Text 29"/>
          <p:cNvSpPr/>
          <p:nvPr/>
        </p:nvSpPr>
        <p:spPr>
          <a:xfrm>
            <a:off x="7528768" y="6353175"/>
            <a:ext cx="398859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b="1" dirty="0">
                <a:solidFill>
                  <a:srgbClr val="5A6B85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6.54</a:t>
            </a:r>
            <a:endParaRPr lang="en-US" sz="1125" dirty="0"/>
          </a:p>
        </p:txBody>
      </p:sp>
      <p:sp>
        <p:nvSpPr>
          <p:cNvPr id="32" name="Shape 30"/>
          <p:cNvSpPr/>
          <p:nvPr/>
        </p:nvSpPr>
        <p:spPr>
          <a:xfrm>
            <a:off x="7528173" y="6581775"/>
            <a:ext cx="323850" cy="2286000"/>
          </a:xfrm>
          <a:prstGeom prst="rect">
            <a:avLst/>
          </a:prstGeom>
          <a:solidFill>
            <a:srgbClr val="9DAAC0"/>
          </a:solidFill>
          <a:ln/>
        </p:spPr>
      </p:sp>
      <p:sp>
        <p:nvSpPr>
          <p:cNvPr id="33" name="Text 31"/>
          <p:cNvSpPr/>
          <p:nvPr/>
        </p:nvSpPr>
        <p:spPr>
          <a:xfrm>
            <a:off x="910181" y="8982075"/>
            <a:ext cx="1350124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275" b="1" dirty="0">
                <a:solidFill>
                  <a:srgbClr val="4A4A47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26E</a:t>
            </a:r>
            <a:endParaRPr lang="en-US" sz="1275" dirty="0"/>
          </a:p>
        </p:txBody>
      </p:sp>
      <p:sp>
        <p:nvSpPr>
          <p:cNvPr id="34" name="Text 32"/>
          <p:cNvSpPr/>
          <p:nvPr/>
        </p:nvSpPr>
        <p:spPr>
          <a:xfrm>
            <a:off x="2385216" y="8982075"/>
            <a:ext cx="1350124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275" b="1" dirty="0">
                <a:solidFill>
                  <a:srgbClr val="4A4A47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27E</a:t>
            </a:r>
            <a:endParaRPr lang="en-US" sz="1275" dirty="0"/>
          </a:p>
        </p:txBody>
      </p:sp>
      <p:sp>
        <p:nvSpPr>
          <p:cNvPr id="35" name="Text 33"/>
          <p:cNvSpPr/>
          <p:nvPr/>
        </p:nvSpPr>
        <p:spPr>
          <a:xfrm>
            <a:off x="3860252" y="8982075"/>
            <a:ext cx="1350124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275" b="1" dirty="0">
                <a:solidFill>
                  <a:srgbClr val="4A4A47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28E</a:t>
            </a:r>
            <a:endParaRPr lang="en-US" sz="1275" dirty="0"/>
          </a:p>
        </p:txBody>
      </p:sp>
      <p:sp>
        <p:nvSpPr>
          <p:cNvPr id="36" name="Text 34"/>
          <p:cNvSpPr/>
          <p:nvPr/>
        </p:nvSpPr>
        <p:spPr>
          <a:xfrm>
            <a:off x="5335287" y="8982075"/>
            <a:ext cx="1350124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275" b="1" dirty="0">
                <a:solidFill>
                  <a:srgbClr val="4A4A47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29E</a:t>
            </a:r>
            <a:endParaRPr lang="en-US" sz="1275" dirty="0"/>
          </a:p>
        </p:txBody>
      </p:sp>
      <p:sp>
        <p:nvSpPr>
          <p:cNvPr id="37" name="Text 35"/>
          <p:cNvSpPr/>
          <p:nvPr/>
        </p:nvSpPr>
        <p:spPr>
          <a:xfrm>
            <a:off x="6810323" y="8982075"/>
            <a:ext cx="1350124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275" b="1" dirty="0">
                <a:solidFill>
                  <a:srgbClr val="4A4A47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30E</a:t>
            </a:r>
            <a:endParaRPr lang="en-US" sz="1275" dirty="0"/>
          </a:p>
        </p:txBody>
      </p:sp>
      <p:sp>
        <p:nvSpPr>
          <p:cNvPr id="38" name="Text 36"/>
          <p:cNvSpPr/>
          <p:nvPr/>
        </p:nvSpPr>
        <p:spPr>
          <a:xfrm>
            <a:off x="914400" y="9305925"/>
            <a:ext cx="7966174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4A4A47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Core FFO/sh CAGR FY2025→FY2030 </a:t>
            </a:r>
            <a:pPr algn="l" indent="0" marL="0">
              <a:buNone/>
            </a:pPr>
            <a:r>
              <a:rPr lang="en-US" sz="1350" b="1" dirty="0">
                <a:solidFill>
                  <a:srgbClr val="1C1C1A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~7.6%</a:t>
            </a:r>
            <a:endParaRPr lang="en-US" sz="1350" dirty="0"/>
          </a:p>
        </p:txBody>
      </p:sp>
      <p:sp>
        <p:nvSpPr>
          <p:cNvPr id="39" name="Text 37"/>
          <p:cNvSpPr/>
          <p:nvPr/>
        </p:nvSpPr>
        <p:spPr>
          <a:xfrm>
            <a:off x="8765977" y="1890713"/>
            <a:ext cx="9468386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75" b="1" spc="150" kern="0" dirty="0">
                <a:solidFill>
                  <a:srgbClr val="2B3A52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FORECAST DETAIL</a:t>
            </a:r>
            <a:endParaRPr lang="en-US" sz="1275" dirty="0"/>
          </a:p>
        </p:txBody>
      </p:sp>
      <p:sp>
        <p:nvSpPr>
          <p:cNvPr id="40" name="Shape 38"/>
          <p:cNvSpPr/>
          <p:nvPr/>
        </p:nvSpPr>
        <p:spPr>
          <a:xfrm>
            <a:off x="8765977" y="2595563"/>
            <a:ext cx="8607623" cy="14288"/>
          </a:xfrm>
          <a:prstGeom prst="rect">
            <a:avLst/>
          </a:prstGeom>
          <a:solidFill>
            <a:srgbClr val="1C1C1A"/>
          </a:solidFill>
          <a:ln/>
        </p:spPr>
      </p:sp>
      <p:sp>
        <p:nvSpPr>
          <p:cNvPr id="41" name="Text 39"/>
          <p:cNvSpPr/>
          <p:nvPr/>
        </p:nvSpPr>
        <p:spPr>
          <a:xfrm>
            <a:off x="8804077" y="2309813"/>
            <a:ext cx="3149851" cy="242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spc="38" kern="0" dirty="0">
                <a:solidFill>
                  <a:srgbClr val="8C8C86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$ in millions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11859964" y="2309813"/>
            <a:ext cx="986135" cy="242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1C1C1A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26E</a:t>
            </a:r>
            <a:endParaRPr lang="en-US" sz="1350" dirty="0"/>
          </a:p>
        </p:txBody>
      </p:sp>
      <p:sp>
        <p:nvSpPr>
          <p:cNvPr id="43" name="Text 41"/>
          <p:cNvSpPr/>
          <p:nvPr/>
        </p:nvSpPr>
        <p:spPr>
          <a:xfrm>
            <a:off x="12846100" y="2309813"/>
            <a:ext cx="1162348" cy="242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1C1C1A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27E</a:t>
            </a:r>
            <a:endParaRPr lang="en-US" sz="1350" dirty="0"/>
          </a:p>
        </p:txBody>
      </p:sp>
      <p:sp>
        <p:nvSpPr>
          <p:cNvPr id="44" name="Text 42"/>
          <p:cNvSpPr/>
          <p:nvPr/>
        </p:nvSpPr>
        <p:spPr>
          <a:xfrm>
            <a:off x="14008447" y="2309813"/>
            <a:ext cx="1029146" cy="242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1C1C1A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28E</a:t>
            </a:r>
            <a:endParaRPr lang="en-US" sz="1350" dirty="0"/>
          </a:p>
        </p:txBody>
      </p:sp>
      <p:sp>
        <p:nvSpPr>
          <p:cNvPr id="45" name="Text 43"/>
          <p:cNvSpPr/>
          <p:nvPr/>
        </p:nvSpPr>
        <p:spPr>
          <a:xfrm>
            <a:off x="15037594" y="2309813"/>
            <a:ext cx="1097459" cy="242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1C1C1A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29E</a:t>
            </a:r>
            <a:endParaRPr lang="en-US" sz="1350" dirty="0"/>
          </a:p>
        </p:txBody>
      </p:sp>
      <p:sp>
        <p:nvSpPr>
          <p:cNvPr id="46" name="Text 44"/>
          <p:cNvSpPr/>
          <p:nvPr/>
        </p:nvSpPr>
        <p:spPr>
          <a:xfrm>
            <a:off x="16135052" y="2309813"/>
            <a:ext cx="1200894" cy="242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2B3A52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30E</a:t>
            </a:r>
            <a:endParaRPr lang="en-US" sz="1350" dirty="0"/>
          </a:p>
        </p:txBody>
      </p:sp>
      <p:sp>
        <p:nvSpPr>
          <p:cNvPr id="47" name="Shape 45"/>
          <p:cNvSpPr/>
          <p:nvPr/>
        </p:nvSpPr>
        <p:spPr>
          <a:xfrm>
            <a:off x="8765977" y="3024188"/>
            <a:ext cx="8607623" cy="9525"/>
          </a:xfrm>
          <a:prstGeom prst="rect">
            <a:avLst/>
          </a:prstGeom>
          <a:solidFill>
            <a:srgbClr val="E3E3DF"/>
          </a:solidFill>
          <a:ln/>
        </p:spPr>
      </p:sp>
      <p:sp>
        <p:nvSpPr>
          <p:cNvPr id="48" name="Text 46"/>
          <p:cNvSpPr/>
          <p:nvPr/>
        </p:nvSpPr>
        <p:spPr>
          <a:xfrm>
            <a:off x="8804077" y="2714625"/>
            <a:ext cx="3149851" cy="2524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1C1C1A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Rental revenue</a:t>
            </a:r>
            <a:endParaRPr lang="en-US" sz="1350" dirty="0"/>
          </a:p>
        </p:txBody>
      </p:sp>
      <p:sp>
        <p:nvSpPr>
          <p:cNvPr id="49" name="Text 47"/>
          <p:cNvSpPr/>
          <p:nvPr/>
        </p:nvSpPr>
        <p:spPr>
          <a:xfrm>
            <a:off x="11859964" y="2714625"/>
            <a:ext cx="986135" cy="2524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1350" dirty="0">
                <a:solidFill>
                  <a:srgbClr val="1C1C1A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8,967</a:t>
            </a:r>
            <a:endParaRPr lang="en-US" sz="1350" dirty="0"/>
          </a:p>
        </p:txBody>
      </p:sp>
      <p:sp>
        <p:nvSpPr>
          <p:cNvPr id="50" name="Text 48"/>
          <p:cNvSpPr/>
          <p:nvPr/>
        </p:nvSpPr>
        <p:spPr>
          <a:xfrm>
            <a:off x="12846100" y="2714625"/>
            <a:ext cx="1162348" cy="2524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1350" dirty="0">
                <a:solidFill>
                  <a:srgbClr val="1C1C1A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10,089</a:t>
            </a:r>
            <a:endParaRPr lang="en-US" sz="1350" dirty="0"/>
          </a:p>
        </p:txBody>
      </p:sp>
      <p:sp>
        <p:nvSpPr>
          <p:cNvPr id="51" name="Text 49"/>
          <p:cNvSpPr/>
          <p:nvPr/>
        </p:nvSpPr>
        <p:spPr>
          <a:xfrm>
            <a:off x="14008447" y="2714625"/>
            <a:ext cx="1029146" cy="2524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1350" dirty="0">
                <a:solidFill>
                  <a:srgbClr val="1C1C1A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11,227</a:t>
            </a:r>
            <a:endParaRPr lang="en-US" sz="1350" dirty="0"/>
          </a:p>
        </p:txBody>
      </p:sp>
      <p:sp>
        <p:nvSpPr>
          <p:cNvPr id="52" name="Text 50"/>
          <p:cNvSpPr/>
          <p:nvPr/>
        </p:nvSpPr>
        <p:spPr>
          <a:xfrm>
            <a:off x="15037594" y="2714625"/>
            <a:ext cx="1097459" cy="2524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1350" dirty="0">
                <a:solidFill>
                  <a:srgbClr val="1C1C1A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12,374</a:t>
            </a:r>
            <a:endParaRPr lang="en-US" sz="1350" dirty="0"/>
          </a:p>
        </p:txBody>
      </p:sp>
      <p:sp>
        <p:nvSpPr>
          <p:cNvPr id="53" name="Text 51"/>
          <p:cNvSpPr/>
          <p:nvPr/>
        </p:nvSpPr>
        <p:spPr>
          <a:xfrm>
            <a:off x="16135052" y="2714625"/>
            <a:ext cx="1200894" cy="2524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2B3A52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13,523</a:t>
            </a:r>
            <a:endParaRPr lang="en-US" sz="1350" dirty="0"/>
          </a:p>
        </p:txBody>
      </p:sp>
      <p:sp>
        <p:nvSpPr>
          <p:cNvPr id="54" name="Shape 52"/>
          <p:cNvSpPr/>
          <p:nvPr/>
        </p:nvSpPr>
        <p:spPr>
          <a:xfrm>
            <a:off x="8765977" y="3443288"/>
            <a:ext cx="8607623" cy="9525"/>
          </a:xfrm>
          <a:prstGeom prst="rect">
            <a:avLst/>
          </a:prstGeom>
          <a:solidFill>
            <a:srgbClr val="E3E3DF"/>
          </a:solidFill>
          <a:ln/>
        </p:spPr>
      </p:sp>
      <p:sp>
        <p:nvSpPr>
          <p:cNvPr id="55" name="Text 53"/>
          <p:cNvSpPr/>
          <p:nvPr/>
        </p:nvSpPr>
        <p:spPr>
          <a:xfrm>
            <a:off x="8804077" y="3138488"/>
            <a:ext cx="3149851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1C1C1A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Total property NOI</a:t>
            </a:r>
            <a:endParaRPr lang="en-US" sz="1350" dirty="0"/>
          </a:p>
        </p:txBody>
      </p:sp>
      <p:sp>
        <p:nvSpPr>
          <p:cNvPr id="56" name="Text 54"/>
          <p:cNvSpPr/>
          <p:nvPr/>
        </p:nvSpPr>
        <p:spPr>
          <a:xfrm>
            <a:off x="11859964" y="3138488"/>
            <a:ext cx="986135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1350" dirty="0">
                <a:solidFill>
                  <a:srgbClr val="1C1C1A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6,770</a:t>
            </a:r>
            <a:endParaRPr lang="en-US" sz="1350" dirty="0"/>
          </a:p>
        </p:txBody>
      </p:sp>
      <p:sp>
        <p:nvSpPr>
          <p:cNvPr id="57" name="Text 55"/>
          <p:cNvSpPr/>
          <p:nvPr/>
        </p:nvSpPr>
        <p:spPr>
          <a:xfrm>
            <a:off x="12846100" y="3138488"/>
            <a:ext cx="1162348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1350" dirty="0">
                <a:solidFill>
                  <a:srgbClr val="1C1C1A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7,617</a:t>
            </a:r>
            <a:endParaRPr lang="en-US" sz="1350" dirty="0"/>
          </a:p>
        </p:txBody>
      </p:sp>
      <p:sp>
        <p:nvSpPr>
          <p:cNvPr id="58" name="Text 56"/>
          <p:cNvSpPr/>
          <p:nvPr/>
        </p:nvSpPr>
        <p:spPr>
          <a:xfrm>
            <a:off x="14008447" y="3138488"/>
            <a:ext cx="1029146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1350" dirty="0">
                <a:solidFill>
                  <a:srgbClr val="1C1C1A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8,476</a:t>
            </a:r>
            <a:endParaRPr lang="en-US" sz="1350" dirty="0"/>
          </a:p>
        </p:txBody>
      </p:sp>
      <p:sp>
        <p:nvSpPr>
          <p:cNvPr id="59" name="Text 57"/>
          <p:cNvSpPr/>
          <p:nvPr/>
        </p:nvSpPr>
        <p:spPr>
          <a:xfrm>
            <a:off x="15037594" y="3138488"/>
            <a:ext cx="1097459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1350" dirty="0">
                <a:solidFill>
                  <a:srgbClr val="1C1C1A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9,342</a:t>
            </a:r>
            <a:endParaRPr lang="en-US" sz="1350" dirty="0"/>
          </a:p>
        </p:txBody>
      </p:sp>
      <p:sp>
        <p:nvSpPr>
          <p:cNvPr id="60" name="Text 58"/>
          <p:cNvSpPr/>
          <p:nvPr/>
        </p:nvSpPr>
        <p:spPr>
          <a:xfrm>
            <a:off x="16135052" y="3138488"/>
            <a:ext cx="1200894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2B3A52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10,209</a:t>
            </a:r>
            <a:endParaRPr lang="en-US" sz="1350" dirty="0"/>
          </a:p>
        </p:txBody>
      </p:sp>
      <p:sp>
        <p:nvSpPr>
          <p:cNvPr id="61" name="Shape 59"/>
          <p:cNvSpPr/>
          <p:nvPr/>
        </p:nvSpPr>
        <p:spPr>
          <a:xfrm>
            <a:off x="8765977" y="3862387"/>
            <a:ext cx="8607623" cy="9525"/>
          </a:xfrm>
          <a:prstGeom prst="rect">
            <a:avLst/>
          </a:prstGeom>
          <a:solidFill>
            <a:srgbClr val="E3E3DF"/>
          </a:solidFill>
          <a:ln/>
        </p:spPr>
      </p:sp>
      <p:sp>
        <p:nvSpPr>
          <p:cNvPr id="62" name="Text 60"/>
          <p:cNvSpPr/>
          <p:nvPr/>
        </p:nvSpPr>
        <p:spPr>
          <a:xfrm>
            <a:off x="8804077" y="3557588"/>
            <a:ext cx="3149851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1C1C1A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Core FFO</a:t>
            </a:r>
            <a:endParaRPr lang="en-US" sz="1350" dirty="0"/>
          </a:p>
        </p:txBody>
      </p:sp>
      <p:sp>
        <p:nvSpPr>
          <p:cNvPr id="63" name="Text 61"/>
          <p:cNvSpPr/>
          <p:nvPr/>
        </p:nvSpPr>
        <p:spPr>
          <a:xfrm>
            <a:off x="11859964" y="3557588"/>
            <a:ext cx="986135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1350" dirty="0">
                <a:solidFill>
                  <a:srgbClr val="1C1C1A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5,621</a:t>
            </a:r>
            <a:endParaRPr lang="en-US" sz="1350" dirty="0"/>
          </a:p>
        </p:txBody>
      </p:sp>
      <p:sp>
        <p:nvSpPr>
          <p:cNvPr id="64" name="Text 62"/>
          <p:cNvSpPr/>
          <p:nvPr/>
        </p:nvSpPr>
        <p:spPr>
          <a:xfrm>
            <a:off x="12846100" y="3557588"/>
            <a:ext cx="1162348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1350" dirty="0">
                <a:solidFill>
                  <a:srgbClr val="1C1C1A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6,400</a:t>
            </a:r>
            <a:endParaRPr lang="en-US" sz="1350" dirty="0"/>
          </a:p>
        </p:txBody>
      </p:sp>
      <p:sp>
        <p:nvSpPr>
          <p:cNvPr id="65" name="Text 63"/>
          <p:cNvSpPr/>
          <p:nvPr/>
        </p:nvSpPr>
        <p:spPr>
          <a:xfrm>
            <a:off x="14008447" y="3557588"/>
            <a:ext cx="1029146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1350" dirty="0">
                <a:solidFill>
                  <a:srgbClr val="1C1C1A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7,151</a:t>
            </a:r>
            <a:endParaRPr lang="en-US" sz="1350" dirty="0"/>
          </a:p>
        </p:txBody>
      </p:sp>
      <p:sp>
        <p:nvSpPr>
          <p:cNvPr id="66" name="Text 64"/>
          <p:cNvSpPr/>
          <p:nvPr/>
        </p:nvSpPr>
        <p:spPr>
          <a:xfrm>
            <a:off x="15037594" y="3557588"/>
            <a:ext cx="1097459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1350" dirty="0">
                <a:solidFill>
                  <a:srgbClr val="1C1C1A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7,903</a:t>
            </a:r>
            <a:endParaRPr lang="en-US" sz="1350" dirty="0"/>
          </a:p>
        </p:txBody>
      </p:sp>
      <p:sp>
        <p:nvSpPr>
          <p:cNvPr id="67" name="Text 65"/>
          <p:cNvSpPr/>
          <p:nvPr/>
        </p:nvSpPr>
        <p:spPr>
          <a:xfrm>
            <a:off x="16135052" y="3557588"/>
            <a:ext cx="1200894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2B3A52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8,650</a:t>
            </a:r>
            <a:endParaRPr lang="en-US" sz="1350" dirty="0"/>
          </a:p>
        </p:txBody>
      </p:sp>
      <p:sp>
        <p:nvSpPr>
          <p:cNvPr id="68" name="Shape 66"/>
          <p:cNvSpPr/>
          <p:nvPr/>
        </p:nvSpPr>
        <p:spPr>
          <a:xfrm>
            <a:off x="8765977" y="4281488"/>
            <a:ext cx="8607623" cy="9525"/>
          </a:xfrm>
          <a:prstGeom prst="rect">
            <a:avLst/>
          </a:prstGeom>
          <a:solidFill>
            <a:srgbClr val="E3E3DF"/>
          </a:solidFill>
          <a:ln/>
        </p:spPr>
      </p:sp>
      <p:sp>
        <p:nvSpPr>
          <p:cNvPr id="69" name="Text 67"/>
          <p:cNvSpPr/>
          <p:nvPr/>
        </p:nvSpPr>
        <p:spPr>
          <a:xfrm>
            <a:off x="8804077" y="3976687"/>
            <a:ext cx="3149851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1C1C1A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AFFO</a:t>
            </a:r>
            <a:endParaRPr lang="en-US" sz="1350" dirty="0"/>
          </a:p>
        </p:txBody>
      </p:sp>
      <p:sp>
        <p:nvSpPr>
          <p:cNvPr id="70" name="Text 68"/>
          <p:cNvSpPr/>
          <p:nvPr/>
        </p:nvSpPr>
        <p:spPr>
          <a:xfrm>
            <a:off x="11859964" y="3976687"/>
            <a:ext cx="986135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1350" dirty="0">
                <a:solidFill>
                  <a:srgbClr val="1C1C1A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4,381</a:t>
            </a:r>
            <a:endParaRPr lang="en-US" sz="1350" dirty="0"/>
          </a:p>
        </p:txBody>
      </p:sp>
      <p:sp>
        <p:nvSpPr>
          <p:cNvPr id="71" name="Text 69"/>
          <p:cNvSpPr/>
          <p:nvPr/>
        </p:nvSpPr>
        <p:spPr>
          <a:xfrm>
            <a:off x="12846100" y="3976687"/>
            <a:ext cx="1162348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1350" dirty="0">
                <a:solidFill>
                  <a:srgbClr val="1C1C1A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4,989</a:t>
            </a:r>
            <a:endParaRPr lang="en-US" sz="1350" dirty="0"/>
          </a:p>
        </p:txBody>
      </p:sp>
      <p:sp>
        <p:nvSpPr>
          <p:cNvPr id="72" name="Text 70"/>
          <p:cNvSpPr/>
          <p:nvPr/>
        </p:nvSpPr>
        <p:spPr>
          <a:xfrm>
            <a:off x="14008447" y="3976687"/>
            <a:ext cx="1029146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1350" dirty="0">
                <a:solidFill>
                  <a:srgbClr val="1C1C1A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5,574</a:t>
            </a:r>
            <a:endParaRPr lang="en-US" sz="1350" dirty="0"/>
          </a:p>
        </p:txBody>
      </p:sp>
      <p:sp>
        <p:nvSpPr>
          <p:cNvPr id="73" name="Text 71"/>
          <p:cNvSpPr/>
          <p:nvPr/>
        </p:nvSpPr>
        <p:spPr>
          <a:xfrm>
            <a:off x="15037594" y="3976687"/>
            <a:ext cx="1097459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1350" dirty="0">
                <a:solidFill>
                  <a:srgbClr val="1C1C1A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6,160</a:t>
            </a:r>
            <a:endParaRPr lang="en-US" sz="1350" dirty="0"/>
          </a:p>
        </p:txBody>
      </p:sp>
      <p:sp>
        <p:nvSpPr>
          <p:cNvPr id="74" name="Text 72"/>
          <p:cNvSpPr/>
          <p:nvPr/>
        </p:nvSpPr>
        <p:spPr>
          <a:xfrm>
            <a:off x="16135052" y="3976687"/>
            <a:ext cx="1200894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2B3A52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6,743</a:t>
            </a:r>
            <a:endParaRPr lang="en-US" sz="1350" dirty="0"/>
          </a:p>
        </p:txBody>
      </p:sp>
      <p:sp>
        <p:nvSpPr>
          <p:cNvPr id="75" name="Shape 73"/>
          <p:cNvSpPr/>
          <p:nvPr/>
        </p:nvSpPr>
        <p:spPr>
          <a:xfrm>
            <a:off x="8765977" y="4700588"/>
            <a:ext cx="8607623" cy="9525"/>
          </a:xfrm>
          <a:prstGeom prst="rect">
            <a:avLst/>
          </a:prstGeom>
          <a:solidFill>
            <a:srgbClr val="E3E3DF"/>
          </a:solidFill>
          <a:ln/>
        </p:spPr>
      </p:sp>
      <p:sp>
        <p:nvSpPr>
          <p:cNvPr id="76" name="Text 74"/>
          <p:cNvSpPr/>
          <p:nvPr/>
        </p:nvSpPr>
        <p:spPr>
          <a:xfrm>
            <a:off x="8804077" y="4395787"/>
            <a:ext cx="3149851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4A4A47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Core FFO / share ($)</a:t>
            </a:r>
            <a:endParaRPr lang="en-US" sz="1350" dirty="0"/>
          </a:p>
        </p:txBody>
      </p:sp>
      <p:sp>
        <p:nvSpPr>
          <p:cNvPr id="77" name="Text 75"/>
          <p:cNvSpPr/>
          <p:nvPr/>
        </p:nvSpPr>
        <p:spPr>
          <a:xfrm>
            <a:off x="11859964" y="4395787"/>
            <a:ext cx="986135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1350" dirty="0">
                <a:solidFill>
                  <a:srgbClr val="1C1C1A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5.78</a:t>
            </a:r>
            <a:endParaRPr lang="en-US" sz="1350" dirty="0"/>
          </a:p>
        </p:txBody>
      </p:sp>
      <p:sp>
        <p:nvSpPr>
          <p:cNvPr id="78" name="Text 76"/>
          <p:cNvSpPr/>
          <p:nvPr/>
        </p:nvSpPr>
        <p:spPr>
          <a:xfrm>
            <a:off x="12846100" y="4395787"/>
            <a:ext cx="1162348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1350" dirty="0">
                <a:solidFill>
                  <a:srgbClr val="1C1C1A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6.49</a:t>
            </a:r>
            <a:endParaRPr lang="en-US" sz="1350" dirty="0"/>
          </a:p>
        </p:txBody>
      </p:sp>
      <p:sp>
        <p:nvSpPr>
          <p:cNvPr id="79" name="Text 77"/>
          <p:cNvSpPr/>
          <p:nvPr/>
        </p:nvSpPr>
        <p:spPr>
          <a:xfrm>
            <a:off x="14008447" y="4395787"/>
            <a:ext cx="1029146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1350" dirty="0">
                <a:solidFill>
                  <a:srgbClr val="1C1C1A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7.14</a:t>
            </a:r>
            <a:endParaRPr lang="en-US" sz="1350" dirty="0"/>
          </a:p>
        </p:txBody>
      </p:sp>
      <p:sp>
        <p:nvSpPr>
          <p:cNvPr id="80" name="Text 78"/>
          <p:cNvSpPr/>
          <p:nvPr/>
        </p:nvSpPr>
        <p:spPr>
          <a:xfrm>
            <a:off x="15037594" y="4395787"/>
            <a:ext cx="1097459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1350" dirty="0">
                <a:solidFill>
                  <a:srgbClr val="1C1C1A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7.78</a:t>
            </a:r>
            <a:endParaRPr lang="en-US" sz="1350" dirty="0"/>
          </a:p>
        </p:txBody>
      </p:sp>
      <p:sp>
        <p:nvSpPr>
          <p:cNvPr id="81" name="Text 79"/>
          <p:cNvSpPr/>
          <p:nvPr/>
        </p:nvSpPr>
        <p:spPr>
          <a:xfrm>
            <a:off x="16135052" y="4395787"/>
            <a:ext cx="1200894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2B3A52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8.39</a:t>
            </a:r>
            <a:endParaRPr lang="en-US" sz="1350" dirty="0"/>
          </a:p>
        </p:txBody>
      </p:sp>
      <p:sp>
        <p:nvSpPr>
          <p:cNvPr id="82" name="Shape 80"/>
          <p:cNvSpPr/>
          <p:nvPr/>
        </p:nvSpPr>
        <p:spPr>
          <a:xfrm>
            <a:off x="8765977" y="5119688"/>
            <a:ext cx="8607623" cy="9525"/>
          </a:xfrm>
          <a:prstGeom prst="rect">
            <a:avLst/>
          </a:prstGeom>
          <a:solidFill>
            <a:srgbClr val="E3E3DF"/>
          </a:solidFill>
          <a:ln/>
        </p:spPr>
      </p:sp>
      <p:sp>
        <p:nvSpPr>
          <p:cNvPr id="83" name="Text 81"/>
          <p:cNvSpPr/>
          <p:nvPr/>
        </p:nvSpPr>
        <p:spPr>
          <a:xfrm>
            <a:off x="8804077" y="4814888"/>
            <a:ext cx="3149851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4A4A47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AFFO / share ($)</a:t>
            </a:r>
            <a:endParaRPr lang="en-US" sz="1350" dirty="0"/>
          </a:p>
        </p:txBody>
      </p:sp>
      <p:sp>
        <p:nvSpPr>
          <p:cNvPr id="84" name="Text 82"/>
          <p:cNvSpPr/>
          <p:nvPr/>
        </p:nvSpPr>
        <p:spPr>
          <a:xfrm>
            <a:off x="11859964" y="4814888"/>
            <a:ext cx="986135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1350" dirty="0">
                <a:solidFill>
                  <a:srgbClr val="1C1C1A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4.51</a:t>
            </a:r>
            <a:endParaRPr lang="en-US" sz="1350" dirty="0"/>
          </a:p>
        </p:txBody>
      </p:sp>
      <p:sp>
        <p:nvSpPr>
          <p:cNvPr id="85" name="Text 83"/>
          <p:cNvSpPr/>
          <p:nvPr/>
        </p:nvSpPr>
        <p:spPr>
          <a:xfrm>
            <a:off x="12846100" y="4814888"/>
            <a:ext cx="1162348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1350" dirty="0">
                <a:solidFill>
                  <a:srgbClr val="1C1C1A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5.06</a:t>
            </a:r>
            <a:endParaRPr lang="en-US" sz="1350" dirty="0"/>
          </a:p>
        </p:txBody>
      </p:sp>
      <p:sp>
        <p:nvSpPr>
          <p:cNvPr id="86" name="Text 84"/>
          <p:cNvSpPr/>
          <p:nvPr/>
        </p:nvSpPr>
        <p:spPr>
          <a:xfrm>
            <a:off x="14008447" y="4814888"/>
            <a:ext cx="1029146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1350" dirty="0">
                <a:solidFill>
                  <a:srgbClr val="1C1C1A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5.57</a:t>
            </a:r>
            <a:endParaRPr lang="en-US" sz="1350" dirty="0"/>
          </a:p>
        </p:txBody>
      </p:sp>
      <p:sp>
        <p:nvSpPr>
          <p:cNvPr id="87" name="Text 85"/>
          <p:cNvSpPr/>
          <p:nvPr/>
        </p:nvSpPr>
        <p:spPr>
          <a:xfrm>
            <a:off x="15037594" y="4814888"/>
            <a:ext cx="1097459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1350" dirty="0">
                <a:solidFill>
                  <a:srgbClr val="1C1C1A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6.06</a:t>
            </a:r>
            <a:endParaRPr lang="en-US" sz="1350" dirty="0"/>
          </a:p>
        </p:txBody>
      </p:sp>
      <p:sp>
        <p:nvSpPr>
          <p:cNvPr id="88" name="Text 86"/>
          <p:cNvSpPr/>
          <p:nvPr/>
        </p:nvSpPr>
        <p:spPr>
          <a:xfrm>
            <a:off x="16135052" y="4814888"/>
            <a:ext cx="1200894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2B3A52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6.54</a:t>
            </a:r>
            <a:endParaRPr lang="en-US" sz="1350" dirty="0"/>
          </a:p>
        </p:txBody>
      </p:sp>
      <p:sp>
        <p:nvSpPr>
          <p:cNvPr id="89" name="Shape 87"/>
          <p:cNvSpPr/>
          <p:nvPr/>
        </p:nvSpPr>
        <p:spPr>
          <a:xfrm>
            <a:off x="8765977" y="5538788"/>
            <a:ext cx="8607623" cy="9525"/>
          </a:xfrm>
          <a:prstGeom prst="rect">
            <a:avLst/>
          </a:prstGeom>
          <a:solidFill>
            <a:srgbClr val="E3E3DF"/>
          </a:solidFill>
          <a:ln/>
        </p:spPr>
      </p:sp>
      <p:sp>
        <p:nvSpPr>
          <p:cNvPr id="90" name="Text 88"/>
          <p:cNvSpPr/>
          <p:nvPr/>
        </p:nvSpPr>
        <p:spPr>
          <a:xfrm>
            <a:off x="8804077" y="5233988"/>
            <a:ext cx="3149851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4A4A47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Share / unit count (M)</a:t>
            </a:r>
            <a:endParaRPr lang="en-US" sz="1350" dirty="0"/>
          </a:p>
        </p:txBody>
      </p:sp>
      <p:sp>
        <p:nvSpPr>
          <p:cNvPr id="91" name="Text 89"/>
          <p:cNvSpPr/>
          <p:nvPr/>
        </p:nvSpPr>
        <p:spPr>
          <a:xfrm>
            <a:off x="11859964" y="5233988"/>
            <a:ext cx="986135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1350" dirty="0">
                <a:solidFill>
                  <a:srgbClr val="1C1C1A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972</a:t>
            </a:r>
            <a:endParaRPr lang="en-US" sz="1350" dirty="0"/>
          </a:p>
        </p:txBody>
      </p:sp>
      <p:sp>
        <p:nvSpPr>
          <p:cNvPr id="92" name="Text 90"/>
          <p:cNvSpPr/>
          <p:nvPr/>
        </p:nvSpPr>
        <p:spPr>
          <a:xfrm>
            <a:off x="12846100" y="5233988"/>
            <a:ext cx="1162348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1350" dirty="0">
                <a:solidFill>
                  <a:srgbClr val="1C1C1A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986</a:t>
            </a:r>
            <a:endParaRPr lang="en-US" sz="1350" dirty="0"/>
          </a:p>
        </p:txBody>
      </p:sp>
      <p:sp>
        <p:nvSpPr>
          <p:cNvPr id="93" name="Text 91"/>
          <p:cNvSpPr/>
          <p:nvPr/>
        </p:nvSpPr>
        <p:spPr>
          <a:xfrm>
            <a:off x="14008447" y="5233988"/>
            <a:ext cx="1029146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1350" dirty="0">
                <a:solidFill>
                  <a:srgbClr val="1C1C1A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1,001</a:t>
            </a:r>
            <a:endParaRPr lang="en-US" sz="1350" dirty="0"/>
          </a:p>
        </p:txBody>
      </p:sp>
      <p:sp>
        <p:nvSpPr>
          <p:cNvPr id="94" name="Text 92"/>
          <p:cNvSpPr/>
          <p:nvPr/>
        </p:nvSpPr>
        <p:spPr>
          <a:xfrm>
            <a:off x="15037594" y="5233988"/>
            <a:ext cx="1097459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1350" dirty="0">
                <a:solidFill>
                  <a:srgbClr val="1C1C1A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1,016</a:t>
            </a:r>
            <a:endParaRPr lang="en-US" sz="1350" dirty="0"/>
          </a:p>
        </p:txBody>
      </p:sp>
      <p:sp>
        <p:nvSpPr>
          <p:cNvPr id="95" name="Text 93"/>
          <p:cNvSpPr/>
          <p:nvPr/>
        </p:nvSpPr>
        <p:spPr>
          <a:xfrm>
            <a:off x="16135052" y="5233988"/>
            <a:ext cx="1200894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2B3A52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1,031</a:t>
            </a:r>
            <a:endParaRPr lang="en-US" sz="1350" dirty="0"/>
          </a:p>
        </p:txBody>
      </p:sp>
      <p:sp>
        <p:nvSpPr>
          <p:cNvPr id="96" name="Text 94"/>
          <p:cNvSpPr/>
          <p:nvPr/>
        </p:nvSpPr>
        <p:spPr>
          <a:xfrm>
            <a:off x="8804077" y="5653087"/>
            <a:ext cx="3149851" cy="242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4A4A47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Net debt / EBITDA (x)</a:t>
            </a:r>
            <a:endParaRPr lang="en-US" sz="1350" dirty="0"/>
          </a:p>
        </p:txBody>
      </p:sp>
      <p:sp>
        <p:nvSpPr>
          <p:cNvPr id="97" name="Text 95"/>
          <p:cNvSpPr/>
          <p:nvPr/>
        </p:nvSpPr>
        <p:spPr>
          <a:xfrm>
            <a:off x="11859964" y="5653087"/>
            <a:ext cx="986135" cy="242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1350" dirty="0">
                <a:solidFill>
                  <a:srgbClr val="1C1C1A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5.6</a:t>
            </a:r>
            <a:endParaRPr lang="en-US" sz="1350" dirty="0"/>
          </a:p>
        </p:txBody>
      </p:sp>
      <p:sp>
        <p:nvSpPr>
          <p:cNvPr id="98" name="Text 96"/>
          <p:cNvSpPr/>
          <p:nvPr/>
        </p:nvSpPr>
        <p:spPr>
          <a:xfrm>
            <a:off x="12846100" y="5653087"/>
            <a:ext cx="1162348" cy="242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1350" dirty="0">
                <a:solidFill>
                  <a:srgbClr val="1C1C1A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5.4</a:t>
            </a:r>
            <a:endParaRPr lang="en-US" sz="1350" dirty="0"/>
          </a:p>
        </p:txBody>
      </p:sp>
      <p:sp>
        <p:nvSpPr>
          <p:cNvPr id="99" name="Text 97"/>
          <p:cNvSpPr/>
          <p:nvPr/>
        </p:nvSpPr>
        <p:spPr>
          <a:xfrm>
            <a:off x="14008447" y="5653087"/>
            <a:ext cx="1029146" cy="242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1350" dirty="0">
                <a:solidFill>
                  <a:srgbClr val="1C1C1A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5.2</a:t>
            </a:r>
            <a:endParaRPr lang="en-US" sz="1350" dirty="0"/>
          </a:p>
        </p:txBody>
      </p:sp>
      <p:sp>
        <p:nvSpPr>
          <p:cNvPr id="100" name="Text 98"/>
          <p:cNvSpPr/>
          <p:nvPr/>
        </p:nvSpPr>
        <p:spPr>
          <a:xfrm>
            <a:off x="15037594" y="5653087"/>
            <a:ext cx="1097459" cy="242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1350" dirty="0">
                <a:solidFill>
                  <a:srgbClr val="1C1C1A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5.1</a:t>
            </a:r>
            <a:endParaRPr lang="en-US" sz="1350" dirty="0"/>
          </a:p>
        </p:txBody>
      </p:sp>
      <p:sp>
        <p:nvSpPr>
          <p:cNvPr id="101" name="Text 99"/>
          <p:cNvSpPr/>
          <p:nvPr/>
        </p:nvSpPr>
        <p:spPr>
          <a:xfrm>
            <a:off x="16135052" y="5653087"/>
            <a:ext cx="1200894" cy="242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2B3A52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5.0</a:t>
            </a:r>
            <a:endParaRPr lang="en-US" sz="1350" dirty="0"/>
          </a:p>
        </p:txBody>
      </p:sp>
      <p:sp>
        <p:nvSpPr>
          <p:cNvPr id="102" name="Text 100"/>
          <p:cNvSpPr/>
          <p:nvPr/>
        </p:nvSpPr>
        <p:spPr>
          <a:xfrm>
            <a:off x="8765977" y="6115050"/>
            <a:ext cx="8865852" cy="476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275" dirty="0">
                <a:solidFill>
                  <a:srgbClr val="8C8C86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NOI margin held at ~75.5%. Dividends are an output (AFFO × ~87% payout); leverage de-levers as retained cash and dispositions fund development.</a:t>
            </a:r>
            <a:endParaRPr lang="en-US" sz="1275" dirty="0"/>
          </a:p>
        </p:txBody>
      </p:sp>
      <p:sp>
        <p:nvSpPr>
          <p:cNvPr id="103" name="Shape 101"/>
          <p:cNvSpPr/>
          <p:nvPr/>
        </p:nvSpPr>
        <p:spPr>
          <a:xfrm>
            <a:off x="914400" y="9505950"/>
            <a:ext cx="16459200" cy="9525"/>
          </a:xfrm>
          <a:prstGeom prst="rect">
            <a:avLst/>
          </a:prstGeom>
          <a:solidFill>
            <a:srgbClr val="E3E3DF"/>
          </a:solidFill>
          <a:ln/>
        </p:spPr>
      </p:sp>
      <p:sp>
        <p:nvSpPr>
          <p:cNvPr id="104" name="Text 102"/>
          <p:cNvSpPr/>
          <p:nvPr/>
        </p:nvSpPr>
        <p:spPr>
          <a:xfrm>
            <a:off x="914400" y="9648825"/>
            <a:ext cx="7785601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A0A09A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Source: model Model tab, base case (Assumptions!B5 = 1). $ in millions; per-share on units-inclusive Core FFO basis.</a:t>
            </a:r>
            <a:endParaRPr lang="en-US" sz="1050" dirty="0"/>
          </a:p>
        </p:txBody>
      </p:sp>
      <p:sp>
        <p:nvSpPr>
          <p:cNvPr id="105" name="Text 103"/>
          <p:cNvSpPr/>
          <p:nvPr/>
        </p:nvSpPr>
        <p:spPr>
          <a:xfrm>
            <a:off x="17192774" y="9648825"/>
            <a:ext cx="257026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4A4A47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05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904875"/>
            <a:ext cx="16459200" cy="14288"/>
          </a:xfrm>
          <a:prstGeom prst="rect">
            <a:avLst/>
          </a:prstGeom>
          <a:solidFill>
            <a:srgbClr val="1C1C1A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590550"/>
            <a:ext cx="2935992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rgbClr val="8C8C86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PROLOGIS, INC. · NYSE: PLD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4345841" y="590550"/>
            <a:ext cx="3330535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rgbClr val="8C8C86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EQUITY RESEARCH — INITIATION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914400" y="1443038"/>
            <a:ext cx="336352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spc="188" kern="0" dirty="0">
                <a:solidFill>
                  <a:srgbClr val="2B3A52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06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346002" y="1147763"/>
            <a:ext cx="7763336" cy="514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750" dirty="0">
                <a:solidFill>
                  <a:srgbClr val="1C1C1A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Net Asset Value — Sum of the Parts</a:t>
            </a:r>
            <a:endParaRPr lang="en-US" sz="3750" dirty="0"/>
          </a:p>
        </p:txBody>
      </p:sp>
      <p:sp>
        <p:nvSpPr>
          <p:cNvPr id="7" name="Text 5"/>
          <p:cNvSpPr/>
          <p:nvPr/>
        </p:nvSpPr>
        <p:spPr>
          <a:xfrm>
            <a:off x="914400" y="1871663"/>
            <a:ext cx="2541940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75" b="1" spc="150" kern="0" dirty="0">
                <a:solidFill>
                  <a:srgbClr val="2B3A52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BRIDGE TO EQUITY NAV</a:t>
            </a:r>
            <a:endParaRPr lang="en-US" sz="1275" dirty="0"/>
          </a:p>
        </p:txBody>
      </p:sp>
      <p:sp>
        <p:nvSpPr>
          <p:cNvPr id="8" name="Text 6"/>
          <p:cNvSpPr/>
          <p:nvPr/>
        </p:nvSpPr>
        <p:spPr>
          <a:xfrm>
            <a:off x="10420796" y="1890713"/>
            <a:ext cx="1629906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dirty="0">
                <a:solidFill>
                  <a:srgbClr val="8C8C86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$ in billions · base case</a:t>
            </a:r>
            <a:endParaRPr lang="en-US" sz="1125" dirty="0"/>
          </a:p>
        </p:txBody>
      </p:sp>
      <p:sp>
        <p:nvSpPr>
          <p:cNvPr id="9" name="Shape 7"/>
          <p:cNvSpPr/>
          <p:nvPr/>
        </p:nvSpPr>
        <p:spPr>
          <a:xfrm>
            <a:off x="914400" y="9096375"/>
            <a:ext cx="10988129" cy="9525"/>
          </a:xfrm>
          <a:prstGeom prst="rect">
            <a:avLst/>
          </a:prstGeom>
          <a:solidFill>
            <a:srgbClr val="CFCFC9"/>
          </a:solidFill>
          <a:ln/>
        </p:spPr>
      </p:sp>
      <p:sp>
        <p:nvSpPr>
          <p:cNvPr id="10" name="Text 8"/>
          <p:cNvSpPr/>
          <p:nvPr/>
        </p:nvSpPr>
        <p:spPr>
          <a:xfrm>
            <a:off x="1047155" y="5781675"/>
            <a:ext cx="955328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125" b="1" dirty="0">
                <a:solidFill>
                  <a:srgbClr val="1C1C1A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133.3</a:t>
            </a:r>
            <a:endParaRPr lang="en-US" sz="1125" dirty="0"/>
          </a:p>
        </p:txBody>
      </p:sp>
      <p:sp>
        <p:nvSpPr>
          <p:cNvPr id="11" name="Shape 9"/>
          <p:cNvSpPr/>
          <p:nvPr/>
        </p:nvSpPr>
        <p:spPr>
          <a:xfrm>
            <a:off x="1085255" y="6105525"/>
            <a:ext cx="879128" cy="2990850"/>
          </a:xfrm>
          <a:prstGeom prst="rect">
            <a:avLst/>
          </a:prstGeom>
          <a:solidFill>
            <a:srgbClr val="2B3A52"/>
          </a:solidFill>
          <a:ln/>
        </p:spPr>
      </p:sp>
      <p:sp>
        <p:nvSpPr>
          <p:cNvPr id="12" name="Text 10"/>
          <p:cNvSpPr/>
          <p:nvPr/>
        </p:nvSpPr>
        <p:spPr>
          <a:xfrm>
            <a:off x="2267992" y="5772150"/>
            <a:ext cx="955328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5A6B85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+6.1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2306092" y="5972175"/>
            <a:ext cx="879128" cy="133350"/>
          </a:xfrm>
          <a:prstGeom prst="rect">
            <a:avLst/>
          </a:prstGeom>
          <a:solidFill>
            <a:srgbClr val="5A6B85"/>
          </a:solidFill>
          <a:ln/>
        </p:spPr>
      </p:sp>
      <p:sp>
        <p:nvSpPr>
          <p:cNvPr id="14" name="Text 12"/>
          <p:cNvSpPr/>
          <p:nvPr/>
        </p:nvSpPr>
        <p:spPr>
          <a:xfrm>
            <a:off x="3488829" y="5667375"/>
            <a:ext cx="955328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5A6B85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+4.8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3526929" y="5867400"/>
            <a:ext cx="879128" cy="104775"/>
          </a:xfrm>
          <a:prstGeom prst="rect">
            <a:avLst/>
          </a:prstGeom>
          <a:solidFill>
            <a:srgbClr val="5A6B85"/>
          </a:solidFill>
          <a:ln/>
        </p:spPr>
      </p:sp>
      <p:sp>
        <p:nvSpPr>
          <p:cNvPr id="16" name="Text 14"/>
          <p:cNvSpPr/>
          <p:nvPr/>
        </p:nvSpPr>
        <p:spPr>
          <a:xfrm>
            <a:off x="4709666" y="5591175"/>
            <a:ext cx="955328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5A6B85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+2.4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747766" y="5810250"/>
            <a:ext cx="879128" cy="57150"/>
          </a:xfrm>
          <a:prstGeom prst="rect">
            <a:avLst/>
          </a:prstGeom>
          <a:solidFill>
            <a:srgbClr val="5A6B85"/>
          </a:solidFill>
          <a:ln/>
        </p:spPr>
      </p:sp>
      <p:sp>
        <p:nvSpPr>
          <p:cNvPr id="18" name="Text 16"/>
          <p:cNvSpPr/>
          <p:nvPr/>
        </p:nvSpPr>
        <p:spPr>
          <a:xfrm>
            <a:off x="5893891" y="5448300"/>
            <a:ext cx="1028551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125" b="1" dirty="0">
                <a:solidFill>
                  <a:srgbClr val="1C1C1A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146.6</a:t>
            </a:r>
            <a:endParaRPr lang="en-US" sz="1125" dirty="0"/>
          </a:p>
        </p:txBody>
      </p:sp>
      <p:sp>
        <p:nvSpPr>
          <p:cNvPr id="19" name="Shape 17"/>
          <p:cNvSpPr/>
          <p:nvPr/>
        </p:nvSpPr>
        <p:spPr>
          <a:xfrm>
            <a:off x="5931991" y="5810250"/>
            <a:ext cx="952351" cy="3286125"/>
          </a:xfrm>
          <a:prstGeom prst="rect">
            <a:avLst/>
          </a:prstGeom>
          <a:solidFill>
            <a:srgbClr val="1C2A40"/>
          </a:solidFill>
          <a:ln/>
        </p:spPr>
      </p:sp>
      <p:sp>
        <p:nvSpPr>
          <p:cNvPr id="20" name="Text 18"/>
          <p:cNvSpPr/>
          <p:nvPr/>
        </p:nvSpPr>
        <p:spPr>
          <a:xfrm>
            <a:off x="7151340" y="5372100"/>
            <a:ext cx="955328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5A6B85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+12.1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7189440" y="5543550"/>
            <a:ext cx="879128" cy="266700"/>
          </a:xfrm>
          <a:prstGeom prst="rect">
            <a:avLst/>
          </a:prstGeom>
          <a:solidFill>
            <a:srgbClr val="5A6B85"/>
          </a:solidFill>
          <a:ln/>
        </p:spPr>
      </p:sp>
      <p:sp>
        <p:nvSpPr>
          <p:cNvPr id="22" name="Text 20"/>
          <p:cNvSpPr/>
          <p:nvPr/>
        </p:nvSpPr>
        <p:spPr>
          <a:xfrm>
            <a:off x="8372177" y="5372100"/>
            <a:ext cx="955328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9E5A4A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−35.2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8410277" y="5534025"/>
            <a:ext cx="879128" cy="790575"/>
          </a:xfrm>
          <a:prstGeom prst="rect">
            <a:avLst/>
          </a:prstGeom>
          <a:solidFill>
            <a:srgbClr val="9E5A4A"/>
          </a:solidFill>
          <a:ln/>
        </p:spPr>
      </p:sp>
      <p:sp>
        <p:nvSpPr>
          <p:cNvPr id="24" name="Text 22"/>
          <p:cNvSpPr/>
          <p:nvPr/>
        </p:nvSpPr>
        <p:spPr>
          <a:xfrm>
            <a:off x="9593014" y="6162675"/>
            <a:ext cx="955328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9E5A4A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−4.5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9631114" y="6324600"/>
            <a:ext cx="879128" cy="104775"/>
          </a:xfrm>
          <a:prstGeom prst="rect">
            <a:avLst/>
          </a:prstGeom>
          <a:solidFill>
            <a:srgbClr val="9E5A4A"/>
          </a:solidFill>
          <a:ln/>
        </p:spPr>
      </p:sp>
      <p:sp>
        <p:nvSpPr>
          <p:cNvPr id="26" name="Text 24"/>
          <p:cNvSpPr/>
          <p:nvPr/>
        </p:nvSpPr>
        <p:spPr>
          <a:xfrm>
            <a:off x="10777240" y="6067425"/>
            <a:ext cx="1028551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125" b="1" dirty="0">
                <a:solidFill>
                  <a:srgbClr val="1C1C1A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119.1</a:t>
            </a:r>
            <a:endParaRPr lang="en-US" sz="1125" dirty="0"/>
          </a:p>
        </p:txBody>
      </p:sp>
      <p:sp>
        <p:nvSpPr>
          <p:cNvPr id="27" name="Shape 25"/>
          <p:cNvSpPr/>
          <p:nvPr/>
        </p:nvSpPr>
        <p:spPr>
          <a:xfrm>
            <a:off x="10815340" y="6429375"/>
            <a:ext cx="952351" cy="2667000"/>
          </a:xfrm>
          <a:prstGeom prst="rect">
            <a:avLst/>
          </a:prstGeom>
          <a:solidFill>
            <a:srgbClr val="2B3A52"/>
          </a:solidFill>
          <a:ln/>
        </p:spPr>
      </p:sp>
      <p:sp>
        <p:nvSpPr>
          <p:cNvPr id="28" name="Text 26"/>
          <p:cNvSpPr/>
          <p:nvPr/>
        </p:nvSpPr>
        <p:spPr>
          <a:xfrm>
            <a:off x="876300" y="9201150"/>
            <a:ext cx="1297037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013" dirty="0">
                <a:solidFill>
                  <a:srgbClr val="4A4A47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Stabilized real estate</a:t>
            </a:r>
            <a:endParaRPr lang="en-US" sz="1013" dirty="0"/>
          </a:p>
        </p:txBody>
      </p:sp>
      <p:sp>
        <p:nvSpPr>
          <p:cNvPr id="29" name="Text 27"/>
          <p:cNvSpPr/>
          <p:nvPr/>
        </p:nvSpPr>
        <p:spPr>
          <a:xfrm>
            <a:off x="2097137" y="9201150"/>
            <a:ext cx="1297037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013" dirty="0">
                <a:solidFill>
                  <a:srgbClr val="4A4A47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+ Devt pipeline</a:t>
            </a:r>
            <a:endParaRPr lang="en-US" sz="1013" dirty="0"/>
          </a:p>
        </p:txBody>
      </p:sp>
      <p:sp>
        <p:nvSpPr>
          <p:cNvPr id="30" name="Text 28"/>
          <p:cNvSpPr/>
          <p:nvPr/>
        </p:nvSpPr>
        <p:spPr>
          <a:xfrm>
            <a:off x="3317974" y="9201150"/>
            <a:ext cx="1297037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013" dirty="0">
                <a:solidFill>
                  <a:srgbClr val="4A4A47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+ Land bank</a:t>
            </a:r>
            <a:endParaRPr lang="en-US" sz="1013" dirty="0"/>
          </a:p>
        </p:txBody>
      </p:sp>
      <p:sp>
        <p:nvSpPr>
          <p:cNvPr id="31" name="Text 29"/>
          <p:cNvSpPr/>
          <p:nvPr/>
        </p:nvSpPr>
        <p:spPr>
          <a:xfrm>
            <a:off x="4538811" y="9201150"/>
            <a:ext cx="1297037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013" dirty="0">
                <a:solidFill>
                  <a:srgbClr val="4A4A47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+ Strat. capital</a:t>
            </a:r>
            <a:endParaRPr lang="en-US" sz="1013" dirty="0"/>
          </a:p>
        </p:txBody>
      </p:sp>
      <p:sp>
        <p:nvSpPr>
          <p:cNvPr id="32" name="Text 30"/>
          <p:cNvSpPr/>
          <p:nvPr/>
        </p:nvSpPr>
        <p:spPr>
          <a:xfrm>
            <a:off x="5759648" y="9201150"/>
            <a:ext cx="1297037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013" b="1" dirty="0">
                <a:solidFill>
                  <a:srgbClr val="1C1C1A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Gross asset value</a:t>
            </a:r>
            <a:endParaRPr lang="en-US" sz="1013" dirty="0"/>
          </a:p>
        </p:txBody>
      </p:sp>
      <p:sp>
        <p:nvSpPr>
          <p:cNvPr id="33" name="Text 31"/>
          <p:cNvSpPr/>
          <p:nvPr/>
        </p:nvSpPr>
        <p:spPr>
          <a:xfrm>
            <a:off x="6980486" y="9201150"/>
            <a:ext cx="1297037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013" dirty="0">
                <a:solidFill>
                  <a:srgbClr val="4A4A47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+ Cash &amp; JV</a:t>
            </a:r>
            <a:endParaRPr lang="en-US" sz="1013" dirty="0"/>
          </a:p>
        </p:txBody>
      </p:sp>
      <p:sp>
        <p:nvSpPr>
          <p:cNvPr id="34" name="Text 32"/>
          <p:cNvSpPr/>
          <p:nvPr/>
        </p:nvSpPr>
        <p:spPr>
          <a:xfrm>
            <a:off x="8201323" y="9201150"/>
            <a:ext cx="1297037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013" dirty="0">
                <a:solidFill>
                  <a:srgbClr val="4A4A47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− Net debt</a:t>
            </a:r>
            <a:endParaRPr lang="en-US" sz="1013" dirty="0"/>
          </a:p>
        </p:txBody>
      </p:sp>
      <p:sp>
        <p:nvSpPr>
          <p:cNvPr id="35" name="Text 33"/>
          <p:cNvSpPr/>
          <p:nvPr/>
        </p:nvSpPr>
        <p:spPr>
          <a:xfrm>
            <a:off x="9422160" y="9201150"/>
            <a:ext cx="1297037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013" dirty="0">
                <a:solidFill>
                  <a:srgbClr val="4A4A47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− Pref &amp; NCI</a:t>
            </a:r>
            <a:endParaRPr lang="en-US" sz="1013" dirty="0"/>
          </a:p>
        </p:txBody>
      </p:sp>
      <p:sp>
        <p:nvSpPr>
          <p:cNvPr id="36" name="Text 34"/>
          <p:cNvSpPr/>
          <p:nvPr/>
        </p:nvSpPr>
        <p:spPr>
          <a:xfrm>
            <a:off x="10642997" y="9201150"/>
            <a:ext cx="1297037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013" b="1" dirty="0">
                <a:solidFill>
                  <a:srgbClr val="1C1C1A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Equity NAV</a:t>
            </a:r>
            <a:endParaRPr lang="en-US" sz="1013" dirty="0"/>
          </a:p>
        </p:txBody>
      </p:sp>
      <p:sp>
        <p:nvSpPr>
          <p:cNvPr id="37" name="Shape 35"/>
          <p:cNvSpPr/>
          <p:nvPr/>
        </p:nvSpPr>
        <p:spPr>
          <a:xfrm>
            <a:off x="12435929" y="1871663"/>
            <a:ext cx="4937671" cy="14288"/>
          </a:xfrm>
          <a:prstGeom prst="rect">
            <a:avLst/>
          </a:prstGeom>
          <a:solidFill>
            <a:srgbClr val="1C1C1A"/>
          </a:solidFill>
          <a:ln/>
        </p:spPr>
      </p:sp>
      <p:sp>
        <p:nvSpPr>
          <p:cNvPr id="38" name="Text 36"/>
          <p:cNvSpPr/>
          <p:nvPr/>
        </p:nvSpPr>
        <p:spPr>
          <a:xfrm>
            <a:off x="12435929" y="2038350"/>
            <a:ext cx="5431438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b="1" spc="150" kern="0" dirty="0">
                <a:solidFill>
                  <a:srgbClr val="8C8C86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NAV PER SHARE — BASE</a:t>
            </a:r>
            <a:endParaRPr lang="en-US" sz="1125" dirty="0"/>
          </a:p>
        </p:txBody>
      </p:sp>
      <p:sp>
        <p:nvSpPr>
          <p:cNvPr id="39" name="Text 37"/>
          <p:cNvSpPr/>
          <p:nvPr/>
        </p:nvSpPr>
        <p:spPr>
          <a:xfrm>
            <a:off x="12435929" y="2247900"/>
            <a:ext cx="5431438" cy="781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850" dirty="0">
                <a:solidFill>
                  <a:srgbClr val="1C1C1A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$124.43</a:t>
            </a:r>
            <a:endParaRPr lang="en-US" sz="5850" dirty="0"/>
          </a:p>
        </p:txBody>
      </p:sp>
      <p:sp>
        <p:nvSpPr>
          <p:cNvPr id="40" name="Text 38"/>
          <p:cNvSpPr/>
          <p:nvPr/>
        </p:nvSpPr>
        <p:spPr>
          <a:xfrm>
            <a:off x="12435929" y="3048000"/>
            <a:ext cx="5431438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8C8C86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Equity NAV $119.1B ÷ 957.2M shares</a:t>
            </a:r>
            <a:endParaRPr lang="en-US" sz="1350" dirty="0"/>
          </a:p>
        </p:txBody>
      </p:sp>
      <p:sp>
        <p:nvSpPr>
          <p:cNvPr id="41" name="Shape 39"/>
          <p:cNvSpPr/>
          <p:nvPr/>
        </p:nvSpPr>
        <p:spPr>
          <a:xfrm>
            <a:off x="12435929" y="4219575"/>
            <a:ext cx="4937671" cy="9525"/>
          </a:xfrm>
          <a:prstGeom prst="rect">
            <a:avLst/>
          </a:prstGeom>
          <a:solidFill>
            <a:srgbClr val="E3E3DF"/>
          </a:solidFill>
          <a:ln/>
        </p:spPr>
      </p:sp>
      <p:sp>
        <p:nvSpPr>
          <p:cNvPr id="42" name="Shape 40"/>
          <p:cNvSpPr/>
          <p:nvPr/>
        </p:nvSpPr>
        <p:spPr>
          <a:xfrm>
            <a:off x="12435929" y="3457575"/>
            <a:ext cx="4937671" cy="9525"/>
          </a:xfrm>
          <a:prstGeom prst="rect">
            <a:avLst/>
          </a:prstGeom>
          <a:solidFill>
            <a:srgbClr val="E3E3DF"/>
          </a:solidFill>
          <a:ln/>
        </p:spPr>
      </p:sp>
      <p:sp>
        <p:nvSpPr>
          <p:cNvPr id="43" name="Shape 41"/>
          <p:cNvSpPr/>
          <p:nvPr/>
        </p:nvSpPr>
        <p:spPr>
          <a:xfrm>
            <a:off x="14075420" y="3467100"/>
            <a:ext cx="9525" cy="752475"/>
          </a:xfrm>
          <a:prstGeom prst="rect">
            <a:avLst/>
          </a:prstGeom>
          <a:solidFill>
            <a:srgbClr val="E3E3DF"/>
          </a:solidFill>
          <a:ln/>
        </p:spPr>
      </p:sp>
      <p:sp>
        <p:nvSpPr>
          <p:cNvPr id="44" name="Text 42"/>
          <p:cNvSpPr/>
          <p:nvPr/>
        </p:nvSpPr>
        <p:spPr>
          <a:xfrm>
            <a:off x="12353955" y="3600450"/>
            <a:ext cx="1803440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050" b="1" spc="113" kern="0" dirty="0">
                <a:solidFill>
                  <a:srgbClr val="9E5A4A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BEAR</a:t>
            </a:r>
            <a:endParaRPr lang="en-US" sz="1050" dirty="0"/>
          </a:p>
        </p:txBody>
      </p:sp>
      <p:sp>
        <p:nvSpPr>
          <p:cNvPr id="45" name="Text 43"/>
          <p:cNvSpPr/>
          <p:nvPr/>
        </p:nvSpPr>
        <p:spPr>
          <a:xfrm>
            <a:off x="12353955" y="3800475"/>
            <a:ext cx="180344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2250" dirty="0">
                <a:solidFill>
                  <a:srgbClr val="1C1C1A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$98.95</a:t>
            </a:r>
            <a:endParaRPr lang="en-US" sz="2250" dirty="0"/>
          </a:p>
        </p:txBody>
      </p:sp>
      <p:sp>
        <p:nvSpPr>
          <p:cNvPr id="46" name="Shape 44"/>
          <p:cNvSpPr/>
          <p:nvPr/>
        </p:nvSpPr>
        <p:spPr>
          <a:xfrm>
            <a:off x="15724436" y="3467100"/>
            <a:ext cx="9525" cy="752475"/>
          </a:xfrm>
          <a:prstGeom prst="rect">
            <a:avLst/>
          </a:prstGeom>
          <a:solidFill>
            <a:srgbClr val="E3E3DF"/>
          </a:solidFill>
          <a:ln/>
        </p:spPr>
      </p:sp>
      <p:sp>
        <p:nvSpPr>
          <p:cNvPr id="47" name="Text 45"/>
          <p:cNvSpPr/>
          <p:nvPr/>
        </p:nvSpPr>
        <p:spPr>
          <a:xfrm>
            <a:off x="14002970" y="3600450"/>
            <a:ext cx="1803440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050" b="1" spc="113" kern="0" dirty="0">
                <a:solidFill>
                  <a:srgbClr val="2B3A52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BASE</a:t>
            </a:r>
            <a:endParaRPr lang="en-US" sz="1050" dirty="0"/>
          </a:p>
        </p:txBody>
      </p:sp>
      <p:sp>
        <p:nvSpPr>
          <p:cNvPr id="48" name="Text 46"/>
          <p:cNvSpPr/>
          <p:nvPr/>
        </p:nvSpPr>
        <p:spPr>
          <a:xfrm>
            <a:off x="14002970" y="3800475"/>
            <a:ext cx="180344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2250" dirty="0">
                <a:solidFill>
                  <a:srgbClr val="1C1C1A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$124.43</a:t>
            </a:r>
            <a:endParaRPr lang="en-US" sz="2250" dirty="0"/>
          </a:p>
        </p:txBody>
      </p:sp>
      <p:sp>
        <p:nvSpPr>
          <p:cNvPr id="49" name="Text 47"/>
          <p:cNvSpPr/>
          <p:nvPr/>
        </p:nvSpPr>
        <p:spPr>
          <a:xfrm>
            <a:off x="15651986" y="3600450"/>
            <a:ext cx="1803440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050" b="1" spc="113" kern="0" dirty="0">
                <a:solidFill>
                  <a:srgbClr val="5E7A66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BULL</a:t>
            </a:r>
            <a:endParaRPr lang="en-US" sz="1050" dirty="0"/>
          </a:p>
        </p:txBody>
      </p:sp>
      <p:sp>
        <p:nvSpPr>
          <p:cNvPr id="50" name="Text 48"/>
          <p:cNvSpPr/>
          <p:nvPr/>
        </p:nvSpPr>
        <p:spPr>
          <a:xfrm>
            <a:off x="15651986" y="3800475"/>
            <a:ext cx="180344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2250" dirty="0">
                <a:solidFill>
                  <a:srgbClr val="1C1C1A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$145.56</a:t>
            </a:r>
            <a:endParaRPr lang="en-US" sz="2250" dirty="0"/>
          </a:p>
        </p:txBody>
      </p:sp>
      <p:sp>
        <p:nvSpPr>
          <p:cNvPr id="51" name="Shape 49"/>
          <p:cNvSpPr/>
          <p:nvPr/>
        </p:nvSpPr>
        <p:spPr>
          <a:xfrm>
            <a:off x="12435929" y="4772025"/>
            <a:ext cx="4937671" cy="9525"/>
          </a:xfrm>
          <a:prstGeom prst="rect">
            <a:avLst/>
          </a:prstGeom>
          <a:solidFill>
            <a:srgbClr val="E3E3DF"/>
          </a:solidFill>
          <a:ln/>
        </p:spPr>
      </p:sp>
      <p:sp>
        <p:nvSpPr>
          <p:cNvPr id="52" name="Text 50"/>
          <p:cNvSpPr/>
          <p:nvPr/>
        </p:nvSpPr>
        <p:spPr>
          <a:xfrm>
            <a:off x="12435929" y="4429125"/>
            <a:ext cx="2121203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dirty="0">
                <a:solidFill>
                  <a:srgbClr val="4A4A47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NAV cap rate (blended)</a:t>
            </a:r>
            <a:endParaRPr lang="en-US" sz="1425" dirty="0"/>
          </a:p>
        </p:txBody>
      </p:sp>
      <p:sp>
        <p:nvSpPr>
          <p:cNvPr id="53" name="Text 51"/>
          <p:cNvSpPr/>
          <p:nvPr/>
        </p:nvSpPr>
        <p:spPr>
          <a:xfrm>
            <a:off x="16913572" y="4429125"/>
            <a:ext cx="536228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b="1" dirty="0">
                <a:solidFill>
                  <a:srgbClr val="1C1C1A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5.0%</a:t>
            </a:r>
            <a:endParaRPr lang="en-US" sz="1425" dirty="0"/>
          </a:p>
        </p:txBody>
      </p:sp>
      <p:sp>
        <p:nvSpPr>
          <p:cNvPr id="54" name="Shape 52"/>
          <p:cNvSpPr/>
          <p:nvPr/>
        </p:nvSpPr>
        <p:spPr>
          <a:xfrm>
            <a:off x="12435929" y="5248275"/>
            <a:ext cx="4937671" cy="9525"/>
          </a:xfrm>
          <a:prstGeom prst="rect">
            <a:avLst/>
          </a:prstGeom>
          <a:solidFill>
            <a:srgbClr val="E3E3DF"/>
          </a:solidFill>
          <a:ln/>
        </p:spPr>
      </p:sp>
      <p:sp>
        <p:nvSpPr>
          <p:cNvPr id="55" name="Text 53"/>
          <p:cNvSpPr/>
          <p:nvPr/>
        </p:nvSpPr>
        <p:spPr>
          <a:xfrm>
            <a:off x="12435929" y="4905375"/>
            <a:ext cx="1805568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dirty="0">
                <a:solidFill>
                  <a:srgbClr val="4A4A47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Stabilized NOI (fwd)</a:t>
            </a:r>
            <a:endParaRPr lang="en-US" sz="1425" dirty="0"/>
          </a:p>
        </p:txBody>
      </p:sp>
      <p:sp>
        <p:nvSpPr>
          <p:cNvPr id="56" name="Text 54"/>
          <p:cNvSpPr/>
          <p:nvPr/>
        </p:nvSpPr>
        <p:spPr>
          <a:xfrm>
            <a:off x="16555789" y="4905375"/>
            <a:ext cx="894011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b="1" dirty="0">
                <a:solidFill>
                  <a:srgbClr val="1C1C1A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$6,666M</a:t>
            </a:r>
            <a:endParaRPr lang="en-US" sz="1425" dirty="0"/>
          </a:p>
        </p:txBody>
      </p:sp>
      <p:sp>
        <p:nvSpPr>
          <p:cNvPr id="57" name="Shape 55"/>
          <p:cNvSpPr/>
          <p:nvPr/>
        </p:nvSpPr>
        <p:spPr>
          <a:xfrm>
            <a:off x="12435929" y="5724525"/>
            <a:ext cx="4937671" cy="9525"/>
          </a:xfrm>
          <a:prstGeom prst="rect">
            <a:avLst/>
          </a:prstGeom>
          <a:solidFill>
            <a:srgbClr val="E3E3DF"/>
          </a:solidFill>
          <a:ln/>
        </p:spPr>
      </p:sp>
      <p:sp>
        <p:nvSpPr>
          <p:cNvPr id="58" name="Text 56"/>
          <p:cNvSpPr/>
          <p:nvPr/>
        </p:nvSpPr>
        <p:spPr>
          <a:xfrm>
            <a:off x="12435929" y="5381625"/>
            <a:ext cx="1145084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dirty="0">
                <a:solidFill>
                  <a:srgbClr val="4A4A47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FRE multiple</a:t>
            </a:r>
            <a:endParaRPr lang="en-US" sz="1425" dirty="0"/>
          </a:p>
        </p:txBody>
      </p:sp>
      <p:sp>
        <p:nvSpPr>
          <p:cNvPr id="59" name="Text 57"/>
          <p:cNvSpPr/>
          <p:nvPr/>
        </p:nvSpPr>
        <p:spPr>
          <a:xfrm>
            <a:off x="17062996" y="5381625"/>
            <a:ext cx="386804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b="1" dirty="0">
                <a:solidFill>
                  <a:srgbClr val="1C1C1A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13×</a:t>
            </a:r>
            <a:endParaRPr lang="en-US" sz="1425" dirty="0"/>
          </a:p>
        </p:txBody>
      </p:sp>
      <p:sp>
        <p:nvSpPr>
          <p:cNvPr id="60" name="Text 58"/>
          <p:cNvSpPr/>
          <p:nvPr/>
        </p:nvSpPr>
        <p:spPr>
          <a:xfrm>
            <a:off x="12435929" y="5857875"/>
            <a:ext cx="2055882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dirty="0">
                <a:solidFill>
                  <a:srgbClr val="4A4A47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Price premium to NAV</a:t>
            </a:r>
            <a:endParaRPr lang="en-US" sz="1425" dirty="0"/>
          </a:p>
        </p:txBody>
      </p:sp>
      <p:sp>
        <p:nvSpPr>
          <p:cNvPr id="61" name="Text 59"/>
          <p:cNvSpPr/>
          <p:nvPr/>
        </p:nvSpPr>
        <p:spPr>
          <a:xfrm>
            <a:off x="16713250" y="5857875"/>
            <a:ext cx="736550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b="1" dirty="0">
                <a:solidFill>
                  <a:srgbClr val="9E5A4A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+16.5%</a:t>
            </a:r>
            <a:endParaRPr lang="en-US" sz="1425" dirty="0"/>
          </a:p>
        </p:txBody>
      </p:sp>
      <p:sp>
        <p:nvSpPr>
          <p:cNvPr id="62" name="Text 60"/>
          <p:cNvSpPr/>
          <p:nvPr/>
        </p:nvSpPr>
        <p:spPr>
          <a:xfrm>
            <a:off x="12435929" y="6334125"/>
            <a:ext cx="5085801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8C8C86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Cap rate is the dominant lever — ≈$6–7 of NAV/share per 25bps. Land held at book; future starts excluded — conservative.</a:t>
            </a:r>
            <a:endParaRPr lang="en-US" sz="1200" dirty="0"/>
          </a:p>
        </p:txBody>
      </p:sp>
      <p:sp>
        <p:nvSpPr>
          <p:cNvPr id="63" name="Shape 61"/>
          <p:cNvSpPr/>
          <p:nvPr/>
        </p:nvSpPr>
        <p:spPr>
          <a:xfrm>
            <a:off x="914400" y="9505950"/>
            <a:ext cx="16459200" cy="9525"/>
          </a:xfrm>
          <a:prstGeom prst="rect">
            <a:avLst/>
          </a:prstGeom>
          <a:solidFill>
            <a:srgbClr val="E3E3DF"/>
          </a:solidFill>
          <a:ln/>
        </p:spPr>
      </p:sp>
      <p:sp>
        <p:nvSpPr>
          <p:cNvPr id="64" name="Text 62"/>
          <p:cNvSpPr/>
          <p:nvPr/>
        </p:nvSpPr>
        <p:spPr>
          <a:xfrm>
            <a:off x="914400" y="9648825"/>
            <a:ext cx="8611523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A0A09A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Source: model NAV tab, base case. Balance sheet as of Q1 2026. Cap rate anchored to FY2025 disposition evidence (4.9–5.1%).</a:t>
            </a:r>
            <a:endParaRPr lang="en-US" sz="1050" dirty="0"/>
          </a:p>
        </p:txBody>
      </p:sp>
      <p:sp>
        <p:nvSpPr>
          <p:cNvPr id="65" name="Text 63"/>
          <p:cNvSpPr/>
          <p:nvPr/>
        </p:nvSpPr>
        <p:spPr>
          <a:xfrm>
            <a:off x="17191732" y="9648825"/>
            <a:ext cx="258068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4A4A47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06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904875"/>
            <a:ext cx="16459200" cy="14288"/>
          </a:xfrm>
          <a:prstGeom prst="rect">
            <a:avLst/>
          </a:prstGeom>
          <a:solidFill>
            <a:srgbClr val="1C1C1A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590550"/>
            <a:ext cx="2935992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rgbClr val="8C8C86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PROLOGIS, INC. · NYSE: PLD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4345841" y="590550"/>
            <a:ext cx="3330535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rgbClr val="8C8C86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EQUITY RESEARCH — INITIATION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914400" y="1443038"/>
            <a:ext cx="326231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spc="188" kern="0" dirty="0">
                <a:solidFill>
                  <a:srgbClr val="2B3A52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07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335881" y="1147763"/>
            <a:ext cx="8594006" cy="514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750" dirty="0">
                <a:solidFill>
                  <a:srgbClr val="1C1C1A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Discounted Cash Flow — AFFO Equity</a:t>
            </a:r>
            <a:endParaRPr lang="en-US" sz="3750" dirty="0"/>
          </a:p>
        </p:txBody>
      </p:sp>
      <p:sp>
        <p:nvSpPr>
          <p:cNvPr id="7" name="Text 5"/>
          <p:cNvSpPr/>
          <p:nvPr/>
        </p:nvSpPr>
        <p:spPr>
          <a:xfrm>
            <a:off x="914400" y="1871663"/>
            <a:ext cx="7604046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75" b="1" spc="150" kern="0" dirty="0">
                <a:solidFill>
                  <a:srgbClr val="2B3A52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VALUATION BUILD</a:t>
            </a:r>
            <a:endParaRPr lang="en-US" sz="1275" dirty="0"/>
          </a:p>
        </p:txBody>
      </p:sp>
      <p:sp>
        <p:nvSpPr>
          <p:cNvPr id="8" name="Shape 6"/>
          <p:cNvSpPr/>
          <p:nvPr/>
        </p:nvSpPr>
        <p:spPr>
          <a:xfrm>
            <a:off x="914400" y="2728913"/>
            <a:ext cx="6912769" cy="9525"/>
          </a:xfrm>
          <a:prstGeom prst="rect">
            <a:avLst/>
          </a:prstGeom>
          <a:solidFill>
            <a:srgbClr val="E3E3DF"/>
          </a:solidFill>
          <a:ln/>
        </p:spPr>
      </p:sp>
      <p:sp>
        <p:nvSpPr>
          <p:cNvPr id="9" name="Text 7"/>
          <p:cNvSpPr/>
          <p:nvPr/>
        </p:nvSpPr>
        <p:spPr>
          <a:xfrm>
            <a:off x="914400" y="2347913"/>
            <a:ext cx="3089553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75" dirty="0">
                <a:solidFill>
                  <a:srgbClr val="1C1C1A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PV of explicit AFFO </a:t>
            </a:r>
            <a:pPr algn="l" indent="0" marL="0">
              <a:buNone/>
            </a:pPr>
            <a:r>
              <a:rPr lang="en-US" sz="1275" dirty="0">
                <a:solidFill>
                  <a:srgbClr val="8C8C86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FY2026–30</a:t>
            </a:r>
            <a:endParaRPr lang="en-US" sz="1575" dirty="0"/>
          </a:p>
        </p:txBody>
      </p:sp>
      <p:sp>
        <p:nvSpPr>
          <p:cNvPr id="10" name="Text 8"/>
          <p:cNvSpPr/>
          <p:nvPr/>
        </p:nvSpPr>
        <p:spPr>
          <a:xfrm>
            <a:off x="7099102" y="2338388"/>
            <a:ext cx="804267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1C1C1A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$22.2B</a:t>
            </a:r>
            <a:endParaRPr lang="en-US" sz="1650" dirty="0"/>
          </a:p>
        </p:txBody>
      </p:sp>
      <p:sp>
        <p:nvSpPr>
          <p:cNvPr id="11" name="Shape 9"/>
          <p:cNvSpPr/>
          <p:nvPr/>
        </p:nvSpPr>
        <p:spPr>
          <a:xfrm>
            <a:off x="914400" y="3271838"/>
            <a:ext cx="6912769" cy="9525"/>
          </a:xfrm>
          <a:prstGeom prst="rect">
            <a:avLst/>
          </a:prstGeom>
          <a:solidFill>
            <a:srgbClr val="E3E3DF"/>
          </a:solidFill>
          <a:ln/>
        </p:spPr>
      </p:sp>
      <p:sp>
        <p:nvSpPr>
          <p:cNvPr id="12" name="Text 10"/>
          <p:cNvSpPr/>
          <p:nvPr/>
        </p:nvSpPr>
        <p:spPr>
          <a:xfrm>
            <a:off x="914400" y="2890838"/>
            <a:ext cx="2222703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75" dirty="0">
                <a:solidFill>
                  <a:srgbClr val="1C1C1A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+ PV of terminal value</a:t>
            </a:r>
            <a:endParaRPr lang="en-US" sz="1575" dirty="0"/>
          </a:p>
        </p:txBody>
      </p:sp>
      <p:sp>
        <p:nvSpPr>
          <p:cNvPr id="13" name="Text 11"/>
          <p:cNvSpPr/>
          <p:nvPr/>
        </p:nvSpPr>
        <p:spPr>
          <a:xfrm>
            <a:off x="7072908" y="2881313"/>
            <a:ext cx="830461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1C1C1A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$96.3B</a:t>
            </a:r>
            <a:endParaRPr lang="en-US" sz="1650" dirty="0"/>
          </a:p>
        </p:txBody>
      </p:sp>
      <p:sp>
        <p:nvSpPr>
          <p:cNvPr id="14" name="Shape 12"/>
          <p:cNvSpPr/>
          <p:nvPr/>
        </p:nvSpPr>
        <p:spPr>
          <a:xfrm>
            <a:off x="914400" y="3814763"/>
            <a:ext cx="6912769" cy="14288"/>
          </a:xfrm>
          <a:prstGeom prst="rect">
            <a:avLst/>
          </a:prstGeom>
          <a:solidFill>
            <a:srgbClr val="1C1C1A"/>
          </a:solidFill>
          <a:ln/>
        </p:spPr>
      </p:sp>
      <p:sp>
        <p:nvSpPr>
          <p:cNvPr id="15" name="Text 13"/>
          <p:cNvSpPr/>
          <p:nvPr/>
        </p:nvSpPr>
        <p:spPr>
          <a:xfrm>
            <a:off x="914400" y="3433763"/>
            <a:ext cx="1235273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75" b="1" dirty="0">
                <a:solidFill>
                  <a:srgbClr val="1C1C1A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Equity value</a:t>
            </a:r>
            <a:endParaRPr lang="en-US" sz="1575" dirty="0"/>
          </a:p>
        </p:txBody>
      </p:sp>
      <p:sp>
        <p:nvSpPr>
          <p:cNvPr id="16" name="Text 14"/>
          <p:cNvSpPr/>
          <p:nvPr/>
        </p:nvSpPr>
        <p:spPr>
          <a:xfrm>
            <a:off x="6987778" y="3424238"/>
            <a:ext cx="915591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1C1C1A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$118.5B</a:t>
            </a:r>
            <a:endParaRPr lang="en-US" sz="1650" dirty="0"/>
          </a:p>
        </p:txBody>
      </p:sp>
      <p:sp>
        <p:nvSpPr>
          <p:cNvPr id="17" name="Text 15"/>
          <p:cNvSpPr/>
          <p:nvPr/>
        </p:nvSpPr>
        <p:spPr>
          <a:xfrm>
            <a:off x="914400" y="3952875"/>
            <a:ext cx="2148051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dirty="0">
                <a:solidFill>
                  <a:srgbClr val="8C8C86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÷ 957.2M shares / units</a:t>
            </a:r>
            <a:endParaRPr lang="en-US" sz="1425" dirty="0"/>
          </a:p>
        </p:txBody>
      </p:sp>
      <p:sp>
        <p:nvSpPr>
          <p:cNvPr id="18" name="Shape 16"/>
          <p:cNvSpPr/>
          <p:nvPr/>
        </p:nvSpPr>
        <p:spPr>
          <a:xfrm>
            <a:off x="914400" y="4333875"/>
            <a:ext cx="6912769" cy="14288"/>
          </a:xfrm>
          <a:prstGeom prst="rect">
            <a:avLst/>
          </a:prstGeom>
          <a:solidFill>
            <a:srgbClr val="1C1C1A"/>
          </a:solidFill>
          <a:ln/>
        </p:spPr>
      </p:sp>
      <p:sp>
        <p:nvSpPr>
          <p:cNvPr id="19" name="Text 17"/>
          <p:cNvSpPr/>
          <p:nvPr/>
        </p:nvSpPr>
        <p:spPr>
          <a:xfrm>
            <a:off x="914400" y="4500563"/>
            <a:ext cx="7604046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b="1" spc="150" kern="0" dirty="0">
                <a:solidFill>
                  <a:srgbClr val="8C8C86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DCF VALUE PER SHARE</a:t>
            </a:r>
            <a:endParaRPr lang="en-US" sz="1125" dirty="0"/>
          </a:p>
        </p:txBody>
      </p:sp>
      <p:sp>
        <p:nvSpPr>
          <p:cNvPr id="20" name="Text 18"/>
          <p:cNvSpPr/>
          <p:nvPr/>
        </p:nvSpPr>
        <p:spPr>
          <a:xfrm>
            <a:off x="914400" y="4691063"/>
            <a:ext cx="7604046" cy="781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850" dirty="0">
                <a:solidFill>
                  <a:srgbClr val="1C1C1A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$123.77</a:t>
            </a:r>
            <a:endParaRPr lang="en-US" sz="5850" dirty="0"/>
          </a:p>
        </p:txBody>
      </p:sp>
      <p:sp>
        <p:nvSpPr>
          <p:cNvPr id="21" name="Text 19"/>
          <p:cNvSpPr/>
          <p:nvPr/>
        </p:nvSpPr>
        <p:spPr>
          <a:xfrm>
            <a:off x="914400" y="5472113"/>
            <a:ext cx="7604046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9E5A4A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−14.6% vs $145 current price</a:t>
            </a:r>
            <a:endParaRPr lang="en-US" sz="1350" dirty="0"/>
          </a:p>
        </p:txBody>
      </p:sp>
      <p:sp>
        <p:nvSpPr>
          <p:cNvPr id="22" name="Shape 20"/>
          <p:cNvSpPr/>
          <p:nvPr/>
        </p:nvSpPr>
        <p:spPr>
          <a:xfrm>
            <a:off x="914400" y="5881688"/>
            <a:ext cx="1642467" cy="9525"/>
          </a:xfrm>
          <a:prstGeom prst="rect">
            <a:avLst/>
          </a:prstGeom>
          <a:solidFill>
            <a:srgbClr val="CFCFC9"/>
          </a:solidFill>
          <a:ln/>
        </p:spPr>
      </p:sp>
      <p:sp>
        <p:nvSpPr>
          <p:cNvPr id="23" name="Text 21"/>
          <p:cNvSpPr/>
          <p:nvPr/>
        </p:nvSpPr>
        <p:spPr>
          <a:xfrm>
            <a:off x="914400" y="5986463"/>
            <a:ext cx="1806714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spc="38" kern="0" dirty="0">
                <a:solidFill>
                  <a:srgbClr val="8C8C86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Discount rate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914400" y="6148388"/>
            <a:ext cx="1806714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C1C1A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7.5%</a:t>
            </a:r>
            <a:endParaRPr lang="en-US" sz="1800" dirty="0"/>
          </a:p>
        </p:txBody>
      </p:sp>
      <p:sp>
        <p:nvSpPr>
          <p:cNvPr id="25" name="Shape 23"/>
          <p:cNvSpPr/>
          <p:nvPr/>
        </p:nvSpPr>
        <p:spPr>
          <a:xfrm>
            <a:off x="2671167" y="5881688"/>
            <a:ext cx="1642467" cy="9525"/>
          </a:xfrm>
          <a:prstGeom prst="rect">
            <a:avLst/>
          </a:prstGeom>
          <a:solidFill>
            <a:srgbClr val="CFCFC9"/>
          </a:solidFill>
          <a:ln/>
        </p:spPr>
      </p:sp>
      <p:sp>
        <p:nvSpPr>
          <p:cNvPr id="26" name="Text 24"/>
          <p:cNvSpPr/>
          <p:nvPr/>
        </p:nvSpPr>
        <p:spPr>
          <a:xfrm>
            <a:off x="2671167" y="5986463"/>
            <a:ext cx="1806714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spc="38" kern="0" dirty="0">
                <a:solidFill>
                  <a:srgbClr val="8C8C86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Terminal g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2671167" y="6148388"/>
            <a:ext cx="1806714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C1C1A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2.5%</a:t>
            </a:r>
            <a:endParaRPr lang="en-US" sz="1800" dirty="0"/>
          </a:p>
        </p:txBody>
      </p:sp>
      <p:sp>
        <p:nvSpPr>
          <p:cNvPr id="28" name="Shape 26"/>
          <p:cNvSpPr/>
          <p:nvPr/>
        </p:nvSpPr>
        <p:spPr>
          <a:xfrm>
            <a:off x="4427934" y="5881688"/>
            <a:ext cx="1642467" cy="9525"/>
          </a:xfrm>
          <a:prstGeom prst="rect">
            <a:avLst/>
          </a:prstGeom>
          <a:solidFill>
            <a:srgbClr val="CFCFC9"/>
          </a:solidFill>
          <a:ln/>
        </p:spPr>
      </p:sp>
      <p:sp>
        <p:nvSpPr>
          <p:cNvPr id="29" name="Text 27"/>
          <p:cNvSpPr/>
          <p:nvPr/>
        </p:nvSpPr>
        <p:spPr>
          <a:xfrm>
            <a:off x="4427934" y="5986463"/>
            <a:ext cx="1806714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spc="38" kern="0" dirty="0">
                <a:solidFill>
                  <a:srgbClr val="8C8C86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Term. mult.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4427934" y="6148388"/>
            <a:ext cx="1806714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C1C1A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20.5×</a:t>
            </a:r>
            <a:endParaRPr lang="en-US" sz="1800" dirty="0"/>
          </a:p>
        </p:txBody>
      </p:sp>
      <p:sp>
        <p:nvSpPr>
          <p:cNvPr id="31" name="Shape 29"/>
          <p:cNvSpPr/>
          <p:nvPr/>
        </p:nvSpPr>
        <p:spPr>
          <a:xfrm>
            <a:off x="6184702" y="5881688"/>
            <a:ext cx="1642467" cy="9525"/>
          </a:xfrm>
          <a:prstGeom prst="rect">
            <a:avLst/>
          </a:prstGeom>
          <a:solidFill>
            <a:srgbClr val="CFCFC9"/>
          </a:solidFill>
          <a:ln/>
        </p:spPr>
      </p:sp>
      <p:sp>
        <p:nvSpPr>
          <p:cNvPr id="32" name="Text 30"/>
          <p:cNvSpPr/>
          <p:nvPr/>
        </p:nvSpPr>
        <p:spPr>
          <a:xfrm>
            <a:off x="6184702" y="5986463"/>
            <a:ext cx="1806714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spc="38" kern="0" dirty="0">
                <a:solidFill>
                  <a:srgbClr val="8C8C86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TV % of value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6184702" y="6148388"/>
            <a:ext cx="1806714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C1C1A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81%</a:t>
            </a:r>
            <a:endParaRPr lang="en-US" sz="1800" dirty="0"/>
          </a:p>
        </p:txBody>
      </p:sp>
      <p:sp>
        <p:nvSpPr>
          <p:cNvPr id="34" name="Text 32"/>
          <p:cNvSpPr/>
          <p:nvPr/>
        </p:nvSpPr>
        <p:spPr>
          <a:xfrm>
            <a:off x="8398669" y="1871663"/>
            <a:ext cx="3418121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75" b="1" spc="150" kern="0" dirty="0">
                <a:solidFill>
                  <a:srgbClr val="2B3A52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SENSITIVITY — DCF / SHARE ($)</a:t>
            </a:r>
            <a:endParaRPr lang="en-US" sz="1275" dirty="0"/>
          </a:p>
        </p:txBody>
      </p:sp>
      <p:sp>
        <p:nvSpPr>
          <p:cNvPr id="35" name="Text 33"/>
          <p:cNvSpPr/>
          <p:nvPr/>
        </p:nvSpPr>
        <p:spPr>
          <a:xfrm>
            <a:off x="14950678" y="1881187"/>
            <a:ext cx="2665214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dirty="0">
                <a:solidFill>
                  <a:srgbClr val="8C8C86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discount rate ↓ × terminal growth →</a:t>
            </a:r>
            <a:endParaRPr lang="en-US" sz="1125" dirty="0"/>
          </a:p>
        </p:txBody>
      </p:sp>
      <p:sp>
        <p:nvSpPr>
          <p:cNvPr id="36" name="Shape 34"/>
          <p:cNvSpPr/>
          <p:nvPr/>
        </p:nvSpPr>
        <p:spPr>
          <a:xfrm>
            <a:off x="8398669" y="2614613"/>
            <a:ext cx="8974931" cy="14288"/>
          </a:xfrm>
          <a:prstGeom prst="rect">
            <a:avLst/>
          </a:prstGeom>
          <a:solidFill>
            <a:srgbClr val="1C1C1A"/>
          </a:solidFill>
          <a:ln/>
        </p:spPr>
      </p:sp>
      <p:sp>
        <p:nvSpPr>
          <p:cNvPr id="37" name="Text 35"/>
          <p:cNvSpPr/>
          <p:nvPr/>
        </p:nvSpPr>
        <p:spPr>
          <a:xfrm>
            <a:off x="8455819" y="2319338"/>
            <a:ext cx="2019300" cy="242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8C8C86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WACC \ g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10475119" y="2319338"/>
            <a:ext cx="1283047" cy="242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C1C1A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1.5%</a:t>
            </a:r>
            <a:endParaRPr lang="en-US" sz="1350" dirty="0"/>
          </a:p>
        </p:txBody>
      </p:sp>
      <p:sp>
        <p:nvSpPr>
          <p:cNvPr id="39" name="Text 37"/>
          <p:cNvSpPr/>
          <p:nvPr/>
        </p:nvSpPr>
        <p:spPr>
          <a:xfrm>
            <a:off x="11796266" y="2319338"/>
            <a:ext cx="1356717" cy="242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C1C1A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2.0%</a:t>
            </a:r>
            <a:endParaRPr lang="en-US" sz="1350" dirty="0"/>
          </a:p>
        </p:txBody>
      </p:sp>
      <p:sp>
        <p:nvSpPr>
          <p:cNvPr id="40" name="Text 38"/>
          <p:cNvSpPr/>
          <p:nvPr/>
        </p:nvSpPr>
        <p:spPr>
          <a:xfrm>
            <a:off x="13191083" y="2319338"/>
            <a:ext cx="1362819" cy="242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2B3A52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2.5%</a:t>
            </a:r>
            <a:endParaRPr lang="en-US" sz="1350" dirty="0"/>
          </a:p>
        </p:txBody>
      </p:sp>
      <p:sp>
        <p:nvSpPr>
          <p:cNvPr id="41" name="Text 39"/>
          <p:cNvSpPr/>
          <p:nvPr/>
        </p:nvSpPr>
        <p:spPr>
          <a:xfrm>
            <a:off x="14592002" y="2319338"/>
            <a:ext cx="1369665" cy="242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C1C1A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3.0%</a:t>
            </a:r>
            <a:endParaRPr lang="en-US" sz="1350" dirty="0"/>
          </a:p>
        </p:txBody>
      </p:sp>
      <p:sp>
        <p:nvSpPr>
          <p:cNvPr id="42" name="Text 40"/>
          <p:cNvSpPr/>
          <p:nvPr/>
        </p:nvSpPr>
        <p:spPr>
          <a:xfrm>
            <a:off x="15999768" y="2319338"/>
            <a:ext cx="1355229" cy="242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C1C1A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3.5%</a:t>
            </a:r>
            <a:endParaRPr lang="en-US" sz="1350" dirty="0"/>
          </a:p>
        </p:txBody>
      </p:sp>
      <p:sp>
        <p:nvSpPr>
          <p:cNvPr id="43" name="Text 41"/>
          <p:cNvSpPr/>
          <p:nvPr/>
        </p:nvSpPr>
        <p:spPr>
          <a:xfrm>
            <a:off x="8455819" y="2752725"/>
            <a:ext cx="2019300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4A4A47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6.5%</a:t>
            </a:r>
            <a:endParaRPr lang="en-US" sz="1350" dirty="0"/>
          </a:p>
        </p:txBody>
      </p:sp>
      <p:sp>
        <p:nvSpPr>
          <p:cNvPr id="44" name="Text 42"/>
          <p:cNvSpPr/>
          <p:nvPr/>
        </p:nvSpPr>
        <p:spPr>
          <a:xfrm>
            <a:off x="10475119" y="2752725"/>
            <a:ext cx="1283047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425" dirty="0">
                <a:solidFill>
                  <a:srgbClr val="1C1C1A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128</a:t>
            </a:r>
            <a:endParaRPr lang="en-US" sz="1425" dirty="0"/>
          </a:p>
        </p:txBody>
      </p:sp>
      <p:sp>
        <p:nvSpPr>
          <p:cNvPr id="45" name="Shape 43"/>
          <p:cNvSpPr/>
          <p:nvPr/>
        </p:nvSpPr>
        <p:spPr>
          <a:xfrm>
            <a:off x="11777216" y="2628900"/>
            <a:ext cx="1394817" cy="476250"/>
          </a:xfrm>
          <a:prstGeom prst="rect">
            <a:avLst/>
          </a:prstGeom>
          <a:solidFill>
            <a:srgbClr val="EAF0EC"/>
          </a:solidFill>
          <a:ln/>
        </p:spPr>
      </p:sp>
      <p:sp>
        <p:nvSpPr>
          <p:cNvPr id="46" name="Text 44"/>
          <p:cNvSpPr/>
          <p:nvPr/>
        </p:nvSpPr>
        <p:spPr>
          <a:xfrm>
            <a:off x="11796266" y="2752725"/>
            <a:ext cx="1356717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425" dirty="0">
                <a:solidFill>
                  <a:srgbClr val="1C1C1A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140</a:t>
            </a:r>
            <a:endParaRPr lang="en-US" sz="1425" dirty="0"/>
          </a:p>
        </p:txBody>
      </p:sp>
      <p:sp>
        <p:nvSpPr>
          <p:cNvPr id="47" name="Shape 45"/>
          <p:cNvSpPr/>
          <p:nvPr/>
        </p:nvSpPr>
        <p:spPr>
          <a:xfrm>
            <a:off x="13172033" y="2628900"/>
            <a:ext cx="1400919" cy="476250"/>
          </a:xfrm>
          <a:prstGeom prst="rect">
            <a:avLst/>
          </a:prstGeom>
          <a:solidFill>
            <a:srgbClr val="EAF0EC"/>
          </a:solidFill>
          <a:ln/>
        </p:spPr>
      </p:sp>
      <p:sp>
        <p:nvSpPr>
          <p:cNvPr id="48" name="Text 46"/>
          <p:cNvSpPr/>
          <p:nvPr/>
        </p:nvSpPr>
        <p:spPr>
          <a:xfrm>
            <a:off x="13191083" y="2752725"/>
            <a:ext cx="1362819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425" dirty="0">
                <a:solidFill>
                  <a:srgbClr val="1C1C1A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156</a:t>
            </a:r>
            <a:endParaRPr lang="en-US" sz="1425" dirty="0"/>
          </a:p>
        </p:txBody>
      </p:sp>
      <p:sp>
        <p:nvSpPr>
          <p:cNvPr id="49" name="Shape 47"/>
          <p:cNvSpPr/>
          <p:nvPr/>
        </p:nvSpPr>
        <p:spPr>
          <a:xfrm>
            <a:off x="14572952" y="2628900"/>
            <a:ext cx="1407765" cy="476250"/>
          </a:xfrm>
          <a:prstGeom prst="rect">
            <a:avLst/>
          </a:prstGeom>
          <a:solidFill>
            <a:srgbClr val="DCE7DF"/>
          </a:solidFill>
          <a:ln/>
        </p:spPr>
      </p:sp>
      <p:sp>
        <p:nvSpPr>
          <p:cNvPr id="50" name="Text 48"/>
          <p:cNvSpPr/>
          <p:nvPr/>
        </p:nvSpPr>
        <p:spPr>
          <a:xfrm>
            <a:off x="14592002" y="2752725"/>
            <a:ext cx="1369665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425" dirty="0">
                <a:solidFill>
                  <a:srgbClr val="1C1C1A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175</a:t>
            </a:r>
            <a:endParaRPr lang="en-US" sz="1425" dirty="0"/>
          </a:p>
        </p:txBody>
      </p:sp>
      <p:sp>
        <p:nvSpPr>
          <p:cNvPr id="51" name="Shape 49"/>
          <p:cNvSpPr/>
          <p:nvPr/>
        </p:nvSpPr>
        <p:spPr>
          <a:xfrm>
            <a:off x="15980718" y="2628900"/>
            <a:ext cx="1393329" cy="476250"/>
          </a:xfrm>
          <a:prstGeom prst="rect">
            <a:avLst/>
          </a:prstGeom>
          <a:solidFill>
            <a:srgbClr val="DCE7DF"/>
          </a:solidFill>
          <a:ln/>
        </p:spPr>
      </p:sp>
      <p:sp>
        <p:nvSpPr>
          <p:cNvPr id="52" name="Text 50"/>
          <p:cNvSpPr/>
          <p:nvPr/>
        </p:nvSpPr>
        <p:spPr>
          <a:xfrm>
            <a:off x="15999768" y="2752725"/>
            <a:ext cx="1355229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425" dirty="0">
                <a:solidFill>
                  <a:srgbClr val="1C1C1A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201</a:t>
            </a:r>
            <a:endParaRPr lang="en-US" sz="1425" dirty="0"/>
          </a:p>
        </p:txBody>
      </p:sp>
      <p:sp>
        <p:nvSpPr>
          <p:cNvPr id="53" name="Text 51"/>
          <p:cNvSpPr/>
          <p:nvPr/>
        </p:nvSpPr>
        <p:spPr>
          <a:xfrm>
            <a:off x="8455819" y="3228975"/>
            <a:ext cx="2019300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4A4A47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7.0%</a:t>
            </a:r>
            <a:endParaRPr lang="en-US" sz="1350" dirty="0"/>
          </a:p>
        </p:txBody>
      </p:sp>
      <p:sp>
        <p:nvSpPr>
          <p:cNvPr id="54" name="Text 52"/>
          <p:cNvSpPr/>
          <p:nvPr/>
        </p:nvSpPr>
        <p:spPr>
          <a:xfrm>
            <a:off x="10475119" y="3228975"/>
            <a:ext cx="1283047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425" dirty="0">
                <a:solidFill>
                  <a:srgbClr val="1C1C1A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116</a:t>
            </a:r>
            <a:endParaRPr lang="en-US" sz="1425" dirty="0"/>
          </a:p>
        </p:txBody>
      </p:sp>
      <p:sp>
        <p:nvSpPr>
          <p:cNvPr id="55" name="Text 53"/>
          <p:cNvSpPr/>
          <p:nvPr/>
        </p:nvSpPr>
        <p:spPr>
          <a:xfrm>
            <a:off x="11796266" y="3228975"/>
            <a:ext cx="1356717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425" dirty="0">
                <a:solidFill>
                  <a:srgbClr val="1C1C1A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126</a:t>
            </a:r>
            <a:endParaRPr lang="en-US" sz="1425" dirty="0"/>
          </a:p>
        </p:txBody>
      </p:sp>
      <p:sp>
        <p:nvSpPr>
          <p:cNvPr id="56" name="Shape 54"/>
          <p:cNvSpPr/>
          <p:nvPr/>
        </p:nvSpPr>
        <p:spPr>
          <a:xfrm>
            <a:off x="13172033" y="3105150"/>
            <a:ext cx="1400919" cy="466725"/>
          </a:xfrm>
          <a:prstGeom prst="rect">
            <a:avLst/>
          </a:prstGeom>
          <a:solidFill>
            <a:srgbClr val="EAF0EC"/>
          </a:solidFill>
          <a:ln/>
        </p:spPr>
      </p:sp>
      <p:sp>
        <p:nvSpPr>
          <p:cNvPr id="57" name="Text 55"/>
          <p:cNvSpPr/>
          <p:nvPr/>
        </p:nvSpPr>
        <p:spPr>
          <a:xfrm>
            <a:off x="13191083" y="3228975"/>
            <a:ext cx="1362819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425" dirty="0">
                <a:solidFill>
                  <a:srgbClr val="1C1C1A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138</a:t>
            </a:r>
            <a:endParaRPr lang="en-US" sz="1425" dirty="0"/>
          </a:p>
        </p:txBody>
      </p:sp>
      <p:sp>
        <p:nvSpPr>
          <p:cNvPr id="58" name="Shape 56"/>
          <p:cNvSpPr/>
          <p:nvPr/>
        </p:nvSpPr>
        <p:spPr>
          <a:xfrm>
            <a:off x="14572952" y="3105150"/>
            <a:ext cx="1407765" cy="466725"/>
          </a:xfrm>
          <a:prstGeom prst="rect">
            <a:avLst/>
          </a:prstGeom>
          <a:solidFill>
            <a:srgbClr val="EAF0EC"/>
          </a:solidFill>
          <a:ln/>
        </p:spPr>
      </p:sp>
      <p:sp>
        <p:nvSpPr>
          <p:cNvPr id="59" name="Text 57"/>
          <p:cNvSpPr/>
          <p:nvPr/>
        </p:nvSpPr>
        <p:spPr>
          <a:xfrm>
            <a:off x="14592002" y="3228975"/>
            <a:ext cx="1369665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425" dirty="0">
                <a:solidFill>
                  <a:srgbClr val="1C1C1A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153</a:t>
            </a:r>
            <a:endParaRPr lang="en-US" sz="1425" dirty="0"/>
          </a:p>
        </p:txBody>
      </p:sp>
      <p:sp>
        <p:nvSpPr>
          <p:cNvPr id="60" name="Shape 58"/>
          <p:cNvSpPr/>
          <p:nvPr/>
        </p:nvSpPr>
        <p:spPr>
          <a:xfrm>
            <a:off x="15980718" y="3105150"/>
            <a:ext cx="1393329" cy="466725"/>
          </a:xfrm>
          <a:prstGeom prst="rect">
            <a:avLst/>
          </a:prstGeom>
          <a:solidFill>
            <a:srgbClr val="DCE7DF"/>
          </a:solidFill>
          <a:ln/>
        </p:spPr>
      </p:sp>
      <p:sp>
        <p:nvSpPr>
          <p:cNvPr id="61" name="Text 59"/>
          <p:cNvSpPr/>
          <p:nvPr/>
        </p:nvSpPr>
        <p:spPr>
          <a:xfrm>
            <a:off x="15999768" y="3228975"/>
            <a:ext cx="1355229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425" dirty="0">
                <a:solidFill>
                  <a:srgbClr val="1C1C1A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172</a:t>
            </a:r>
            <a:endParaRPr lang="en-US" sz="1425" dirty="0"/>
          </a:p>
        </p:txBody>
      </p:sp>
      <p:sp>
        <p:nvSpPr>
          <p:cNvPr id="62" name="Text 60"/>
          <p:cNvSpPr/>
          <p:nvPr/>
        </p:nvSpPr>
        <p:spPr>
          <a:xfrm>
            <a:off x="8455819" y="3695700"/>
            <a:ext cx="2019300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4A4A47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7.5%</a:t>
            </a:r>
            <a:endParaRPr lang="en-US" sz="1350" dirty="0"/>
          </a:p>
        </p:txBody>
      </p:sp>
      <p:sp>
        <p:nvSpPr>
          <p:cNvPr id="63" name="Text 61"/>
          <p:cNvSpPr/>
          <p:nvPr/>
        </p:nvSpPr>
        <p:spPr>
          <a:xfrm>
            <a:off x="10475119" y="3695700"/>
            <a:ext cx="1283047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425" dirty="0">
                <a:solidFill>
                  <a:srgbClr val="1C1C1A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106</a:t>
            </a:r>
            <a:endParaRPr lang="en-US" sz="1425" dirty="0"/>
          </a:p>
        </p:txBody>
      </p:sp>
      <p:sp>
        <p:nvSpPr>
          <p:cNvPr id="64" name="Text 62"/>
          <p:cNvSpPr/>
          <p:nvPr/>
        </p:nvSpPr>
        <p:spPr>
          <a:xfrm>
            <a:off x="11796266" y="3695700"/>
            <a:ext cx="1356717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425" dirty="0">
                <a:solidFill>
                  <a:srgbClr val="1C1C1A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114</a:t>
            </a:r>
            <a:endParaRPr lang="en-US" sz="1425" dirty="0"/>
          </a:p>
        </p:txBody>
      </p:sp>
      <p:sp>
        <p:nvSpPr>
          <p:cNvPr id="65" name="Shape 63"/>
          <p:cNvSpPr/>
          <p:nvPr/>
        </p:nvSpPr>
        <p:spPr>
          <a:xfrm>
            <a:off x="13172033" y="3571875"/>
            <a:ext cx="1400919" cy="476250"/>
          </a:xfrm>
          <a:prstGeom prst="rect">
            <a:avLst/>
          </a:prstGeom>
          <a:solidFill>
            <a:srgbClr val="2B3A52"/>
          </a:solidFill>
          <a:ln/>
        </p:spPr>
      </p:sp>
      <p:sp>
        <p:nvSpPr>
          <p:cNvPr id="66" name="Text 64"/>
          <p:cNvSpPr/>
          <p:nvPr/>
        </p:nvSpPr>
        <p:spPr>
          <a:xfrm>
            <a:off x="13191083" y="3695700"/>
            <a:ext cx="1362819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124</a:t>
            </a:r>
            <a:endParaRPr lang="en-US" sz="1500" dirty="0"/>
          </a:p>
        </p:txBody>
      </p:sp>
      <p:sp>
        <p:nvSpPr>
          <p:cNvPr id="67" name="Text 65"/>
          <p:cNvSpPr/>
          <p:nvPr/>
        </p:nvSpPr>
        <p:spPr>
          <a:xfrm>
            <a:off x="14592002" y="3695700"/>
            <a:ext cx="1369665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425" dirty="0">
                <a:solidFill>
                  <a:srgbClr val="1C1C1A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135</a:t>
            </a:r>
            <a:endParaRPr lang="en-US" sz="1425" dirty="0"/>
          </a:p>
        </p:txBody>
      </p:sp>
      <p:sp>
        <p:nvSpPr>
          <p:cNvPr id="68" name="Shape 66"/>
          <p:cNvSpPr/>
          <p:nvPr/>
        </p:nvSpPr>
        <p:spPr>
          <a:xfrm>
            <a:off x="15980718" y="3571875"/>
            <a:ext cx="1393329" cy="476250"/>
          </a:xfrm>
          <a:prstGeom prst="rect">
            <a:avLst/>
          </a:prstGeom>
          <a:solidFill>
            <a:srgbClr val="EAF0EC"/>
          </a:solidFill>
          <a:ln/>
        </p:spPr>
      </p:sp>
      <p:sp>
        <p:nvSpPr>
          <p:cNvPr id="69" name="Text 67"/>
          <p:cNvSpPr/>
          <p:nvPr/>
        </p:nvSpPr>
        <p:spPr>
          <a:xfrm>
            <a:off x="15999768" y="3695700"/>
            <a:ext cx="1355229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425" dirty="0">
                <a:solidFill>
                  <a:srgbClr val="1C1C1A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150</a:t>
            </a:r>
            <a:endParaRPr lang="en-US" sz="1425" dirty="0"/>
          </a:p>
        </p:txBody>
      </p:sp>
      <p:sp>
        <p:nvSpPr>
          <p:cNvPr id="70" name="Text 68"/>
          <p:cNvSpPr/>
          <p:nvPr/>
        </p:nvSpPr>
        <p:spPr>
          <a:xfrm>
            <a:off x="8455819" y="4171950"/>
            <a:ext cx="2019300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4A4A47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8.0%</a:t>
            </a:r>
            <a:endParaRPr lang="en-US" sz="1350" dirty="0"/>
          </a:p>
        </p:txBody>
      </p:sp>
      <p:sp>
        <p:nvSpPr>
          <p:cNvPr id="71" name="Shape 69"/>
          <p:cNvSpPr/>
          <p:nvPr/>
        </p:nvSpPr>
        <p:spPr>
          <a:xfrm>
            <a:off x="10456069" y="4048125"/>
            <a:ext cx="1321147" cy="466725"/>
          </a:xfrm>
          <a:prstGeom prst="rect">
            <a:avLst/>
          </a:prstGeom>
          <a:solidFill>
            <a:srgbClr val="F4ECE8"/>
          </a:solidFill>
          <a:ln/>
        </p:spPr>
      </p:sp>
      <p:sp>
        <p:nvSpPr>
          <p:cNvPr id="72" name="Text 70"/>
          <p:cNvSpPr/>
          <p:nvPr/>
        </p:nvSpPr>
        <p:spPr>
          <a:xfrm>
            <a:off x="10475119" y="4171950"/>
            <a:ext cx="1283047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425" dirty="0">
                <a:solidFill>
                  <a:srgbClr val="1C1C1A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98</a:t>
            </a:r>
            <a:endParaRPr lang="en-US" sz="1425" dirty="0"/>
          </a:p>
        </p:txBody>
      </p:sp>
      <p:sp>
        <p:nvSpPr>
          <p:cNvPr id="73" name="Shape 71"/>
          <p:cNvSpPr/>
          <p:nvPr/>
        </p:nvSpPr>
        <p:spPr>
          <a:xfrm>
            <a:off x="11777216" y="4048125"/>
            <a:ext cx="1394817" cy="466725"/>
          </a:xfrm>
          <a:prstGeom prst="rect">
            <a:avLst/>
          </a:prstGeom>
          <a:solidFill>
            <a:srgbClr val="F4ECE8"/>
          </a:solidFill>
          <a:ln/>
        </p:spPr>
      </p:sp>
      <p:sp>
        <p:nvSpPr>
          <p:cNvPr id="74" name="Text 72"/>
          <p:cNvSpPr/>
          <p:nvPr/>
        </p:nvSpPr>
        <p:spPr>
          <a:xfrm>
            <a:off x="11796266" y="4171950"/>
            <a:ext cx="1356717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425" dirty="0">
                <a:solidFill>
                  <a:srgbClr val="1C1C1A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104</a:t>
            </a:r>
            <a:endParaRPr lang="en-US" sz="1425" dirty="0"/>
          </a:p>
        </p:txBody>
      </p:sp>
      <p:sp>
        <p:nvSpPr>
          <p:cNvPr id="75" name="Text 73"/>
          <p:cNvSpPr/>
          <p:nvPr/>
        </p:nvSpPr>
        <p:spPr>
          <a:xfrm>
            <a:off x="13191083" y="4171950"/>
            <a:ext cx="1362819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425" dirty="0">
                <a:solidFill>
                  <a:srgbClr val="1C1C1A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112</a:t>
            </a:r>
            <a:endParaRPr lang="en-US" sz="1425" dirty="0"/>
          </a:p>
        </p:txBody>
      </p:sp>
      <p:sp>
        <p:nvSpPr>
          <p:cNvPr id="76" name="Text 74"/>
          <p:cNvSpPr/>
          <p:nvPr/>
        </p:nvSpPr>
        <p:spPr>
          <a:xfrm>
            <a:off x="14592002" y="4171950"/>
            <a:ext cx="1369665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425" dirty="0">
                <a:solidFill>
                  <a:srgbClr val="1C1C1A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122</a:t>
            </a:r>
            <a:endParaRPr lang="en-US" sz="1425" dirty="0"/>
          </a:p>
        </p:txBody>
      </p:sp>
      <p:sp>
        <p:nvSpPr>
          <p:cNvPr id="77" name="Text 75"/>
          <p:cNvSpPr/>
          <p:nvPr/>
        </p:nvSpPr>
        <p:spPr>
          <a:xfrm>
            <a:off x="15999768" y="4171950"/>
            <a:ext cx="1355229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425" dirty="0">
                <a:solidFill>
                  <a:srgbClr val="1C1C1A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133</a:t>
            </a:r>
            <a:endParaRPr lang="en-US" sz="1425" dirty="0"/>
          </a:p>
        </p:txBody>
      </p:sp>
      <p:sp>
        <p:nvSpPr>
          <p:cNvPr id="78" name="Text 76"/>
          <p:cNvSpPr/>
          <p:nvPr/>
        </p:nvSpPr>
        <p:spPr>
          <a:xfrm>
            <a:off x="8455819" y="4638675"/>
            <a:ext cx="2019300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4A4A47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8.5%</a:t>
            </a:r>
            <a:endParaRPr lang="en-US" sz="1350" dirty="0"/>
          </a:p>
        </p:txBody>
      </p:sp>
      <p:sp>
        <p:nvSpPr>
          <p:cNvPr id="79" name="Shape 77"/>
          <p:cNvSpPr/>
          <p:nvPr/>
        </p:nvSpPr>
        <p:spPr>
          <a:xfrm>
            <a:off x="10456069" y="4514850"/>
            <a:ext cx="1321147" cy="466725"/>
          </a:xfrm>
          <a:prstGeom prst="rect">
            <a:avLst/>
          </a:prstGeom>
          <a:solidFill>
            <a:srgbClr val="EFE0DB"/>
          </a:solidFill>
          <a:ln/>
        </p:spPr>
      </p:sp>
      <p:sp>
        <p:nvSpPr>
          <p:cNvPr id="80" name="Text 78"/>
          <p:cNvSpPr/>
          <p:nvPr/>
        </p:nvSpPr>
        <p:spPr>
          <a:xfrm>
            <a:off x="10475119" y="4638675"/>
            <a:ext cx="1283047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425" dirty="0">
                <a:solidFill>
                  <a:srgbClr val="1C1C1A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90</a:t>
            </a:r>
            <a:endParaRPr lang="en-US" sz="1425" dirty="0"/>
          </a:p>
        </p:txBody>
      </p:sp>
      <p:sp>
        <p:nvSpPr>
          <p:cNvPr id="81" name="Shape 79"/>
          <p:cNvSpPr/>
          <p:nvPr/>
        </p:nvSpPr>
        <p:spPr>
          <a:xfrm>
            <a:off x="11777216" y="4514850"/>
            <a:ext cx="1394817" cy="466725"/>
          </a:xfrm>
          <a:prstGeom prst="rect">
            <a:avLst/>
          </a:prstGeom>
          <a:solidFill>
            <a:srgbClr val="F4ECE8"/>
          </a:solidFill>
          <a:ln/>
        </p:spPr>
      </p:sp>
      <p:sp>
        <p:nvSpPr>
          <p:cNvPr id="82" name="Text 80"/>
          <p:cNvSpPr/>
          <p:nvPr/>
        </p:nvSpPr>
        <p:spPr>
          <a:xfrm>
            <a:off x="11796266" y="4638675"/>
            <a:ext cx="1356717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425" dirty="0">
                <a:solidFill>
                  <a:srgbClr val="1C1C1A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96</a:t>
            </a:r>
            <a:endParaRPr lang="en-US" sz="1425" dirty="0"/>
          </a:p>
        </p:txBody>
      </p:sp>
      <p:sp>
        <p:nvSpPr>
          <p:cNvPr id="83" name="Shape 81"/>
          <p:cNvSpPr/>
          <p:nvPr/>
        </p:nvSpPr>
        <p:spPr>
          <a:xfrm>
            <a:off x="13172033" y="4514850"/>
            <a:ext cx="1400919" cy="466725"/>
          </a:xfrm>
          <a:prstGeom prst="rect">
            <a:avLst/>
          </a:prstGeom>
          <a:solidFill>
            <a:srgbClr val="F4ECE8"/>
          </a:solidFill>
          <a:ln/>
        </p:spPr>
      </p:sp>
      <p:sp>
        <p:nvSpPr>
          <p:cNvPr id="84" name="Text 82"/>
          <p:cNvSpPr/>
          <p:nvPr/>
        </p:nvSpPr>
        <p:spPr>
          <a:xfrm>
            <a:off x="13191083" y="4638675"/>
            <a:ext cx="1362819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425" dirty="0">
                <a:solidFill>
                  <a:srgbClr val="1C1C1A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103</a:t>
            </a:r>
            <a:endParaRPr lang="en-US" sz="1425" dirty="0"/>
          </a:p>
        </p:txBody>
      </p:sp>
      <p:sp>
        <p:nvSpPr>
          <p:cNvPr id="85" name="Text 83"/>
          <p:cNvSpPr/>
          <p:nvPr/>
        </p:nvSpPr>
        <p:spPr>
          <a:xfrm>
            <a:off x="14592002" y="4638675"/>
            <a:ext cx="1369665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425" dirty="0">
                <a:solidFill>
                  <a:srgbClr val="1C1C1A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110</a:t>
            </a:r>
            <a:endParaRPr lang="en-US" sz="1425" dirty="0"/>
          </a:p>
        </p:txBody>
      </p:sp>
      <p:sp>
        <p:nvSpPr>
          <p:cNvPr id="86" name="Text 84"/>
          <p:cNvSpPr/>
          <p:nvPr/>
        </p:nvSpPr>
        <p:spPr>
          <a:xfrm>
            <a:off x="15999768" y="4638675"/>
            <a:ext cx="1355229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425" dirty="0">
                <a:solidFill>
                  <a:srgbClr val="1C1C1A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120</a:t>
            </a:r>
            <a:endParaRPr lang="en-US" sz="1425" dirty="0"/>
          </a:p>
        </p:txBody>
      </p:sp>
      <p:sp>
        <p:nvSpPr>
          <p:cNvPr id="87" name="Shape 85"/>
          <p:cNvSpPr/>
          <p:nvPr/>
        </p:nvSpPr>
        <p:spPr>
          <a:xfrm>
            <a:off x="8398669" y="5172075"/>
            <a:ext cx="133350" cy="133350"/>
          </a:xfrm>
          <a:prstGeom prst="rect">
            <a:avLst/>
          </a:prstGeom>
          <a:solidFill>
            <a:srgbClr val="2B3A52"/>
          </a:solidFill>
          <a:ln/>
        </p:spPr>
      </p:sp>
      <p:sp>
        <p:nvSpPr>
          <p:cNvPr id="88" name="Text 86"/>
          <p:cNvSpPr/>
          <p:nvPr/>
        </p:nvSpPr>
        <p:spPr>
          <a:xfrm>
            <a:off x="8608219" y="5153025"/>
            <a:ext cx="1683154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25" dirty="0">
                <a:solidFill>
                  <a:srgbClr val="8C8C86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Base case (7.5% × 2.5%)</a:t>
            </a:r>
            <a:endParaRPr lang="en-US" sz="1125" dirty="0"/>
          </a:p>
        </p:txBody>
      </p:sp>
      <p:sp>
        <p:nvSpPr>
          <p:cNvPr id="89" name="Shape 87"/>
          <p:cNvSpPr/>
          <p:nvPr/>
        </p:nvSpPr>
        <p:spPr>
          <a:xfrm>
            <a:off x="10443865" y="5172075"/>
            <a:ext cx="133350" cy="133350"/>
          </a:xfrm>
          <a:prstGeom prst="rect">
            <a:avLst/>
          </a:prstGeom>
          <a:solidFill>
            <a:srgbClr val="DCE7DF"/>
          </a:solidFill>
          <a:ln/>
        </p:spPr>
      </p:sp>
      <p:sp>
        <p:nvSpPr>
          <p:cNvPr id="90" name="Text 88"/>
          <p:cNvSpPr/>
          <p:nvPr/>
        </p:nvSpPr>
        <p:spPr>
          <a:xfrm>
            <a:off x="10653415" y="5153025"/>
            <a:ext cx="87467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25" dirty="0">
                <a:solidFill>
                  <a:srgbClr val="8C8C86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Above $145</a:t>
            </a:r>
            <a:endParaRPr lang="en-US" sz="1125" dirty="0"/>
          </a:p>
        </p:txBody>
      </p:sp>
      <p:sp>
        <p:nvSpPr>
          <p:cNvPr id="91" name="Shape 89"/>
          <p:cNvSpPr/>
          <p:nvPr/>
        </p:nvSpPr>
        <p:spPr>
          <a:xfrm>
            <a:off x="11680627" y="5172075"/>
            <a:ext cx="133350" cy="133350"/>
          </a:xfrm>
          <a:prstGeom prst="rect">
            <a:avLst/>
          </a:prstGeom>
          <a:solidFill>
            <a:srgbClr val="F4ECE8"/>
          </a:solidFill>
          <a:ln/>
        </p:spPr>
      </p:sp>
      <p:sp>
        <p:nvSpPr>
          <p:cNvPr id="92" name="Text 90"/>
          <p:cNvSpPr/>
          <p:nvPr/>
        </p:nvSpPr>
        <p:spPr>
          <a:xfrm>
            <a:off x="11890177" y="5153025"/>
            <a:ext cx="866211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25" dirty="0">
                <a:solidFill>
                  <a:srgbClr val="8C8C86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Below $106</a:t>
            </a:r>
            <a:endParaRPr lang="en-US" sz="1125" dirty="0"/>
          </a:p>
        </p:txBody>
      </p:sp>
      <p:sp>
        <p:nvSpPr>
          <p:cNvPr id="93" name="Shape 91"/>
          <p:cNvSpPr/>
          <p:nvPr/>
        </p:nvSpPr>
        <p:spPr>
          <a:xfrm>
            <a:off x="8398669" y="5514975"/>
            <a:ext cx="8974931" cy="9525"/>
          </a:xfrm>
          <a:prstGeom prst="rect">
            <a:avLst/>
          </a:prstGeom>
          <a:solidFill>
            <a:srgbClr val="E3E3DF"/>
          </a:solidFill>
          <a:ln/>
        </p:spPr>
      </p:sp>
      <p:sp>
        <p:nvSpPr>
          <p:cNvPr id="94" name="Text 92"/>
          <p:cNvSpPr/>
          <p:nvPr/>
        </p:nvSpPr>
        <p:spPr>
          <a:xfrm>
            <a:off x="8398669" y="5676900"/>
            <a:ext cx="9244179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275" dirty="0">
                <a:solidFill>
                  <a:srgbClr val="4A4A47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AFFO is a levered cash flow, so its present value is equity value directly — no debt is subtracted. Only at sub-7% discount rates with above-2.5% growth does the DCF reach today's price, underscoring how much the market is paying for terminal growth.</a:t>
            </a:r>
            <a:endParaRPr lang="en-US" sz="1275" dirty="0"/>
          </a:p>
        </p:txBody>
      </p:sp>
      <p:sp>
        <p:nvSpPr>
          <p:cNvPr id="95" name="Shape 93"/>
          <p:cNvSpPr/>
          <p:nvPr/>
        </p:nvSpPr>
        <p:spPr>
          <a:xfrm>
            <a:off x="914400" y="9505950"/>
            <a:ext cx="16459200" cy="9525"/>
          </a:xfrm>
          <a:prstGeom prst="rect">
            <a:avLst/>
          </a:prstGeom>
          <a:solidFill>
            <a:srgbClr val="E3E3DF"/>
          </a:solidFill>
          <a:ln/>
        </p:spPr>
      </p:sp>
      <p:sp>
        <p:nvSpPr>
          <p:cNvPr id="96" name="Text 94"/>
          <p:cNvSpPr/>
          <p:nvPr/>
        </p:nvSpPr>
        <p:spPr>
          <a:xfrm>
            <a:off x="914400" y="9648825"/>
            <a:ext cx="9322847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A0A09A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Source: model DCF tab, base case. End-of-year discounting; Gordon-growth terminal value. Share count on units-inclusive Core FFO basis.</a:t>
            </a:r>
            <a:endParaRPr lang="en-US" sz="1050" dirty="0"/>
          </a:p>
        </p:txBody>
      </p:sp>
      <p:sp>
        <p:nvSpPr>
          <p:cNvPr id="97" name="Text 95"/>
          <p:cNvSpPr/>
          <p:nvPr/>
        </p:nvSpPr>
        <p:spPr>
          <a:xfrm>
            <a:off x="17200215" y="9648825"/>
            <a:ext cx="249585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4A4A47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07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904875"/>
            <a:ext cx="16459200" cy="14288"/>
          </a:xfrm>
          <a:prstGeom prst="rect">
            <a:avLst/>
          </a:prstGeom>
          <a:solidFill>
            <a:srgbClr val="1C1C1A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590550"/>
            <a:ext cx="2935992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rgbClr val="8C8C86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PROLOGIS, INC. · NYSE: PLD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4345841" y="590550"/>
            <a:ext cx="3330535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rgbClr val="8C8C86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EQUITY RESEARCH — INITIATION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914400" y="1443038"/>
            <a:ext cx="336054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spc="188" kern="0" dirty="0">
                <a:solidFill>
                  <a:srgbClr val="2B3A52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08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345704" y="1147763"/>
            <a:ext cx="4799841" cy="514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750" dirty="0">
                <a:solidFill>
                  <a:srgbClr val="1C1C1A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Trading Comparables</a:t>
            </a:r>
            <a:endParaRPr lang="en-US" sz="3750" dirty="0"/>
          </a:p>
        </p:txBody>
      </p:sp>
      <p:sp>
        <p:nvSpPr>
          <p:cNvPr id="7" name="Shape 5"/>
          <p:cNvSpPr/>
          <p:nvPr/>
        </p:nvSpPr>
        <p:spPr>
          <a:xfrm>
            <a:off x="914400" y="2252663"/>
            <a:ext cx="16459200" cy="14288"/>
          </a:xfrm>
          <a:prstGeom prst="rect">
            <a:avLst/>
          </a:prstGeom>
          <a:solidFill>
            <a:srgbClr val="1C1C1A"/>
          </a:solidFill>
          <a:ln/>
        </p:spPr>
      </p:sp>
      <p:sp>
        <p:nvSpPr>
          <p:cNvPr id="8" name="Text 6"/>
          <p:cNvSpPr/>
          <p:nvPr/>
        </p:nvSpPr>
        <p:spPr>
          <a:xfrm>
            <a:off x="990600" y="1976438"/>
            <a:ext cx="3180036" cy="223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spc="38" kern="0" dirty="0">
                <a:solidFill>
                  <a:srgbClr val="8C8C86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Company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149775" y="1976438"/>
            <a:ext cx="834033" cy="223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8C8C86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Price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060007" y="1976438"/>
            <a:ext cx="1744414" cy="223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8C8C86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Mkt cap ($B)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880622" y="1976438"/>
            <a:ext cx="1730425" cy="223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8C8C86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Core FFO/sh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8687246" y="1976438"/>
            <a:ext cx="1732508" cy="223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8C8C86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P / Core FFO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0495955" y="1976438"/>
            <a:ext cx="1277243" cy="223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8C8C86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P / AFFO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1849398" y="1976438"/>
            <a:ext cx="1725662" cy="223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8C8C86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EV / EBITDA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3651260" y="1976438"/>
            <a:ext cx="2340173" cy="223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8C8C86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Net debt/EBITDA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6067633" y="1976438"/>
            <a:ext cx="1230511" cy="223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8C8C86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Div yield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914400" y="2266950"/>
            <a:ext cx="16459200" cy="481012"/>
          </a:xfrm>
          <a:prstGeom prst="rect">
            <a:avLst/>
          </a:prstGeom>
          <a:solidFill>
            <a:srgbClr val="EEF1F5"/>
          </a:solidFill>
          <a:ln/>
        </p:spPr>
      </p:sp>
      <p:sp>
        <p:nvSpPr>
          <p:cNvPr id="18" name="Shape 16"/>
          <p:cNvSpPr/>
          <p:nvPr/>
        </p:nvSpPr>
        <p:spPr>
          <a:xfrm>
            <a:off x="914400" y="2738438"/>
            <a:ext cx="16459200" cy="9525"/>
          </a:xfrm>
          <a:prstGeom prst="rect">
            <a:avLst/>
          </a:prstGeom>
          <a:solidFill>
            <a:srgbClr val="D7DDE6"/>
          </a:solidFill>
          <a:ln/>
        </p:spPr>
      </p:sp>
      <p:sp>
        <p:nvSpPr>
          <p:cNvPr id="19" name="Text 17"/>
          <p:cNvSpPr/>
          <p:nvPr/>
        </p:nvSpPr>
        <p:spPr>
          <a:xfrm>
            <a:off x="990600" y="2390775"/>
            <a:ext cx="3180036" cy="2714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425" b="1" dirty="0">
                <a:solidFill>
                  <a:srgbClr val="2B3A52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Prologis </a:t>
            </a:r>
            <a:pPr algn="l" indent="0" marL="0">
              <a:buNone/>
            </a:pPr>
            <a:r>
              <a:rPr lang="en-US" sz="1125" dirty="0">
                <a:solidFill>
                  <a:srgbClr val="8C8C86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PLD</a:t>
            </a:r>
            <a:endParaRPr lang="en-US" sz="1425" dirty="0"/>
          </a:p>
        </p:txBody>
      </p:sp>
      <p:sp>
        <p:nvSpPr>
          <p:cNvPr id="20" name="Text 18"/>
          <p:cNvSpPr/>
          <p:nvPr/>
        </p:nvSpPr>
        <p:spPr>
          <a:xfrm>
            <a:off x="4149775" y="2390775"/>
            <a:ext cx="834033" cy="2714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1C1C1A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145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5060007" y="2390775"/>
            <a:ext cx="1744414" cy="2714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1C1C1A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135.2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6880622" y="2390775"/>
            <a:ext cx="1730425" cy="2714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1C1C1A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5.78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8687246" y="2390775"/>
            <a:ext cx="1732508" cy="2714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2B3A52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25.1×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10495955" y="2390775"/>
            <a:ext cx="1277243" cy="2714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2B3A52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32.2×</a:t>
            </a:r>
            <a:endParaRPr lang="en-US" sz="1350" dirty="0"/>
          </a:p>
        </p:txBody>
      </p:sp>
      <p:sp>
        <p:nvSpPr>
          <p:cNvPr id="25" name="Text 23"/>
          <p:cNvSpPr/>
          <p:nvPr/>
        </p:nvSpPr>
        <p:spPr>
          <a:xfrm>
            <a:off x="11849398" y="2390775"/>
            <a:ext cx="1725662" cy="2714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2B3A52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24.6×</a:t>
            </a:r>
            <a:endParaRPr lang="en-US" sz="1350" dirty="0"/>
          </a:p>
        </p:txBody>
      </p:sp>
      <p:sp>
        <p:nvSpPr>
          <p:cNvPr id="26" name="Text 24"/>
          <p:cNvSpPr/>
          <p:nvPr/>
        </p:nvSpPr>
        <p:spPr>
          <a:xfrm>
            <a:off x="13651260" y="2390775"/>
            <a:ext cx="2340173" cy="2714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1C1C1A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5.0×</a:t>
            </a:r>
            <a:endParaRPr lang="en-US" sz="1350" dirty="0"/>
          </a:p>
        </p:txBody>
      </p:sp>
      <p:sp>
        <p:nvSpPr>
          <p:cNvPr id="27" name="Text 25"/>
          <p:cNvSpPr/>
          <p:nvPr/>
        </p:nvSpPr>
        <p:spPr>
          <a:xfrm>
            <a:off x="16067633" y="2390775"/>
            <a:ext cx="1230511" cy="2714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1C1C1A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2.95%</a:t>
            </a:r>
            <a:endParaRPr lang="en-US" sz="1350" dirty="0"/>
          </a:p>
        </p:txBody>
      </p:sp>
      <p:sp>
        <p:nvSpPr>
          <p:cNvPr id="28" name="Shape 26"/>
          <p:cNvSpPr/>
          <p:nvPr/>
        </p:nvSpPr>
        <p:spPr>
          <a:xfrm>
            <a:off x="914400" y="3195638"/>
            <a:ext cx="16459200" cy="9525"/>
          </a:xfrm>
          <a:prstGeom prst="rect">
            <a:avLst/>
          </a:prstGeom>
          <a:solidFill>
            <a:srgbClr val="E3E3DF"/>
          </a:solidFill>
          <a:ln/>
        </p:spPr>
      </p:sp>
      <p:sp>
        <p:nvSpPr>
          <p:cNvPr id="29" name="Text 27"/>
          <p:cNvSpPr/>
          <p:nvPr/>
        </p:nvSpPr>
        <p:spPr>
          <a:xfrm>
            <a:off x="990600" y="2862263"/>
            <a:ext cx="3180036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425" dirty="0">
                <a:solidFill>
                  <a:srgbClr val="1C1C1A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EastGroup </a:t>
            </a:r>
            <a:pPr algn="l" indent="0" marL="0">
              <a:buNone/>
            </a:pPr>
            <a:r>
              <a:rPr lang="en-US" sz="1125" dirty="0">
                <a:solidFill>
                  <a:srgbClr val="8C8C86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EGP</a:t>
            </a:r>
            <a:endParaRPr lang="en-US" sz="1425" dirty="0"/>
          </a:p>
        </p:txBody>
      </p:sp>
      <p:sp>
        <p:nvSpPr>
          <p:cNvPr id="30" name="Text 28"/>
          <p:cNvSpPr/>
          <p:nvPr/>
        </p:nvSpPr>
        <p:spPr>
          <a:xfrm>
            <a:off x="4149775" y="2862263"/>
            <a:ext cx="834033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1350" dirty="0">
                <a:solidFill>
                  <a:srgbClr val="1C1C1A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205</a:t>
            </a:r>
            <a:endParaRPr lang="en-US" sz="1350" dirty="0"/>
          </a:p>
        </p:txBody>
      </p:sp>
      <p:sp>
        <p:nvSpPr>
          <p:cNvPr id="31" name="Text 29"/>
          <p:cNvSpPr/>
          <p:nvPr/>
        </p:nvSpPr>
        <p:spPr>
          <a:xfrm>
            <a:off x="5060007" y="2862263"/>
            <a:ext cx="1744414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1350" dirty="0">
                <a:solidFill>
                  <a:srgbClr val="1C1C1A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11.0</a:t>
            </a:r>
            <a:endParaRPr lang="en-US" sz="1350" dirty="0"/>
          </a:p>
        </p:txBody>
      </p:sp>
      <p:sp>
        <p:nvSpPr>
          <p:cNvPr id="32" name="Text 30"/>
          <p:cNvSpPr/>
          <p:nvPr/>
        </p:nvSpPr>
        <p:spPr>
          <a:xfrm>
            <a:off x="6880622" y="2862263"/>
            <a:ext cx="1730425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1350" dirty="0">
                <a:solidFill>
                  <a:srgbClr val="1C1C1A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9.56</a:t>
            </a:r>
            <a:endParaRPr lang="en-US" sz="1350" dirty="0"/>
          </a:p>
        </p:txBody>
      </p:sp>
      <p:sp>
        <p:nvSpPr>
          <p:cNvPr id="33" name="Text 31"/>
          <p:cNvSpPr/>
          <p:nvPr/>
        </p:nvSpPr>
        <p:spPr>
          <a:xfrm>
            <a:off x="8687246" y="2862263"/>
            <a:ext cx="1732508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1350" dirty="0">
                <a:solidFill>
                  <a:srgbClr val="1C1C1A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21.4×</a:t>
            </a:r>
            <a:endParaRPr lang="en-US" sz="1350" dirty="0"/>
          </a:p>
        </p:txBody>
      </p:sp>
      <p:sp>
        <p:nvSpPr>
          <p:cNvPr id="34" name="Text 32"/>
          <p:cNvSpPr/>
          <p:nvPr/>
        </p:nvSpPr>
        <p:spPr>
          <a:xfrm>
            <a:off x="10495955" y="2862263"/>
            <a:ext cx="1277243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1350" dirty="0">
                <a:solidFill>
                  <a:srgbClr val="1C1C1A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23.8×</a:t>
            </a:r>
            <a:endParaRPr lang="en-US" sz="1350" dirty="0"/>
          </a:p>
        </p:txBody>
      </p:sp>
      <p:sp>
        <p:nvSpPr>
          <p:cNvPr id="35" name="Text 33"/>
          <p:cNvSpPr/>
          <p:nvPr/>
        </p:nvSpPr>
        <p:spPr>
          <a:xfrm>
            <a:off x="11849398" y="2862263"/>
            <a:ext cx="1725662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1350" dirty="0">
                <a:solidFill>
                  <a:srgbClr val="1C1C1A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21.4×</a:t>
            </a:r>
            <a:endParaRPr lang="en-US" sz="1350" dirty="0"/>
          </a:p>
        </p:txBody>
      </p:sp>
      <p:sp>
        <p:nvSpPr>
          <p:cNvPr id="36" name="Text 34"/>
          <p:cNvSpPr/>
          <p:nvPr/>
        </p:nvSpPr>
        <p:spPr>
          <a:xfrm>
            <a:off x="13651260" y="2862263"/>
            <a:ext cx="2340173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1350" dirty="0">
                <a:solidFill>
                  <a:srgbClr val="1C1C1A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3.0×</a:t>
            </a:r>
            <a:endParaRPr lang="en-US" sz="1350" dirty="0"/>
          </a:p>
        </p:txBody>
      </p:sp>
      <p:sp>
        <p:nvSpPr>
          <p:cNvPr id="37" name="Text 35"/>
          <p:cNvSpPr/>
          <p:nvPr/>
        </p:nvSpPr>
        <p:spPr>
          <a:xfrm>
            <a:off x="16067633" y="2862263"/>
            <a:ext cx="1230511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1350" dirty="0">
                <a:solidFill>
                  <a:srgbClr val="1C1C1A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3.02%</a:t>
            </a:r>
            <a:endParaRPr lang="en-US" sz="1350" dirty="0"/>
          </a:p>
        </p:txBody>
      </p:sp>
      <p:sp>
        <p:nvSpPr>
          <p:cNvPr id="38" name="Shape 36"/>
          <p:cNvSpPr/>
          <p:nvPr/>
        </p:nvSpPr>
        <p:spPr>
          <a:xfrm>
            <a:off x="914400" y="3652838"/>
            <a:ext cx="16459200" cy="9525"/>
          </a:xfrm>
          <a:prstGeom prst="rect">
            <a:avLst/>
          </a:prstGeom>
          <a:solidFill>
            <a:srgbClr val="E3E3DF"/>
          </a:solidFill>
          <a:ln/>
        </p:spPr>
      </p:sp>
      <p:sp>
        <p:nvSpPr>
          <p:cNvPr id="39" name="Text 37"/>
          <p:cNvSpPr/>
          <p:nvPr/>
        </p:nvSpPr>
        <p:spPr>
          <a:xfrm>
            <a:off x="990600" y="3319463"/>
            <a:ext cx="3180036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425" dirty="0">
                <a:solidFill>
                  <a:srgbClr val="1C1C1A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Terreno </a:t>
            </a:r>
            <a:pPr algn="l" indent="0" marL="0">
              <a:buNone/>
            </a:pPr>
            <a:r>
              <a:rPr lang="en-US" sz="1125" dirty="0">
                <a:solidFill>
                  <a:srgbClr val="8C8C86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TRNO</a:t>
            </a:r>
            <a:endParaRPr lang="en-US" sz="1425" dirty="0"/>
          </a:p>
        </p:txBody>
      </p:sp>
      <p:sp>
        <p:nvSpPr>
          <p:cNvPr id="40" name="Text 38"/>
          <p:cNvSpPr/>
          <p:nvPr/>
        </p:nvSpPr>
        <p:spPr>
          <a:xfrm>
            <a:off x="4149775" y="3319463"/>
            <a:ext cx="834033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1350" dirty="0">
                <a:solidFill>
                  <a:srgbClr val="1C1C1A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60</a:t>
            </a:r>
            <a:endParaRPr lang="en-US" sz="1350" dirty="0"/>
          </a:p>
        </p:txBody>
      </p:sp>
      <p:sp>
        <p:nvSpPr>
          <p:cNvPr id="41" name="Text 39"/>
          <p:cNvSpPr/>
          <p:nvPr/>
        </p:nvSpPr>
        <p:spPr>
          <a:xfrm>
            <a:off x="5060007" y="3319463"/>
            <a:ext cx="1744414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1350" dirty="0">
                <a:solidFill>
                  <a:srgbClr val="1C1C1A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6.3</a:t>
            </a:r>
            <a:endParaRPr lang="en-US" sz="1350" dirty="0"/>
          </a:p>
        </p:txBody>
      </p:sp>
      <p:sp>
        <p:nvSpPr>
          <p:cNvPr id="42" name="Text 40"/>
          <p:cNvSpPr/>
          <p:nvPr/>
        </p:nvSpPr>
        <p:spPr>
          <a:xfrm>
            <a:off x="6880622" y="3319463"/>
            <a:ext cx="1730425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1350" dirty="0">
                <a:solidFill>
                  <a:srgbClr val="1C1C1A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2.70</a:t>
            </a:r>
            <a:endParaRPr lang="en-US" sz="1350" dirty="0"/>
          </a:p>
        </p:txBody>
      </p:sp>
      <p:sp>
        <p:nvSpPr>
          <p:cNvPr id="43" name="Text 41"/>
          <p:cNvSpPr/>
          <p:nvPr/>
        </p:nvSpPr>
        <p:spPr>
          <a:xfrm>
            <a:off x="8687246" y="3319463"/>
            <a:ext cx="1732508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1350" dirty="0">
                <a:solidFill>
                  <a:srgbClr val="1C1C1A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22.2×</a:t>
            </a:r>
            <a:endParaRPr lang="en-US" sz="1350" dirty="0"/>
          </a:p>
        </p:txBody>
      </p:sp>
      <p:sp>
        <p:nvSpPr>
          <p:cNvPr id="44" name="Text 42"/>
          <p:cNvSpPr/>
          <p:nvPr/>
        </p:nvSpPr>
        <p:spPr>
          <a:xfrm>
            <a:off x="10495955" y="3319463"/>
            <a:ext cx="1277243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1350" dirty="0">
                <a:solidFill>
                  <a:srgbClr val="1C1C1A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24.7×</a:t>
            </a:r>
            <a:endParaRPr lang="en-US" sz="1350" dirty="0"/>
          </a:p>
        </p:txBody>
      </p:sp>
      <p:sp>
        <p:nvSpPr>
          <p:cNvPr id="45" name="Text 43"/>
          <p:cNvSpPr/>
          <p:nvPr/>
        </p:nvSpPr>
        <p:spPr>
          <a:xfrm>
            <a:off x="11849398" y="3319463"/>
            <a:ext cx="1725662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1350" dirty="0">
                <a:solidFill>
                  <a:srgbClr val="1C1C1A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17.4×</a:t>
            </a:r>
            <a:endParaRPr lang="en-US" sz="1350" dirty="0"/>
          </a:p>
        </p:txBody>
      </p:sp>
      <p:sp>
        <p:nvSpPr>
          <p:cNvPr id="46" name="Text 44"/>
          <p:cNvSpPr/>
          <p:nvPr/>
        </p:nvSpPr>
        <p:spPr>
          <a:xfrm>
            <a:off x="13651260" y="3319463"/>
            <a:ext cx="2340173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1350" dirty="0">
                <a:solidFill>
                  <a:srgbClr val="1C1C1A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2.3×</a:t>
            </a:r>
            <a:endParaRPr lang="en-US" sz="1350" dirty="0"/>
          </a:p>
        </p:txBody>
      </p:sp>
      <p:sp>
        <p:nvSpPr>
          <p:cNvPr id="47" name="Text 45"/>
          <p:cNvSpPr/>
          <p:nvPr/>
        </p:nvSpPr>
        <p:spPr>
          <a:xfrm>
            <a:off x="16067633" y="3319463"/>
            <a:ext cx="1230511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1350" dirty="0">
                <a:solidFill>
                  <a:srgbClr val="1C1C1A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3.47%</a:t>
            </a:r>
            <a:endParaRPr lang="en-US" sz="1350" dirty="0"/>
          </a:p>
        </p:txBody>
      </p:sp>
      <p:sp>
        <p:nvSpPr>
          <p:cNvPr id="48" name="Shape 46"/>
          <p:cNvSpPr/>
          <p:nvPr/>
        </p:nvSpPr>
        <p:spPr>
          <a:xfrm>
            <a:off x="914400" y="4110038"/>
            <a:ext cx="16459200" cy="9525"/>
          </a:xfrm>
          <a:prstGeom prst="rect">
            <a:avLst/>
          </a:prstGeom>
          <a:solidFill>
            <a:srgbClr val="E3E3DF"/>
          </a:solidFill>
          <a:ln/>
        </p:spPr>
      </p:sp>
      <p:sp>
        <p:nvSpPr>
          <p:cNvPr id="49" name="Text 47"/>
          <p:cNvSpPr/>
          <p:nvPr/>
        </p:nvSpPr>
        <p:spPr>
          <a:xfrm>
            <a:off x="990600" y="3776662"/>
            <a:ext cx="3180036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425" dirty="0">
                <a:solidFill>
                  <a:srgbClr val="1C1C1A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First Industrial </a:t>
            </a:r>
            <a:pPr algn="l" indent="0" marL="0">
              <a:buNone/>
            </a:pPr>
            <a:r>
              <a:rPr lang="en-US" sz="1125" dirty="0">
                <a:solidFill>
                  <a:srgbClr val="8C8C86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FR</a:t>
            </a:r>
            <a:endParaRPr lang="en-US" sz="1425" dirty="0"/>
          </a:p>
        </p:txBody>
      </p:sp>
      <p:sp>
        <p:nvSpPr>
          <p:cNvPr id="50" name="Text 48"/>
          <p:cNvSpPr/>
          <p:nvPr/>
        </p:nvSpPr>
        <p:spPr>
          <a:xfrm>
            <a:off x="4149775" y="3776662"/>
            <a:ext cx="834033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1350" dirty="0">
                <a:solidFill>
                  <a:srgbClr val="1C1C1A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58</a:t>
            </a:r>
            <a:endParaRPr lang="en-US" sz="1350" dirty="0"/>
          </a:p>
        </p:txBody>
      </p:sp>
      <p:sp>
        <p:nvSpPr>
          <p:cNvPr id="51" name="Text 49"/>
          <p:cNvSpPr/>
          <p:nvPr/>
        </p:nvSpPr>
        <p:spPr>
          <a:xfrm>
            <a:off x="5060007" y="3776662"/>
            <a:ext cx="1744414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1350" dirty="0">
                <a:solidFill>
                  <a:srgbClr val="1C1C1A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7.8</a:t>
            </a:r>
            <a:endParaRPr lang="en-US" sz="1350" dirty="0"/>
          </a:p>
        </p:txBody>
      </p:sp>
      <p:sp>
        <p:nvSpPr>
          <p:cNvPr id="52" name="Text 50"/>
          <p:cNvSpPr/>
          <p:nvPr/>
        </p:nvSpPr>
        <p:spPr>
          <a:xfrm>
            <a:off x="6880622" y="3776662"/>
            <a:ext cx="1730425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1350" dirty="0">
                <a:solidFill>
                  <a:srgbClr val="1C1C1A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3.14</a:t>
            </a:r>
            <a:endParaRPr lang="en-US" sz="1350" dirty="0"/>
          </a:p>
        </p:txBody>
      </p:sp>
      <p:sp>
        <p:nvSpPr>
          <p:cNvPr id="53" name="Text 51"/>
          <p:cNvSpPr/>
          <p:nvPr/>
        </p:nvSpPr>
        <p:spPr>
          <a:xfrm>
            <a:off x="8687246" y="3776662"/>
            <a:ext cx="1732508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1350" dirty="0">
                <a:solidFill>
                  <a:srgbClr val="1C1C1A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18.5×</a:t>
            </a:r>
            <a:endParaRPr lang="en-US" sz="1350" dirty="0"/>
          </a:p>
        </p:txBody>
      </p:sp>
      <p:sp>
        <p:nvSpPr>
          <p:cNvPr id="54" name="Text 52"/>
          <p:cNvSpPr/>
          <p:nvPr/>
        </p:nvSpPr>
        <p:spPr>
          <a:xfrm>
            <a:off x="10495955" y="3776662"/>
            <a:ext cx="1277243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1350" dirty="0">
                <a:solidFill>
                  <a:srgbClr val="1C1C1A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20.5×</a:t>
            </a:r>
            <a:endParaRPr lang="en-US" sz="1350" dirty="0"/>
          </a:p>
        </p:txBody>
      </p:sp>
      <p:sp>
        <p:nvSpPr>
          <p:cNvPr id="55" name="Text 53"/>
          <p:cNvSpPr/>
          <p:nvPr/>
        </p:nvSpPr>
        <p:spPr>
          <a:xfrm>
            <a:off x="11849398" y="3776662"/>
            <a:ext cx="1725662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1350" dirty="0">
                <a:solidFill>
                  <a:srgbClr val="1C1C1A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20.5×</a:t>
            </a:r>
            <a:endParaRPr lang="en-US" sz="1350" dirty="0"/>
          </a:p>
        </p:txBody>
      </p:sp>
      <p:sp>
        <p:nvSpPr>
          <p:cNvPr id="56" name="Text 54"/>
          <p:cNvSpPr/>
          <p:nvPr/>
        </p:nvSpPr>
        <p:spPr>
          <a:xfrm>
            <a:off x="13651260" y="3776662"/>
            <a:ext cx="2340173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1350" dirty="0">
                <a:solidFill>
                  <a:srgbClr val="1C1C1A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4.5×</a:t>
            </a:r>
            <a:endParaRPr lang="en-US" sz="1350" dirty="0"/>
          </a:p>
        </p:txBody>
      </p:sp>
      <p:sp>
        <p:nvSpPr>
          <p:cNvPr id="57" name="Text 55"/>
          <p:cNvSpPr/>
          <p:nvPr/>
        </p:nvSpPr>
        <p:spPr>
          <a:xfrm>
            <a:off x="16067633" y="3776662"/>
            <a:ext cx="1230511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1350" dirty="0">
                <a:solidFill>
                  <a:srgbClr val="1C1C1A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3.45%</a:t>
            </a:r>
            <a:endParaRPr lang="en-US" sz="1350" dirty="0"/>
          </a:p>
        </p:txBody>
      </p:sp>
      <p:sp>
        <p:nvSpPr>
          <p:cNvPr id="58" name="Shape 56"/>
          <p:cNvSpPr/>
          <p:nvPr/>
        </p:nvSpPr>
        <p:spPr>
          <a:xfrm>
            <a:off x="914400" y="4567238"/>
            <a:ext cx="16459200" cy="9525"/>
          </a:xfrm>
          <a:prstGeom prst="rect">
            <a:avLst/>
          </a:prstGeom>
          <a:solidFill>
            <a:srgbClr val="E3E3DF"/>
          </a:solidFill>
          <a:ln/>
        </p:spPr>
      </p:sp>
      <p:sp>
        <p:nvSpPr>
          <p:cNvPr id="59" name="Text 57"/>
          <p:cNvSpPr/>
          <p:nvPr/>
        </p:nvSpPr>
        <p:spPr>
          <a:xfrm>
            <a:off x="990600" y="4233863"/>
            <a:ext cx="3180036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425" dirty="0">
                <a:solidFill>
                  <a:srgbClr val="1C1C1A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Rexford </a:t>
            </a:r>
            <a:pPr algn="l" indent="0" marL="0">
              <a:buNone/>
            </a:pPr>
            <a:r>
              <a:rPr lang="en-US" sz="1125" dirty="0">
                <a:solidFill>
                  <a:srgbClr val="8C8C86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REXR</a:t>
            </a:r>
            <a:endParaRPr lang="en-US" sz="1425" dirty="0"/>
          </a:p>
        </p:txBody>
      </p:sp>
      <p:sp>
        <p:nvSpPr>
          <p:cNvPr id="60" name="Text 58"/>
          <p:cNvSpPr/>
          <p:nvPr/>
        </p:nvSpPr>
        <p:spPr>
          <a:xfrm>
            <a:off x="4149775" y="4233863"/>
            <a:ext cx="834033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1350" dirty="0">
                <a:solidFill>
                  <a:srgbClr val="1C1C1A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35</a:t>
            </a:r>
            <a:endParaRPr lang="en-US" sz="1350" dirty="0"/>
          </a:p>
        </p:txBody>
      </p:sp>
      <p:sp>
        <p:nvSpPr>
          <p:cNvPr id="61" name="Text 59"/>
          <p:cNvSpPr/>
          <p:nvPr/>
        </p:nvSpPr>
        <p:spPr>
          <a:xfrm>
            <a:off x="5060007" y="4233863"/>
            <a:ext cx="1744414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1350" dirty="0">
                <a:solidFill>
                  <a:srgbClr val="1C1C1A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8.0</a:t>
            </a:r>
            <a:endParaRPr lang="en-US" sz="1350" dirty="0"/>
          </a:p>
        </p:txBody>
      </p:sp>
      <p:sp>
        <p:nvSpPr>
          <p:cNvPr id="62" name="Text 60"/>
          <p:cNvSpPr/>
          <p:nvPr/>
        </p:nvSpPr>
        <p:spPr>
          <a:xfrm>
            <a:off x="6880622" y="4233863"/>
            <a:ext cx="1730425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1350" dirty="0">
                <a:solidFill>
                  <a:srgbClr val="1C1C1A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2.40</a:t>
            </a:r>
            <a:endParaRPr lang="en-US" sz="1350" dirty="0"/>
          </a:p>
        </p:txBody>
      </p:sp>
      <p:sp>
        <p:nvSpPr>
          <p:cNvPr id="63" name="Text 61"/>
          <p:cNvSpPr/>
          <p:nvPr/>
        </p:nvSpPr>
        <p:spPr>
          <a:xfrm>
            <a:off x="8687246" y="4233863"/>
            <a:ext cx="1732508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1350" dirty="0">
                <a:solidFill>
                  <a:srgbClr val="1C1C1A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14.6×</a:t>
            </a:r>
            <a:endParaRPr lang="en-US" sz="1350" dirty="0"/>
          </a:p>
        </p:txBody>
      </p:sp>
      <p:sp>
        <p:nvSpPr>
          <p:cNvPr id="64" name="Text 62"/>
          <p:cNvSpPr/>
          <p:nvPr/>
        </p:nvSpPr>
        <p:spPr>
          <a:xfrm>
            <a:off x="10495955" y="4233863"/>
            <a:ext cx="1277243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1350" dirty="0">
                <a:solidFill>
                  <a:srgbClr val="1C1C1A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16.2×</a:t>
            </a:r>
            <a:endParaRPr lang="en-US" sz="1350" dirty="0"/>
          </a:p>
        </p:txBody>
      </p:sp>
      <p:sp>
        <p:nvSpPr>
          <p:cNvPr id="65" name="Text 63"/>
          <p:cNvSpPr/>
          <p:nvPr/>
        </p:nvSpPr>
        <p:spPr>
          <a:xfrm>
            <a:off x="11849398" y="4233863"/>
            <a:ext cx="1725662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1350" dirty="0">
                <a:solidFill>
                  <a:srgbClr val="1C1C1A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15.3×</a:t>
            </a:r>
            <a:endParaRPr lang="en-US" sz="1350" dirty="0"/>
          </a:p>
        </p:txBody>
      </p:sp>
      <p:sp>
        <p:nvSpPr>
          <p:cNvPr id="66" name="Text 64"/>
          <p:cNvSpPr/>
          <p:nvPr/>
        </p:nvSpPr>
        <p:spPr>
          <a:xfrm>
            <a:off x="13651260" y="4233863"/>
            <a:ext cx="2340173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1350" dirty="0">
                <a:solidFill>
                  <a:srgbClr val="1C1C1A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4.6×</a:t>
            </a:r>
            <a:endParaRPr lang="en-US" sz="1350" dirty="0"/>
          </a:p>
        </p:txBody>
      </p:sp>
      <p:sp>
        <p:nvSpPr>
          <p:cNvPr id="67" name="Text 65"/>
          <p:cNvSpPr/>
          <p:nvPr/>
        </p:nvSpPr>
        <p:spPr>
          <a:xfrm>
            <a:off x="16067633" y="4233863"/>
            <a:ext cx="1230511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1350" dirty="0">
                <a:solidFill>
                  <a:srgbClr val="1C1C1A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4.97%</a:t>
            </a:r>
            <a:endParaRPr lang="en-US" sz="1350" dirty="0"/>
          </a:p>
        </p:txBody>
      </p:sp>
      <p:sp>
        <p:nvSpPr>
          <p:cNvPr id="68" name="Shape 66"/>
          <p:cNvSpPr/>
          <p:nvPr/>
        </p:nvSpPr>
        <p:spPr>
          <a:xfrm>
            <a:off x="914400" y="5019675"/>
            <a:ext cx="16459200" cy="14288"/>
          </a:xfrm>
          <a:prstGeom prst="rect">
            <a:avLst/>
          </a:prstGeom>
          <a:solidFill>
            <a:srgbClr val="1C1C1A"/>
          </a:solidFill>
          <a:ln/>
        </p:spPr>
      </p:sp>
      <p:sp>
        <p:nvSpPr>
          <p:cNvPr id="69" name="Text 67"/>
          <p:cNvSpPr/>
          <p:nvPr/>
        </p:nvSpPr>
        <p:spPr>
          <a:xfrm>
            <a:off x="990600" y="4691063"/>
            <a:ext cx="3180036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425" dirty="0">
                <a:solidFill>
                  <a:srgbClr val="1C1C1A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STAG Industrial </a:t>
            </a:r>
            <a:pPr algn="l" indent="0" marL="0">
              <a:buNone/>
            </a:pPr>
            <a:r>
              <a:rPr lang="en-US" sz="1125" dirty="0">
                <a:solidFill>
                  <a:srgbClr val="8C8C86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STAG</a:t>
            </a:r>
            <a:endParaRPr lang="en-US" sz="1425" dirty="0"/>
          </a:p>
        </p:txBody>
      </p:sp>
      <p:sp>
        <p:nvSpPr>
          <p:cNvPr id="70" name="Text 68"/>
          <p:cNvSpPr/>
          <p:nvPr/>
        </p:nvSpPr>
        <p:spPr>
          <a:xfrm>
            <a:off x="4149775" y="4691063"/>
            <a:ext cx="834033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1350" dirty="0">
                <a:solidFill>
                  <a:srgbClr val="1C1C1A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37</a:t>
            </a:r>
            <a:endParaRPr lang="en-US" sz="1350" dirty="0"/>
          </a:p>
        </p:txBody>
      </p:sp>
      <p:sp>
        <p:nvSpPr>
          <p:cNvPr id="71" name="Text 69"/>
          <p:cNvSpPr/>
          <p:nvPr/>
        </p:nvSpPr>
        <p:spPr>
          <a:xfrm>
            <a:off x="5060007" y="4691063"/>
            <a:ext cx="1744414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1350" dirty="0">
                <a:solidFill>
                  <a:srgbClr val="1C1C1A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7.3</a:t>
            </a:r>
            <a:endParaRPr lang="en-US" sz="1350" dirty="0"/>
          </a:p>
        </p:txBody>
      </p:sp>
      <p:sp>
        <p:nvSpPr>
          <p:cNvPr id="72" name="Text 70"/>
          <p:cNvSpPr/>
          <p:nvPr/>
        </p:nvSpPr>
        <p:spPr>
          <a:xfrm>
            <a:off x="6880622" y="4691063"/>
            <a:ext cx="1730425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1350" dirty="0">
                <a:solidFill>
                  <a:srgbClr val="1C1C1A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2.62</a:t>
            </a:r>
            <a:endParaRPr lang="en-US" sz="1350" dirty="0"/>
          </a:p>
        </p:txBody>
      </p:sp>
      <p:sp>
        <p:nvSpPr>
          <p:cNvPr id="73" name="Text 71"/>
          <p:cNvSpPr/>
          <p:nvPr/>
        </p:nvSpPr>
        <p:spPr>
          <a:xfrm>
            <a:off x="8687246" y="4691063"/>
            <a:ext cx="1732508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1350" dirty="0">
                <a:solidFill>
                  <a:srgbClr val="1C1C1A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14.1×</a:t>
            </a:r>
            <a:endParaRPr lang="en-US" sz="1350" dirty="0"/>
          </a:p>
        </p:txBody>
      </p:sp>
      <p:sp>
        <p:nvSpPr>
          <p:cNvPr id="74" name="Text 72"/>
          <p:cNvSpPr/>
          <p:nvPr/>
        </p:nvSpPr>
        <p:spPr>
          <a:xfrm>
            <a:off x="10495955" y="4691063"/>
            <a:ext cx="1277243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1350" dirty="0">
                <a:solidFill>
                  <a:srgbClr val="1C1C1A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15.7×</a:t>
            </a:r>
            <a:endParaRPr lang="en-US" sz="1350" dirty="0"/>
          </a:p>
        </p:txBody>
      </p:sp>
      <p:sp>
        <p:nvSpPr>
          <p:cNvPr id="75" name="Text 73"/>
          <p:cNvSpPr/>
          <p:nvPr/>
        </p:nvSpPr>
        <p:spPr>
          <a:xfrm>
            <a:off x="11849398" y="4691063"/>
            <a:ext cx="1725662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1350" dirty="0">
                <a:solidFill>
                  <a:srgbClr val="1C1C1A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16.6×</a:t>
            </a:r>
            <a:endParaRPr lang="en-US" sz="1350" dirty="0"/>
          </a:p>
        </p:txBody>
      </p:sp>
      <p:sp>
        <p:nvSpPr>
          <p:cNvPr id="76" name="Text 74"/>
          <p:cNvSpPr/>
          <p:nvPr/>
        </p:nvSpPr>
        <p:spPr>
          <a:xfrm>
            <a:off x="13651260" y="4691063"/>
            <a:ext cx="2340173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1350" dirty="0">
                <a:solidFill>
                  <a:srgbClr val="1C1C1A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5.0×</a:t>
            </a:r>
            <a:endParaRPr lang="en-US" sz="1350" dirty="0"/>
          </a:p>
        </p:txBody>
      </p:sp>
      <p:sp>
        <p:nvSpPr>
          <p:cNvPr id="77" name="Text 75"/>
          <p:cNvSpPr/>
          <p:nvPr/>
        </p:nvSpPr>
        <p:spPr>
          <a:xfrm>
            <a:off x="16067633" y="4691063"/>
            <a:ext cx="1230511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1350" dirty="0">
                <a:solidFill>
                  <a:srgbClr val="1C1C1A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4.03%</a:t>
            </a:r>
            <a:endParaRPr lang="en-US" sz="1350" dirty="0"/>
          </a:p>
        </p:txBody>
      </p:sp>
      <p:sp>
        <p:nvSpPr>
          <p:cNvPr id="78" name="Text 76"/>
          <p:cNvSpPr/>
          <p:nvPr/>
        </p:nvSpPr>
        <p:spPr>
          <a:xfrm>
            <a:off x="990600" y="5157788"/>
            <a:ext cx="3180036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4A4A47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Peer median </a:t>
            </a:r>
            <a:pPr algn="l" indent="0" marL="0">
              <a:buNone/>
            </a:pPr>
            <a:r>
              <a:rPr lang="en-US" sz="1125" dirty="0">
                <a:solidFill>
                  <a:srgbClr val="8C8C86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(ex-PLD)</a:t>
            </a:r>
            <a:endParaRPr lang="en-US" sz="1350" dirty="0"/>
          </a:p>
        </p:txBody>
      </p:sp>
      <p:sp>
        <p:nvSpPr>
          <p:cNvPr id="79" name="Text 77"/>
          <p:cNvSpPr/>
          <p:nvPr/>
        </p:nvSpPr>
        <p:spPr>
          <a:xfrm>
            <a:off x="4149775" y="5157788"/>
            <a:ext cx="834033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1350" dirty="0">
                <a:solidFill>
                  <a:srgbClr val="8C8C86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—</a:t>
            </a:r>
            <a:endParaRPr lang="en-US" sz="1350" dirty="0"/>
          </a:p>
        </p:txBody>
      </p:sp>
      <p:sp>
        <p:nvSpPr>
          <p:cNvPr id="80" name="Text 78"/>
          <p:cNvSpPr/>
          <p:nvPr/>
        </p:nvSpPr>
        <p:spPr>
          <a:xfrm>
            <a:off x="5060007" y="5157788"/>
            <a:ext cx="1744414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1350" dirty="0">
                <a:solidFill>
                  <a:srgbClr val="8C8C86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—</a:t>
            </a:r>
            <a:endParaRPr lang="en-US" sz="1350" dirty="0"/>
          </a:p>
        </p:txBody>
      </p:sp>
      <p:sp>
        <p:nvSpPr>
          <p:cNvPr id="81" name="Text 79"/>
          <p:cNvSpPr/>
          <p:nvPr/>
        </p:nvSpPr>
        <p:spPr>
          <a:xfrm>
            <a:off x="6880622" y="5157788"/>
            <a:ext cx="1730425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1350" dirty="0">
                <a:solidFill>
                  <a:srgbClr val="8C8C86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—</a:t>
            </a:r>
            <a:endParaRPr lang="en-US" sz="1350" dirty="0"/>
          </a:p>
        </p:txBody>
      </p:sp>
      <p:sp>
        <p:nvSpPr>
          <p:cNvPr id="82" name="Text 80"/>
          <p:cNvSpPr/>
          <p:nvPr/>
        </p:nvSpPr>
        <p:spPr>
          <a:xfrm>
            <a:off x="8687246" y="5157788"/>
            <a:ext cx="1732508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1C1C1A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18.5×</a:t>
            </a:r>
            <a:endParaRPr lang="en-US" sz="1350" dirty="0"/>
          </a:p>
        </p:txBody>
      </p:sp>
      <p:sp>
        <p:nvSpPr>
          <p:cNvPr id="83" name="Text 81"/>
          <p:cNvSpPr/>
          <p:nvPr/>
        </p:nvSpPr>
        <p:spPr>
          <a:xfrm>
            <a:off x="10495955" y="5157788"/>
            <a:ext cx="1277243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1C1C1A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20.5×</a:t>
            </a:r>
            <a:endParaRPr lang="en-US" sz="1350" dirty="0"/>
          </a:p>
        </p:txBody>
      </p:sp>
      <p:sp>
        <p:nvSpPr>
          <p:cNvPr id="84" name="Text 82"/>
          <p:cNvSpPr/>
          <p:nvPr/>
        </p:nvSpPr>
        <p:spPr>
          <a:xfrm>
            <a:off x="11849398" y="5157788"/>
            <a:ext cx="1725662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1C1C1A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17.4×</a:t>
            </a:r>
            <a:endParaRPr lang="en-US" sz="1350" dirty="0"/>
          </a:p>
        </p:txBody>
      </p:sp>
      <p:sp>
        <p:nvSpPr>
          <p:cNvPr id="85" name="Text 83"/>
          <p:cNvSpPr/>
          <p:nvPr/>
        </p:nvSpPr>
        <p:spPr>
          <a:xfrm>
            <a:off x="13651260" y="5157788"/>
            <a:ext cx="2340173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1C1C1A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4.5×</a:t>
            </a:r>
            <a:endParaRPr lang="en-US" sz="1350" dirty="0"/>
          </a:p>
        </p:txBody>
      </p:sp>
      <p:sp>
        <p:nvSpPr>
          <p:cNvPr id="86" name="Text 84"/>
          <p:cNvSpPr/>
          <p:nvPr/>
        </p:nvSpPr>
        <p:spPr>
          <a:xfrm>
            <a:off x="16067633" y="5157788"/>
            <a:ext cx="1230511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1C1C1A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3.47%</a:t>
            </a:r>
            <a:endParaRPr lang="en-US" sz="1350" dirty="0"/>
          </a:p>
        </p:txBody>
      </p:sp>
      <p:sp>
        <p:nvSpPr>
          <p:cNvPr id="87" name="Text 85"/>
          <p:cNvSpPr/>
          <p:nvPr/>
        </p:nvSpPr>
        <p:spPr>
          <a:xfrm>
            <a:off x="914400" y="5776913"/>
            <a:ext cx="8460581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rgbClr val="9E5A4A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PLD PREMIUM TO PEER MEDIAN</a:t>
            </a:r>
            <a:endParaRPr lang="en-US" sz="1200" dirty="0"/>
          </a:p>
        </p:txBody>
      </p:sp>
      <p:sp>
        <p:nvSpPr>
          <p:cNvPr id="88" name="Text 86"/>
          <p:cNvSpPr/>
          <p:nvPr/>
        </p:nvSpPr>
        <p:spPr>
          <a:xfrm>
            <a:off x="914400" y="6110288"/>
            <a:ext cx="1082278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4A4A47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P / Core FFO</a:t>
            </a:r>
            <a:endParaRPr lang="en-US" sz="1350" dirty="0"/>
          </a:p>
        </p:txBody>
      </p:sp>
      <p:sp>
        <p:nvSpPr>
          <p:cNvPr id="89" name="Text 87"/>
          <p:cNvSpPr/>
          <p:nvPr/>
        </p:nvSpPr>
        <p:spPr>
          <a:xfrm>
            <a:off x="8112026" y="6110288"/>
            <a:ext cx="570012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9E5A4A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+36%</a:t>
            </a:r>
            <a:endParaRPr lang="en-US" sz="1350" dirty="0"/>
          </a:p>
        </p:txBody>
      </p:sp>
      <p:sp>
        <p:nvSpPr>
          <p:cNvPr id="90" name="Shape 88"/>
          <p:cNvSpPr/>
          <p:nvPr/>
        </p:nvSpPr>
        <p:spPr>
          <a:xfrm>
            <a:off x="914400" y="6367463"/>
            <a:ext cx="7691438" cy="133350"/>
          </a:xfrm>
          <a:prstGeom prst="rect">
            <a:avLst/>
          </a:prstGeom>
          <a:solidFill>
            <a:srgbClr val="F1ECE9"/>
          </a:solidFill>
          <a:ln/>
        </p:spPr>
      </p:sp>
      <p:sp>
        <p:nvSpPr>
          <p:cNvPr id="91" name="Shape 89"/>
          <p:cNvSpPr/>
          <p:nvPr/>
        </p:nvSpPr>
        <p:spPr>
          <a:xfrm>
            <a:off x="914400" y="6367463"/>
            <a:ext cx="4614863" cy="133350"/>
          </a:xfrm>
          <a:prstGeom prst="rect">
            <a:avLst/>
          </a:prstGeom>
          <a:solidFill>
            <a:srgbClr val="9E5A4A"/>
          </a:solidFill>
          <a:ln/>
        </p:spPr>
      </p:sp>
      <p:sp>
        <p:nvSpPr>
          <p:cNvPr id="92" name="Text 90"/>
          <p:cNvSpPr/>
          <p:nvPr/>
        </p:nvSpPr>
        <p:spPr>
          <a:xfrm>
            <a:off x="914400" y="6653213"/>
            <a:ext cx="783282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4A4A47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P / AFFO</a:t>
            </a:r>
            <a:endParaRPr lang="en-US" sz="1350" dirty="0"/>
          </a:p>
        </p:txBody>
      </p:sp>
      <p:sp>
        <p:nvSpPr>
          <p:cNvPr id="93" name="Text 91"/>
          <p:cNvSpPr/>
          <p:nvPr/>
        </p:nvSpPr>
        <p:spPr>
          <a:xfrm>
            <a:off x="8121848" y="6653213"/>
            <a:ext cx="560189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9E5A4A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+57%</a:t>
            </a:r>
            <a:endParaRPr lang="en-US" sz="1350" dirty="0"/>
          </a:p>
        </p:txBody>
      </p:sp>
      <p:sp>
        <p:nvSpPr>
          <p:cNvPr id="94" name="Shape 92"/>
          <p:cNvSpPr/>
          <p:nvPr/>
        </p:nvSpPr>
        <p:spPr>
          <a:xfrm>
            <a:off x="914400" y="6910388"/>
            <a:ext cx="7691438" cy="133350"/>
          </a:xfrm>
          <a:prstGeom prst="rect">
            <a:avLst/>
          </a:prstGeom>
          <a:solidFill>
            <a:srgbClr val="F1ECE9"/>
          </a:solidFill>
          <a:ln/>
        </p:spPr>
      </p:sp>
      <p:sp>
        <p:nvSpPr>
          <p:cNvPr id="95" name="Shape 93"/>
          <p:cNvSpPr/>
          <p:nvPr/>
        </p:nvSpPr>
        <p:spPr>
          <a:xfrm>
            <a:off x="914400" y="6910388"/>
            <a:ext cx="7306866" cy="133350"/>
          </a:xfrm>
          <a:prstGeom prst="rect">
            <a:avLst/>
          </a:prstGeom>
          <a:solidFill>
            <a:srgbClr val="9E5A4A"/>
          </a:solidFill>
          <a:ln/>
        </p:spPr>
      </p:sp>
      <p:sp>
        <p:nvSpPr>
          <p:cNvPr id="96" name="Text 94"/>
          <p:cNvSpPr/>
          <p:nvPr/>
        </p:nvSpPr>
        <p:spPr>
          <a:xfrm>
            <a:off x="914400" y="7196138"/>
            <a:ext cx="1066354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4A4A47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EV / EBITDA</a:t>
            </a:r>
            <a:endParaRPr lang="en-US" sz="1350" dirty="0"/>
          </a:p>
        </p:txBody>
      </p:sp>
      <p:sp>
        <p:nvSpPr>
          <p:cNvPr id="97" name="Text 95"/>
          <p:cNvSpPr/>
          <p:nvPr/>
        </p:nvSpPr>
        <p:spPr>
          <a:xfrm>
            <a:off x="8115300" y="7196138"/>
            <a:ext cx="566738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9E5A4A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+42%</a:t>
            </a:r>
            <a:endParaRPr lang="en-US" sz="1350" dirty="0"/>
          </a:p>
        </p:txBody>
      </p:sp>
      <p:sp>
        <p:nvSpPr>
          <p:cNvPr id="98" name="Shape 96"/>
          <p:cNvSpPr/>
          <p:nvPr/>
        </p:nvSpPr>
        <p:spPr>
          <a:xfrm>
            <a:off x="914400" y="7453312"/>
            <a:ext cx="7691438" cy="133350"/>
          </a:xfrm>
          <a:prstGeom prst="rect">
            <a:avLst/>
          </a:prstGeom>
          <a:solidFill>
            <a:srgbClr val="F1ECE9"/>
          </a:solidFill>
          <a:ln/>
        </p:spPr>
      </p:sp>
      <p:sp>
        <p:nvSpPr>
          <p:cNvPr id="99" name="Shape 97"/>
          <p:cNvSpPr/>
          <p:nvPr/>
        </p:nvSpPr>
        <p:spPr>
          <a:xfrm>
            <a:off x="914400" y="7453312"/>
            <a:ext cx="5384006" cy="133350"/>
          </a:xfrm>
          <a:prstGeom prst="rect">
            <a:avLst/>
          </a:prstGeom>
          <a:solidFill>
            <a:srgbClr val="9E5A4A"/>
          </a:solidFill>
          <a:ln/>
        </p:spPr>
      </p:sp>
      <p:sp>
        <p:nvSpPr>
          <p:cNvPr id="100" name="Shape 98"/>
          <p:cNvSpPr/>
          <p:nvPr/>
        </p:nvSpPr>
        <p:spPr>
          <a:xfrm>
            <a:off x="9139238" y="5776913"/>
            <a:ext cx="9525" cy="1952625"/>
          </a:xfrm>
          <a:prstGeom prst="rect">
            <a:avLst/>
          </a:prstGeom>
          <a:solidFill>
            <a:srgbClr val="E3E3DF"/>
          </a:solidFill>
          <a:ln/>
        </p:spPr>
      </p:sp>
      <p:sp>
        <p:nvSpPr>
          <p:cNvPr id="101" name="Text 99"/>
          <p:cNvSpPr/>
          <p:nvPr/>
        </p:nvSpPr>
        <p:spPr>
          <a:xfrm>
            <a:off x="9682163" y="5776913"/>
            <a:ext cx="8460581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rgbClr val="2B3A52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IMPLIED VALUE AT PEER MULTIPLES</a:t>
            </a:r>
            <a:endParaRPr lang="en-US" sz="1200" dirty="0"/>
          </a:p>
        </p:txBody>
      </p:sp>
      <p:sp>
        <p:nvSpPr>
          <p:cNvPr id="102" name="Text 100"/>
          <p:cNvSpPr/>
          <p:nvPr/>
        </p:nvSpPr>
        <p:spPr>
          <a:xfrm>
            <a:off x="9682163" y="6072188"/>
            <a:ext cx="2299811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200" dirty="0">
                <a:solidFill>
                  <a:srgbClr val="1C1C1A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$93–107</a:t>
            </a:r>
            <a:endParaRPr lang="en-US" sz="4200" dirty="0"/>
          </a:p>
        </p:txBody>
      </p:sp>
      <p:sp>
        <p:nvSpPr>
          <p:cNvPr id="103" name="Text 101"/>
          <p:cNvSpPr/>
          <p:nvPr/>
        </p:nvSpPr>
        <p:spPr>
          <a:xfrm>
            <a:off x="11906250" y="6281738"/>
            <a:ext cx="790724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9E5A4A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vs $145</a:t>
            </a:r>
            <a:endParaRPr lang="en-US" sz="1500" dirty="0"/>
          </a:p>
        </p:txBody>
      </p:sp>
      <p:sp>
        <p:nvSpPr>
          <p:cNvPr id="104" name="Text 102"/>
          <p:cNvSpPr/>
          <p:nvPr/>
        </p:nvSpPr>
        <p:spPr>
          <a:xfrm>
            <a:off x="9682163" y="6738938"/>
            <a:ext cx="7922181" cy="1028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350" dirty="0">
                <a:solidFill>
                  <a:srgbClr val="4A4A47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Peer-median P/AFFO (low) to P/Core FFO (high) applied to PLD's forward metrics — below the market price. PLD's scale, global platform, strategic-capital franchise and data-center optionality justify a premium that pure-play domestic peers do not carry; a literal peer-multiple read understates PLD.</a:t>
            </a:r>
            <a:endParaRPr lang="en-US" sz="1350" dirty="0"/>
          </a:p>
        </p:txBody>
      </p:sp>
      <p:sp>
        <p:nvSpPr>
          <p:cNvPr id="105" name="Shape 103"/>
          <p:cNvSpPr/>
          <p:nvPr/>
        </p:nvSpPr>
        <p:spPr>
          <a:xfrm>
            <a:off x="914400" y="9505950"/>
            <a:ext cx="16459200" cy="9525"/>
          </a:xfrm>
          <a:prstGeom prst="rect">
            <a:avLst/>
          </a:prstGeom>
          <a:solidFill>
            <a:srgbClr val="E3E3DF"/>
          </a:solidFill>
          <a:ln/>
        </p:spPr>
      </p:sp>
      <p:sp>
        <p:nvSpPr>
          <p:cNvPr id="106" name="Text 104"/>
          <p:cNvSpPr/>
          <p:nvPr/>
        </p:nvSpPr>
        <p:spPr>
          <a:xfrm>
            <a:off x="914400" y="9648825"/>
            <a:ext cx="10865331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A0A09A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Source: model Comps tab; forward (2026E) multiples. Peer prices ~mid-June 2026 estimates. AFFO (peers) = Core FFO × 90%. EV/EBITDA &amp; cap rates indicative.</a:t>
            </a:r>
            <a:endParaRPr lang="en-US" sz="1050" dirty="0"/>
          </a:p>
        </p:txBody>
      </p:sp>
      <p:sp>
        <p:nvSpPr>
          <p:cNvPr id="107" name="Text 105"/>
          <p:cNvSpPr/>
          <p:nvPr/>
        </p:nvSpPr>
        <p:spPr>
          <a:xfrm>
            <a:off x="17191137" y="9648825"/>
            <a:ext cx="258663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4A4A47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08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904875"/>
            <a:ext cx="16459200" cy="14288"/>
          </a:xfrm>
          <a:prstGeom prst="rect">
            <a:avLst/>
          </a:prstGeom>
          <a:solidFill>
            <a:srgbClr val="1C1C1A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590550"/>
            <a:ext cx="2935992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rgbClr val="8C8C86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PROLOGIS, INC. · NYSE: PLD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4345841" y="590550"/>
            <a:ext cx="3330535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rgbClr val="8C8C86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EQUITY RESEARCH — INITIATION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914400" y="1443038"/>
            <a:ext cx="336054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spc="188" kern="0" dirty="0">
                <a:solidFill>
                  <a:srgbClr val="2B3A52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09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345704" y="1147763"/>
            <a:ext cx="3911545" cy="514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750" dirty="0">
                <a:solidFill>
                  <a:srgbClr val="1C1C1A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Scenario Analysis</a:t>
            </a:r>
            <a:endParaRPr lang="en-US" sz="3750" dirty="0"/>
          </a:p>
        </p:txBody>
      </p:sp>
      <p:sp>
        <p:nvSpPr>
          <p:cNvPr id="7" name="Shape 5"/>
          <p:cNvSpPr/>
          <p:nvPr/>
        </p:nvSpPr>
        <p:spPr>
          <a:xfrm>
            <a:off x="914400" y="2290763"/>
            <a:ext cx="10329714" cy="14288"/>
          </a:xfrm>
          <a:prstGeom prst="rect">
            <a:avLst/>
          </a:prstGeom>
          <a:solidFill>
            <a:srgbClr val="1C1C1A"/>
          </a:solidFill>
          <a:ln/>
        </p:spPr>
      </p:sp>
      <p:sp>
        <p:nvSpPr>
          <p:cNvPr id="8" name="Text 6"/>
          <p:cNvSpPr/>
          <p:nvPr/>
        </p:nvSpPr>
        <p:spPr>
          <a:xfrm>
            <a:off x="5648474" y="1985963"/>
            <a:ext cx="1793528" cy="242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9E5A4A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Bear </a:t>
            </a:r>
            <a:pPr algn="r" indent="0" marL="0">
              <a:buNone/>
            </a:pPr>
            <a:r>
              <a:rPr lang="en-US" sz="1125" dirty="0">
                <a:solidFill>
                  <a:srgbClr val="8C8C86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25%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7518202" y="1985963"/>
            <a:ext cx="1852612" cy="242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2B3A52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Base </a:t>
            </a:r>
            <a:pPr algn="r" indent="0" marL="0">
              <a:buNone/>
            </a:pPr>
            <a:r>
              <a:rPr lang="en-US" sz="1125" dirty="0">
                <a:solidFill>
                  <a:srgbClr val="8C8C86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50%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9447014" y="1985963"/>
            <a:ext cx="1721197" cy="242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5E7A66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Bull </a:t>
            </a:r>
            <a:pPr algn="r" indent="0" marL="0">
              <a:buNone/>
            </a:pPr>
            <a:r>
              <a:rPr lang="en-US" sz="1125" dirty="0">
                <a:solidFill>
                  <a:srgbClr val="8C8C86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25%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914400" y="2776538"/>
            <a:ext cx="10329714" cy="9525"/>
          </a:xfrm>
          <a:prstGeom prst="rect">
            <a:avLst/>
          </a:prstGeom>
          <a:solidFill>
            <a:srgbClr val="E3E3DF"/>
          </a:solidFill>
          <a:ln/>
        </p:spPr>
      </p:sp>
      <p:sp>
        <p:nvSpPr>
          <p:cNvPr id="12" name="Text 10"/>
          <p:cNvSpPr/>
          <p:nvPr/>
        </p:nvSpPr>
        <p:spPr>
          <a:xfrm>
            <a:off x="990600" y="2428875"/>
            <a:ext cx="4723696" cy="2714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425" dirty="0">
                <a:solidFill>
                  <a:srgbClr val="1C1C1A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FY2030 Core FFO / share</a:t>
            </a:r>
            <a:endParaRPr lang="en-US" sz="1425" dirty="0"/>
          </a:p>
        </p:txBody>
      </p:sp>
      <p:sp>
        <p:nvSpPr>
          <p:cNvPr id="13" name="Text 11"/>
          <p:cNvSpPr/>
          <p:nvPr/>
        </p:nvSpPr>
        <p:spPr>
          <a:xfrm>
            <a:off x="5648474" y="2428875"/>
            <a:ext cx="1793528" cy="2714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1425" dirty="0">
                <a:solidFill>
                  <a:srgbClr val="1C1C1A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$6.67</a:t>
            </a:r>
            <a:endParaRPr lang="en-US" sz="1425" dirty="0"/>
          </a:p>
        </p:txBody>
      </p:sp>
      <p:sp>
        <p:nvSpPr>
          <p:cNvPr id="14" name="Text 12"/>
          <p:cNvSpPr/>
          <p:nvPr/>
        </p:nvSpPr>
        <p:spPr>
          <a:xfrm>
            <a:off x="7518202" y="2428875"/>
            <a:ext cx="1852612" cy="2714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1425" b="1" dirty="0">
                <a:solidFill>
                  <a:srgbClr val="1C1C1A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$8.40</a:t>
            </a:r>
            <a:endParaRPr lang="en-US" sz="1425" dirty="0"/>
          </a:p>
        </p:txBody>
      </p:sp>
      <p:sp>
        <p:nvSpPr>
          <p:cNvPr id="15" name="Text 13"/>
          <p:cNvSpPr/>
          <p:nvPr/>
        </p:nvSpPr>
        <p:spPr>
          <a:xfrm>
            <a:off x="9447014" y="2428875"/>
            <a:ext cx="1721197" cy="2714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1425" dirty="0">
                <a:solidFill>
                  <a:srgbClr val="1C1C1A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$10.80</a:t>
            </a:r>
            <a:endParaRPr lang="en-US" sz="1425" dirty="0"/>
          </a:p>
        </p:txBody>
      </p:sp>
      <p:sp>
        <p:nvSpPr>
          <p:cNvPr id="16" name="Shape 14"/>
          <p:cNvSpPr/>
          <p:nvPr/>
        </p:nvSpPr>
        <p:spPr>
          <a:xfrm>
            <a:off x="914400" y="3252788"/>
            <a:ext cx="10329714" cy="9525"/>
          </a:xfrm>
          <a:prstGeom prst="rect">
            <a:avLst/>
          </a:prstGeom>
          <a:solidFill>
            <a:srgbClr val="E3E3DF"/>
          </a:solidFill>
          <a:ln/>
        </p:spPr>
      </p:sp>
      <p:sp>
        <p:nvSpPr>
          <p:cNvPr id="17" name="Text 15"/>
          <p:cNvSpPr/>
          <p:nvPr/>
        </p:nvSpPr>
        <p:spPr>
          <a:xfrm>
            <a:off x="990600" y="2909888"/>
            <a:ext cx="4723696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425" dirty="0">
                <a:solidFill>
                  <a:srgbClr val="1C1C1A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NAV / share</a:t>
            </a:r>
            <a:endParaRPr lang="en-US" sz="1425" dirty="0"/>
          </a:p>
        </p:txBody>
      </p:sp>
      <p:sp>
        <p:nvSpPr>
          <p:cNvPr id="18" name="Text 16"/>
          <p:cNvSpPr/>
          <p:nvPr/>
        </p:nvSpPr>
        <p:spPr>
          <a:xfrm>
            <a:off x="5648474" y="2909888"/>
            <a:ext cx="1793528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1425" dirty="0">
                <a:solidFill>
                  <a:srgbClr val="1C1C1A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$98.95</a:t>
            </a:r>
            <a:endParaRPr lang="en-US" sz="1425" dirty="0"/>
          </a:p>
        </p:txBody>
      </p:sp>
      <p:sp>
        <p:nvSpPr>
          <p:cNvPr id="19" name="Text 17"/>
          <p:cNvSpPr/>
          <p:nvPr/>
        </p:nvSpPr>
        <p:spPr>
          <a:xfrm>
            <a:off x="7518202" y="2909888"/>
            <a:ext cx="1852612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1425" b="1" dirty="0">
                <a:solidFill>
                  <a:srgbClr val="1C1C1A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$124.43</a:t>
            </a:r>
            <a:endParaRPr lang="en-US" sz="1425" dirty="0"/>
          </a:p>
        </p:txBody>
      </p:sp>
      <p:sp>
        <p:nvSpPr>
          <p:cNvPr id="20" name="Text 18"/>
          <p:cNvSpPr/>
          <p:nvPr/>
        </p:nvSpPr>
        <p:spPr>
          <a:xfrm>
            <a:off x="9447014" y="2909888"/>
            <a:ext cx="1721197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1425" dirty="0">
                <a:solidFill>
                  <a:srgbClr val="1C1C1A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$145.56</a:t>
            </a:r>
            <a:endParaRPr lang="en-US" sz="1425" dirty="0"/>
          </a:p>
        </p:txBody>
      </p:sp>
      <p:sp>
        <p:nvSpPr>
          <p:cNvPr id="21" name="Shape 19"/>
          <p:cNvSpPr/>
          <p:nvPr/>
        </p:nvSpPr>
        <p:spPr>
          <a:xfrm>
            <a:off x="914400" y="3729038"/>
            <a:ext cx="10329714" cy="9525"/>
          </a:xfrm>
          <a:prstGeom prst="rect">
            <a:avLst/>
          </a:prstGeom>
          <a:solidFill>
            <a:srgbClr val="E3E3DF"/>
          </a:solidFill>
          <a:ln/>
        </p:spPr>
      </p:sp>
      <p:sp>
        <p:nvSpPr>
          <p:cNvPr id="22" name="Text 20"/>
          <p:cNvSpPr/>
          <p:nvPr/>
        </p:nvSpPr>
        <p:spPr>
          <a:xfrm>
            <a:off x="990600" y="3386138"/>
            <a:ext cx="4723696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425" dirty="0">
                <a:solidFill>
                  <a:srgbClr val="1C1C1A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DCF / share </a:t>
            </a:r>
            <a:pPr algn="l" indent="0" marL="0">
              <a:buNone/>
            </a:pPr>
            <a:r>
              <a:rPr lang="en-US" sz="1050" dirty="0">
                <a:solidFill>
                  <a:srgbClr val="8C8C86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†</a:t>
            </a:r>
            <a:endParaRPr lang="en-US" sz="1425" dirty="0"/>
          </a:p>
        </p:txBody>
      </p:sp>
      <p:sp>
        <p:nvSpPr>
          <p:cNvPr id="23" name="Text 21"/>
          <p:cNvSpPr/>
          <p:nvPr/>
        </p:nvSpPr>
        <p:spPr>
          <a:xfrm>
            <a:off x="5648474" y="3386138"/>
            <a:ext cx="1793528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1425" dirty="0">
                <a:solidFill>
                  <a:srgbClr val="1C1C1A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$71.22</a:t>
            </a:r>
            <a:endParaRPr lang="en-US" sz="1425" dirty="0"/>
          </a:p>
        </p:txBody>
      </p:sp>
      <p:sp>
        <p:nvSpPr>
          <p:cNvPr id="24" name="Text 22"/>
          <p:cNvSpPr/>
          <p:nvPr/>
        </p:nvSpPr>
        <p:spPr>
          <a:xfrm>
            <a:off x="7518202" y="3386138"/>
            <a:ext cx="1852612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1425" b="1" dirty="0">
                <a:solidFill>
                  <a:srgbClr val="1C1C1A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$123.77</a:t>
            </a:r>
            <a:endParaRPr lang="en-US" sz="1425" dirty="0"/>
          </a:p>
        </p:txBody>
      </p:sp>
      <p:sp>
        <p:nvSpPr>
          <p:cNvPr id="25" name="Text 23"/>
          <p:cNvSpPr/>
          <p:nvPr/>
        </p:nvSpPr>
        <p:spPr>
          <a:xfrm>
            <a:off x="9447014" y="3386138"/>
            <a:ext cx="1721197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1425" dirty="0">
                <a:solidFill>
                  <a:srgbClr val="1C1C1A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$200.99</a:t>
            </a:r>
            <a:endParaRPr lang="en-US" sz="1425" dirty="0"/>
          </a:p>
        </p:txBody>
      </p:sp>
      <p:sp>
        <p:nvSpPr>
          <p:cNvPr id="26" name="Shape 24"/>
          <p:cNvSpPr/>
          <p:nvPr/>
        </p:nvSpPr>
        <p:spPr>
          <a:xfrm>
            <a:off x="914400" y="4205288"/>
            <a:ext cx="10329714" cy="9525"/>
          </a:xfrm>
          <a:prstGeom prst="rect">
            <a:avLst/>
          </a:prstGeom>
          <a:solidFill>
            <a:srgbClr val="E3E3DF"/>
          </a:solidFill>
          <a:ln/>
        </p:spPr>
      </p:sp>
      <p:sp>
        <p:nvSpPr>
          <p:cNvPr id="27" name="Text 25"/>
          <p:cNvSpPr/>
          <p:nvPr/>
        </p:nvSpPr>
        <p:spPr>
          <a:xfrm>
            <a:off x="990600" y="3862388"/>
            <a:ext cx="4723696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425" dirty="0">
                <a:solidFill>
                  <a:srgbClr val="1C1C1A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Football Field midpoint</a:t>
            </a:r>
            <a:endParaRPr lang="en-US" sz="1425" dirty="0"/>
          </a:p>
        </p:txBody>
      </p:sp>
      <p:sp>
        <p:nvSpPr>
          <p:cNvPr id="28" name="Text 26"/>
          <p:cNvSpPr/>
          <p:nvPr/>
        </p:nvSpPr>
        <p:spPr>
          <a:xfrm>
            <a:off x="5648474" y="3862388"/>
            <a:ext cx="1793528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1425" dirty="0">
                <a:solidFill>
                  <a:srgbClr val="1C1C1A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$88.15</a:t>
            </a:r>
            <a:endParaRPr lang="en-US" sz="1425" dirty="0"/>
          </a:p>
        </p:txBody>
      </p:sp>
      <p:sp>
        <p:nvSpPr>
          <p:cNvPr id="29" name="Text 27"/>
          <p:cNvSpPr/>
          <p:nvPr/>
        </p:nvSpPr>
        <p:spPr>
          <a:xfrm>
            <a:off x="7518202" y="3862388"/>
            <a:ext cx="1852612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1425" b="1" dirty="0">
                <a:solidFill>
                  <a:srgbClr val="1C1C1A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$115.96</a:t>
            </a:r>
            <a:endParaRPr lang="en-US" sz="1425" dirty="0"/>
          </a:p>
        </p:txBody>
      </p:sp>
      <p:sp>
        <p:nvSpPr>
          <p:cNvPr id="30" name="Text 28"/>
          <p:cNvSpPr/>
          <p:nvPr/>
        </p:nvSpPr>
        <p:spPr>
          <a:xfrm>
            <a:off x="9447014" y="3862388"/>
            <a:ext cx="1721197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1425" dirty="0">
                <a:solidFill>
                  <a:srgbClr val="1C1C1A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$149.85</a:t>
            </a:r>
            <a:endParaRPr lang="en-US" sz="1425" dirty="0"/>
          </a:p>
        </p:txBody>
      </p:sp>
      <p:sp>
        <p:nvSpPr>
          <p:cNvPr id="31" name="Shape 29"/>
          <p:cNvSpPr/>
          <p:nvPr/>
        </p:nvSpPr>
        <p:spPr>
          <a:xfrm>
            <a:off x="914400" y="4676775"/>
            <a:ext cx="10329714" cy="14288"/>
          </a:xfrm>
          <a:prstGeom prst="rect">
            <a:avLst/>
          </a:prstGeom>
          <a:solidFill>
            <a:srgbClr val="1C1C1A"/>
          </a:solidFill>
          <a:ln/>
        </p:spPr>
      </p:sp>
      <p:sp>
        <p:nvSpPr>
          <p:cNvPr id="32" name="Text 30"/>
          <p:cNvSpPr/>
          <p:nvPr/>
        </p:nvSpPr>
        <p:spPr>
          <a:xfrm>
            <a:off x="990600" y="4338638"/>
            <a:ext cx="4723696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425" dirty="0">
                <a:solidFill>
                  <a:srgbClr val="4A4A47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Return to blended vs $145</a:t>
            </a:r>
            <a:endParaRPr lang="en-US" sz="1425" dirty="0"/>
          </a:p>
        </p:txBody>
      </p:sp>
      <p:sp>
        <p:nvSpPr>
          <p:cNvPr id="33" name="Text 31"/>
          <p:cNvSpPr/>
          <p:nvPr/>
        </p:nvSpPr>
        <p:spPr>
          <a:xfrm>
            <a:off x="5648474" y="4338638"/>
            <a:ext cx="1793528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1425" b="1" dirty="0">
                <a:solidFill>
                  <a:srgbClr val="9E5A4A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−39%</a:t>
            </a:r>
            <a:endParaRPr lang="en-US" sz="1425" dirty="0"/>
          </a:p>
        </p:txBody>
      </p:sp>
      <p:sp>
        <p:nvSpPr>
          <p:cNvPr id="34" name="Text 32"/>
          <p:cNvSpPr/>
          <p:nvPr/>
        </p:nvSpPr>
        <p:spPr>
          <a:xfrm>
            <a:off x="7518202" y="4338638"/>
            <a:ext cx="1852612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1425" b="1" dirty="0">
                <a:solidFill>
                  <a:srgbClr val="9E5A4A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−20%</a:t>
            </a:r>
            <a:endParaRPr lang="en-US" sz="1425" dirty="0"/>
          </a:p>
        </p:txBody>
      </p:sp>
      <p:sp>
        <p:nvSpPr>
          <p:cNvPr id="35" name="Text 33"/>
          <p:cNvSpPr/>
          <p:nvPr/>
        </p:nvSpPr>
        <p:spPr>
          <a:xfrm>
            <a:off x="9447014" y="4338638"/>
            <a:ext cx="1721197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1425" b="1" dirty="0">
                <a:solidFill>
                  <a:srgbClr val="5E7A66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+3%</a:t>
            </a:r>
            <a:endParaRPr lang="en-US" sz="1425" dirty="0"/>
          </a:p>
        </p:txBody>
      </p:sp>
      <p:sp>
        <p:nvSpPr>
          <p:cNvPr id="36" name="Text 34"/>
          <p:cNvSpPr/>
          <p:nvPr/>
        </p:nvSpPr>
        <p:spPr>
          <a:xfrm>
            <a:off x="990600" y="4814888"/>
            <a:ext cx="4723696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425" dirty="0">
                <a:solidFill>
                  <a:srgbClr val="4A4A47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Weighted contribution</a:t>
            </a:r>
            <a:endParaRPr lang="en-US" sz="1425" dirty="0"/>
          </a:p>
        </p:txBody>
      </p:sp>
      <p:sp>
        <p:nvSpPr>
          <p:cNvPr id="37" name="Text 35"/>
          <p:cNvSpPr/>
          <p:nvPr/>
        </p:nvSpPr>
        <p:spPr>
          <a:xfrm>
            <a:off x="5648474" y="4814888"/>
            <a:ext cx="1793528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1425" dirty="0">
                <a:solidFill>
                  <a:srgbClr val="1C1C1A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$22.04</a:t>
            </a:r>
            <a:endParaRPr lang="en-US" sz="1425" dirty="0"/>
          </a:p>
        </p:txBody>
      </p:sp>
      <p:sp>
        <p:nvSpPr>
          <p:cNvPr id="38" name="Text 36"/>
          <p:cNvSpPr/>
          <p:nvPr/>
        </p:nvSpPr>
        <p:spPr>
          <a:xfrm>
            <a:off x="7518202" y="4814888"/>
            <a:ext cx="1852612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1425" dirty="0">
                <a:solidFill>
                  <a:srgbClr val="1C1C1A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$57.98</a:t>
            </a:r>
            <a:endParaRPr lang="en-US" sz="1425" dirty="0"/>
          </a:p>
        </p:txBody>
      </p:sp>
      <p:sp>
        <p:nvSpPr>
          <p:cNvPr id="39" name="Text 37"/>
          <p:cNvSpPr/>
          <p:nvPr/>
        </p:nvSpPr>
        <p:spPr>
          <a:xfrm>
            <a:off x="9447014" y="4814888"/>
            <a:ext cx="1721197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1425" dirty="0">
                <a:solidFill>
                  <a:srgbClr val="1C1C1A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$37.46</a:t>
            </a:r>
            <a:endParaRPr lang="en-US" sz="1425" dirty="0"/>
          </a:p>
        </p:txBody>
      </p:sp>
      <p:sp>
        <p:nvSpPr>
          <p:cNvPr id="40" name="Text 38"/>
          <p:cNvSpPr/>
          <p:nvPr/>
        </p:nvSpPr>
        <p:spPr>
          <a:xfrm>
            <a:off x="914400" y="5319713"/>
            <a:ext cx="10639605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125" dirty="0">
                <a:solidFill>
                  <a:srgbClr val="8C8C86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† Bull DCF is amplified by the terminal r−g spread (7.0% WACC, 3.0% g); NAV ($146) is the firmer bull anchor. Probabilities are institutional judgment — symmetric, with quality anchoring the Base.</a:t>
            </a:r>
            <a:endParaRPr lang="en-US" sz="1125" dirty="0"/>
          </a:p>
        </p:txBody>
      </p:sp>
      <p:sp>
        <p:nvSpPr>
          <p:cNvPr id="41" name="Shape 39"/>
          <p:cNvSpPr/>
          <p:nvPr/>
        </p:nvSpPr>
        <p:spPr>
          <a:xfrm>
            <a:off x="11777514" y="1871663"/>
            <a:ext cx="5596086" cy="14288"/>
          </a:xfrm>
          <a:prstGeom prst="rect">
            <a:avLst/>
          </a:prstGeom>
          <a:solidFill>
            <a:srgbClr val="1C1C1A"/>
          </a:solidFill>
          <a:ln/>
        </p:spPr>
      </p:sp>
      <p:sp>
        <p:nvSpPr>
          <p:cNvPr id="42" name="Text 40"/>
          <p:cNvSpPr/>
          <p:nvPr/>
        </p:nvSpPr>
        <p:spPr>
          <a:xfrm>
            <a:off x="11777514" y="2038350"/>
            <a:ext cx="6155695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b="1" spc="150" kern="0" dirty="0">
                <a:solidFill>
                  <a:srgbClr val="8C8C86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PROBABILITY-WEIGHTED TARGET</a:t>
            </a:r>
            <a:endParaRPr lang="en-US" sz="1125" dirty="0"/>
          </a:p>
        </p:txBody>
      </p:sp>
      <p:sp>
        <p:nvSpPr>
          <p:cNvPr id="43" name="Text 41"/>
          <p:cNvSpPr/>
          <p:nvPr/>
        </p:nvSpPr>
        <p:spPr>
          <a:xfrm>
            <a:off x="11777514" y="2247900"/>
            <a:ext cx="6155695" cy="742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550" dirty="0">
                <a:solidFill>
                  <a:srgbClr val="1C1C1A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$117</a:t>
            </a:r>
            <a:endParaRPr lang="en-US" sz="5550" dirty="0"/>
          </a:p>
        </p:txBody>
      </p:sp>
      <p:sp>
        <p:nvSpPr>
          <p:cNvPr id="44" name="Text 42"/>
          <p:cNvSpPr/>
          <p:nvPr/>
        </p:nvSpPr>
        <p:spPr>
          <a:xfrm>
            <a:off x="11777514" y="2990850"/>
            <a:ext cx="6155695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9E5A4A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≈ 19% below the $145 price</a:t>
            </a:r>
            <a:endParaRPr lang="en-US" sz="1350" dirty="0"/>
          </a:p>
        </p:txBody>
      </p:sp>
      <p:sp>
        <p:nvSpPr>
          <p:cNvPr id="45" name="Text 43"/>
          <p:cNvSpPr/>
          <p:nvPr/>
        </p:nvSpPr>
        <p:spPr>
          <a:xfrm>
            <a:off x="11777514" y="3419475"/>
            <a:ext cx="6155695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rgbClr val="2B3A52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KEY SCENARIO DRIVERS</a:t>
            </a:r>
            <a:endParaRPr lang="en-US" sz="1200" dirty="0"/>
          </a:p>
        </p:txBody>
      </p:sp>
      <p:sp>
        <p:nvSpPr>
          <p:cNvPr id="46" name="Shape 44"/>
          <p:cNvSpPr/>
          <p:nvPr/>
        </p:nvSpPr>
        <p:spPr>
          <a:xfrm>
            <a:off x="11777514" y="4076700"/>
            <a:ext cx="5596086" cy="9525"/>
          </a:xfrm>
          <a:prstGeom prst="rect">
            <a:avLst/>
          </a:prstGeom>
          <a:solidFill>
            <a:srgbClr val="E3E3DF"/>
          </a:solidFill>
          <a:ln/>
        </p:spPr>
      </p:sp>
      <p:sp>
        <p:nvSpPr>
          <p:cNvPr id="47" name="Text 45"/>
          <p:cNvSpPr/>
          <p:nvPr/>
        </p:nvSpPr>
        <p:spPr>
          <a:xfrm>
            <a:off x="11777514" y="3790950"/>
            <a:ext cx="1943413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75" dirty="0">
                <a:solidFill>
                  <a:srgbClr val="4A4A47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Market rent growth (Y1)</a:t>
            </a:r>
            <a:endParaRPr lang="en-US" sz="1275" dirty="0"/>
          </a:p>
        </p:txBody>
      </p:sp>
      <p:sp>
        <p:nvSpPr>
          <p:cNvPr id="48" name="Text 46"/>
          <p:cNvSpPr/>
          <p:nvPr/>
        </p:nvSpPr>
        <p:spPr>
          <a:xfrm>
            <a:off x="16159014" y="3790950"/>
            <a:ext cx="1336045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75" dirty="0">
                <a:solidFill>
                  <a:srgbClr val="9E5A4A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−1% </a:t>
            </a:r>
            <a:pPr algn="l" indent="0" marL="0">
              <a:buNone/>
            </a:pPr>
            <a:r>
              <a:rPr lang="en-US" sz="1275" dirty="0">
                <a:solidFill>
                  <a:srgbClr val="1C1C1A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· </a:t>
            </a:r>
            <a:pPr algn="l" indent="0" marL="0">
              <a:buNone/>
            </a:pPr>
            <a:r>
              <a:rPr lang="en-US" sz="1275" b="1" dirty="0">
                <a:solidFill>
                  <a:srgbClr val="1C1C1A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+3% </a:t>
            </a:r>
            <a:pPr algn="l" indent="0" marL="0">
              <a:buNone/>
            </a:pPr>
            <a:r>
              <a:rPr lang="en-US" sz="1275" dirty="0">
                <a:solidFill>
                  <a:srgbClr val="1C1C1A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· </a:t>
            </a:r>
            <a:pPr algn="l" indent="0" marL="0">
              <a:buNone/>
            </a:pPr>
            <a:r>
              <a:rPr lang="en-US" sz="1275" dirty="0">
                <a:solidFill>
                  <a:srgbClr val="5E7A66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+6%</a:t>
            </a:r>
            <a:endParaRPr lang="en-US" sz="1275" dirty="0"/>
          </a:p>
        </p:txBody>
      </p:sp>
      <p:sp>
        <p:nvSpPr>
          <p:cNvPr id="49" name="Shape 47"/>
          <p:cNvSpPr/>
          <p:nvPr/>
        </p:nvSpPr>
        <p:spPr>
          <a:xfrm>
            <a:off x="11777514" y="4467225"/>
            <a:ext cx="5596086" cy="9525"/>
          </a:xfrm>
          <a:prstGeom prst="rect">
            <a:avLst/>
          </a:prstGeom>
          <a:solidFill>
            <a:srgbClr val="E3E3DF"/>
          </a:solidFill>
          <a:ln/>
        </p:spPr>
      </p:sp>
      <p:sp>
        <p:nvSpPr>
          <p:cNvPr id="50" name="Text 48"/>
          <p:cNvSpPr/>
          <p:nvPr/>
        </p:nvSpPr>
        <p:spPr>
          <a:xfrm>
            <a:off x="11777514" y="4181475"/>
            <a:ext cx="919758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75" dirty="0">
                <a:solidFill>
                  <a:srgbClr val="4A4A47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Occupancy</a:t>
            </a:r>
            <a:endParaRPr lang="en-US" sz="1275" dirty="0"/>
          </a:p>
        </p:txBody>
      </p:sp>
      <p:sp>
        <p:nvSpPr>
          <p:cNvPr id="51" name="Text 49"/>
          <p:cNvSpPr/>
          <p:nvPr/>
        </p:nvSpPr>
        <p:spPr>
          <a:xfrm>
            <a:off x="15665797" y="4181475"/>
            <a:ext cx="1878583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75" dirty="0">
                <a:solidFill>
                  <a:srgbClr val="9E5A4A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93.5% </a:t>
            </a:r>
            <a:pPr algn="l" indent="0" marL="0">
              <a:buNone/>
            </a:pPr>
            <a:r>
              <a:rPr lang="en-US" sz="1275" dirty="0">
                <a:solidFill>
                  <a:srgbClr val="1C1C1A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· </a:t>
            </a:r>
            <a:pPr algn="l" indent="0" marL="0">
              <a:buNone/>
            </a:pPr>
            <a:r>
              <a:rPr lang="en-US" sz="1275" b="1" dirty="0">
                <a:solidFill>
                  <a:srgbClr val="1C1C1A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95.3% </a:t>
            </a:r>
            <a:pPr algn="l" indent="0" marL="0">
              <a:buNone/>
            </a:pPr>
            <a:r>
              <a:rPr lang="en-US" sz="1275" dirty="0">
                <a:solidFill>
                  <a:srgbClr val="1C1C1A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· </a:t>
            </a:r>
            <a:pPr algn="l" indent="0" marL="0">
              <a:buNone/>
            </a:pPr>
            <a:r>
              <a:rPr lang="en-US" sz="1275" dirty="0">
                <a:solidFill>
                  <a:srgbClr val="5E7A66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95.7%</a:t>
            </a:r>
            <a:endParaRPr lang="en-US" sz="1275" dirty="0"/>
          </a:p>
        </p:txBody>
      </p:sp>
      <p:sp>
        <p:nvSpPr>
          <p:cNvPr id="52" name="Shape 50"/>
          <p:cNvSpPr/>
          <p:nvPr/>
        </p:nvSpPr>
        <p:spPr>
          <a:xfrm>
            <a:off x="11777514" y="4857750"/>
            <a:ext cx="5596086" cy="9525"/>
          </a:xfrm>
          <a:prstGeom prst="rect">
            <a:avLst/>
          </a:prstGeom>
          <a:solidFill>
            <a:srgbClr val="E3E3DF"/>
          </a:solidFill>
          <a:ln/>
        </p:spPr>
      </p:sp>
      <p:sp>
        <p:nvSpPr>
          <p:cNvPr id="53" name="Text 51"/>
          <p:cNvSpPr/>
          <p:nvPr/>
        </p:nvSpPr>
        <p:spPr>
          <a:xfrm>
            <a:off x="11777514" y="4572000"/>
            <a:ext cx="1062335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75" dirty="0">
                <a:solidFill>
                  <a:srgbClr val="4A4A47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NAV cap rate</a:t>
            </a:r>
            <a:endParaRPr lang="en-US" sz="1275" dirty="0"/>
          </a:p>
        </p:txBody>
      </p:sp>
      <p:sp>
        <p:nvSpPr>
          <p:cNvPr id="54" name="Text 52"/>
          <p:cNvSpPr/>
          <p:nvPr/>
        </p:nvSpPr>
        <p:spPr>
          <a:xfrm>
            <a:off x="15968514" y="4572000"/>
            <a:ext cx="1545595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75" dirty="0">
                <a:solidFill>
                  <a:srgbClr val="9E5A4A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5.8% </a:t>
            </a:r>
            <a:pPr algn="l" indent="0" marL="0">
              <a:buNone/>
            </a:pPr>
            <a:r>
              <a:rPr lang="en-US" sz="1275" dirty="0">
                <a:solidFill>
                  <a:srgbClr val="1C1C1A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· </a:t>
            </a:r>
            <a:pPr algn="l" indent="0" marL="0">
              <a:buNone/>
            </a:pPr>
            <a:r>
              <a:rPr lang="en-US" sz="1275" b="1" dirty="0">
                <a:solidFill>
                  <a:srgbClr val="1C1C1A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5.0% </a:t>
            </a:r>
            <a:pPr algn="l" indent="0" marL="0">
              <a:buNone/>
            </a:pPr>
            <a:r>
              <a:rPr lang="en-US" sz="1275" dirty="0">
                <a:solidFill>
                  <a:srgbClr val="1C1C1A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· </a:t>
            </a:r>
            <a:pPr algn="l" indent="0" marL="0">
              <a:buNone/>
            </a:pPr>
            <a:r>
              <a:rPr lang="en-US" sz="1275" dirty="0">
                <a:solidFill>
                  <a:srgbClr val="5E7A66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4.5%</a:t>
            </a:r>
            <a:endParaRPr lang="en-US" sz="1275" dirty="0"/>
          </a:p>
        </p:txBody>
      </p:sp>
      <p:sp>
        <p:nvSpPr>
          <p:cNvPr id="55" name="Shape 53"/>
          <p:cNvSpPr/>
          <p:nvPr/>
        </p:nvSpPr>
        <p:spPr>
          <a:xfrm>
            <a:off x="11777514" y="5248275"/>
            <a:ext cx="5596086" cy="9525"/>
          </a:xfrm>
          <a:prstGeom prst="rect">
            <a:avLst/>
          </a:prstGeom>
          <a:solidFill>
            <a:srgbClr val="E3E3DF"/>
          </a:solidFill>
          <a:ln/>
        </p:spPr>
      </p:sp>
      <p:sp>
        <p:nvSpPr>
          <p:cNvPr id="56" name="Text 54"/>
          <p:cNvSpPr/>
          <p:nvPr/>
        </p:nvSpPr>
        <p:spPr>
          <a:xfrm>
            <a:off x="11777514" y="4962525"/>
            <a:ext cx="1790834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75" dirty="0">
                <a:solidFill>
                  <a:srgbClr val="4A4A47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Discount rate (WACC)</a:t>
            </a:r>
            <a:endParaRPr lang="en-US" sz="1275" dirty="0"/>
          </a:p>
        </p:txBody>
      </p:sp>
      <p:sp>
        <p:nvSpPr>
          <p:cNvPr id="57" name="Text 55"/>
          <p:cNvSpPr/>
          <p:nvPr/>
        </p:nvSpPr>
        <p:spPr>
          <a:xfrm>
            <a:off x="15985480" y="4962525"/>
            <a:ext cx="1526932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75" dirty="0">
                <a:solidFill>
                  <a:srgbClr val="9E5A4A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8.5% </a:t>
            </a:r>
            <a:pPr algn="l" indent="0" marL="0">
              <a:buNone/>
            </a:pPr>
            <a:r>
              <a:rPr lang="en-US" sz="1275" dirty="0">
                <a:solidFill>
                  <a:srgbClr val="1C1C1A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· </a:t>
            </a:r>
            <a:pPr algn="l" indent="0" marL="0">
              <a:buNone/>
            </a:pPr>
            <a:r>
              <a:rPr lang="en-US" sz="1275" b="1" dirty="0">
                <a:solidFill>
                  <a:srgbClr val="1C1C1A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7.5% </a:t>
            </a:r>
            <a:pPr algn="l" indent="0" marL="0">
              <a:buNone/>
            </a:pPr>
            <a:r>
              <a:rPr lang="en-US" sz="1275" dirty="0">
                <a:solidFill>
                  <a:srgbClr val="1C1C1A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· </a:t>
            </a:r>
            <a:pPr algn="l" indent="0" marL="0">
              <a:buNone/>
            </a:pPr>
            <a:r>
              <a:rPr lang="en-US" sz="1275" dirty="0">
                <a:solidFill>
                  <a:srgbClr val="5E7A66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7.0%</a:t>
            </a:r>
            <a:endParaRPr lang="en-US" sz="1275" dirty="0"/>
          </a:p>
        </p:txBody>
      </p:sp>
      <p:sp>
        <p:nvSpPr>
          <p:cNvPr id="58" name="Text 56"/>
          <p:cNvSpPr/>
          <p:nvPr/>
        </p:nvSpPr>
        <p:spPr>
          <a:xfrm>
            <a:off x="11777514" y="5353050"/>
            <a:ext cx="1345049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75" dirty="0">
                <a:solidFill>
                  <a:srgbClr val="4A4A47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Terminal growth</a:t>
            </a:r>
            <a:endParaRPr lang="en-US" sz="1275" dirty="0"/>
          </a:p>
        </p:txBody>
      </p:sp>
      <p:sp>
        <p:nvSpPr>
          <p:cNvPr id="59" name="Text 57"/>
          <p:cNvSpPr/>
          <p:nvPr/>
        </p:nvSpPr>
        <p:spPr>
          <a:xfrm>
            <a:off x="16009144" y="5353050"/>
            <a:ext cx="1500902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75" dirty="0">
                <a:solidFill>
                  <a:srgbClr val="9E5A4A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1.5% </a:t>
            </a:r>
            <a:pPr algn="l" indent="0" marL="0">
              <a:buNone/>
            </a:pPr>
            <a:r>
              <a:rPr lang="en-US" sz="1275" dirty="0">
                <a:solidFill>
                  <a:srgbClr val="1C1C1A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· </a:t>
            </a:r>
            <a:pPr algn="l" indent="0" marL="0">
              <a:buNone/>
            </a:pPr>
            <a:r>
              <a:rPr lang="en-US" sz="1275" b="1" dirty="0">
                <a:solidFill>
                  <a:srgbClr val="1C1C1A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2.5% </a:t>
            </a:r>
            <a:pPr algn="l" indent="0" marL="0">
              <a:buNone/>
            </a:pPr>
            <a:r>
              <a:rPr lang="en-US" sz="1275" dirty="0">
                <a:solidFill>
                  <a:srgbClr val="1C1C1A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· </a:t>
            </a:r>
            <a:pPr algn="l" indent="0" marL="0">
              <a:buNone/>
            </a:pPr>
            <a:r>
              <a:rPr lang="en-US" sz="1275" dirty="0">
                <a:solidFill>
                  <a:srgbClr val="5E7A66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3.0%</a:t>
            </a:r>
            <a:endParaRPr lang="en-US" sz="1275" dirty="0"/>
          </a:p>
        </p:txBody>
      </p:sp>
      <p:sp>
        <p:nvSpPr>
          <p:cNvPr id="60" name="Shape 58"/>
          <p:cNvSpPr/>
          <p:nvPr/>
        </p:nvSpPr>
        <p:spPr>
          <a:xfrm>
            <a:off x="914400" y="9505950"/>
            <a:ext cx="16459200" cy="9525"/>
          </a:xfrm>
          <a:prstGeom prst="rect">
            <a:avLst/>
          </a:prstGeom>
          <a:solidFill>
            <a:srgbClr val="E3E3DF"/>
          </a:solidFill>
          <a:ln/>
        </p:spPr>
      </p:sp>
      <p:sp>
        <p:nvSpPr>
          <p:cNvPr id="61" name="Text 59"/>
          <p:cNvSpPr/>
          <p:nvPr/>
        </p:nvSpPr>
        <p:spPr>
          <a:xfrm>
            <a:off x="914400" y="9648825"/>
            <a:ext cx="8581564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A0A09A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Source: model Scenarios &amp; Summary tabs. Bull/Bear outputs are model-derived captures run at the respective scenario switch.</a:t>
            </a:r>
            <a:endParaRPr lang="en-US" sz="1050" dirty="0"/>
          </a:p>
        </p:txBody>
      </p:sp>
      <p:sp>
        <p:nvSpPr>
          <p:cNvPr id="62" name="Text 60"/>
          <p:cNvSpPr/>
          <p:nvPr/>
        </p:nvSpPr>
        <p:spPr>
          <a:xfrm>
            <a:off x="17192179" y="9648825"/>
            <a:ext cx="257621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4A4A47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09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904875"/>
            <a:ext cx="16459200" cy="14288"/>
          </a:xfrm>
          <a:prstGeom prst="rect">
            <a:avLst/>
          </a:prstGeom>
          <a:solidFill>
            <a:srgbClr val="1C1C1A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590550"/>
            <a:ext cx="2935992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rgbClr val="8C8C86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PROLOGIS, INC. · NYSE: PLD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4345841" y="590550"/>
            <a:ext cx="3330535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rgbClr val="8C8C86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EQUITY RESEARCH — INITIATION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914400" y="1443038"/>
            <a:ext cx="309414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spc="188" kern="0" dirty="0">
                <a:solidFill>
                  <a:srgbClr val="2B3A52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10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319064" y="1147763"/>
            <a:ext cx="8919790" cy="514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750" dirty="0">
                <a:solidFill>
                  <a:srgbClr val="1C1C1A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Valuation Summary &amp; Recommendation</a:t>
            </a:r>
            <a:endParaRPr lang="en-US" sz="3750" dirty="0"/>
          </a:p>
        </p:txBody>
      </p:sp>
      <p:sp>
        <p:nvSpPr>
          <p:cNvPr id="7" name="Text 5"/>
          <p:cNvSpPr/>
          <p:nvPr/>
        </p:nvSpPr>
        <p:spPr>
          <a:xfrm>
            <a:off x="914400" y="1852612"/>
            <a:ext cx="4480768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75" b="1" spc="150" kern="0" dirty="0">
                <a:solidFill>
                  <a:srgbClr val="2B3A52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FOOTBALL FIELD — VALUE PER SHARE ($)</a:t>
            </a:r>
            <a:endParaRPr lang="en-US" sz="1275" dirty="0"/>
          </a:p>
        </p:txBody>
      </p:sp>
      <p:sp>
        <p:nvSpPr>
          <p:cNvPr id="8" name="Shape 6"/>
          <p:cNvSpPr/>
          <p:nvPr/>
        </p:nvSpPr>
        <p:spPr>
          <a:xfrm>
            <a:off x="13557647" y="1890713"/>
            <a:ext cx="209550" cy="114300"/>
          </a:xfrm>
          <a:prstGeom prst="rect">
            <a:avLst/>
          </a:prstGeom>
          <a:solidFill>
            <a:srgbClr val="C2CAD8"/>
          </a:solidFill>
          <a:ln/>
        </p:spPr>
      </p:sp>
      <p:sp>
        <p:nvSpPr>
          <p:cNvPr id="9" name="Text 7"/>
          <p:cNvSpPr/>
          <p:nvPr/>
        </p:nvSpPr>
        <p:spPr>
          <a:xfrm>
            <a:off x="13843397" y="1862138"/>
            <a:ext cx="503494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25" dirty="0">
                <a:solidFill>
                  <a:srgbClr val="8C8C86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Range</a:t>
            </a:r>
            <a:endParaRPr lang="en-US" sz="1125" dirty="0"/>
          </a:p>
        </p:txBody>
      </p:sp>
      <p:sp>
        <p:nvSpPr>
          <p:cNvPr id="10" name="Shape 8"/>
          <p:cNvSpPr/>
          <p:nvPr/>
        </p:nvSpPr>
        <p:spPr>
          <a:xfrm>
            <a:off x="14480381" y="1862138"/>
            <a:ext cx="28575" cy="171450"/>
          </a:xfrm>
          <a:prstGeom prst="rect">
            <a:avLst/>
          </a:prstGeom>
          <a:solidFill>
            <a:srgbClr val="2B3A52"/>
          </a:solidFill>
          <a:ln/>
        </p:spPr>
      </p:sp>
      <p:sp>
        <p:nvSpPr>
          <p:cNvPr id="11" name="Text 9"/>
          <p:cNvSpPr/>
          <p:nvPr/>
        </p:nvSpPr>
        <p:spPr>
          <a:xfrm>
            <a:off x="14585156" y="1862138"/>
            <a:ext cx="769609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25" dirty="0">
                <a:solidFill>
                  <a:srgbClr val="8C8C86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Base / mid</a:t>
            </a:r>
            <a:endParaRPr lang="en-US" sz="1125" dirty="0"/>
          </a:p>
        </p:txBody>
      </p:sp>
      <p:sp>
        <p:nvSpPr>
          <p:cNvPr id="12" name="Shape 10"/>
          <p:cNvSpPr/>
          <p:nvPr/>
        </p:nvSpPr>
        <p:spPr>
          <a:xfrm>
            <a:off x="15488245" y="1862138"/>
            <a:ext cx="19050" cy="171450"/>
          </a:xfrm>
          <a:prstGeom prst="rect">
            <a:avLst/>
          </a:prstGeom>
          <a:solidFill>
            <a:srgbClr val="9E5A4A"/>
          </a:solidFill>
          <a:ln/>
        </p:spPr>
      </p:sp>
      <p:sp>
        <p:nvSpPr>
          <p:cNvPr id="13" name="Text 11"/>
          <p:cNvSpPr/>
          <p:nvPr/>
        </p:nvSpPr>
        <p:spPr>
          <a:xfrm>
            <a:off x="15583495" y="1862138"/>
            <a:ext cx="844912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25" dirty="0">
                <a:solidFill>
                  <a:srgbClr val="8C8C86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Target $117</a:t>
            </a:r>
            <a:endParaRPr lang="en-US" sz="1125" dirty="0"/>
          </a:p>
        </p:txBody>
      </p:sp>
      <p:sp>
        <p:nvSpPr>
          <p:cNvPr id="14" name="Shape 12"/>
          <p:cNvSpPr/>
          <p:nvPr/>
        </p:nvSpPr>
        <p:spPr>
          <a:xfrm>
            <a:off x="16561891" y="1862138"/>
            <a:ext cx="19050" cy="171450"/>
          </a:xfrm>
          <a:prstGeom prst="rect">
            <a:avLst/>
          </a:prstGeom>
          <a:solidFill>
            <a:srgbClr val="1C1C1A"/>
          </a:solidFill>
          <a:ln/>
        </p:spPr>
      </p:sp>
      <p:sp>
        <p:nvSpPr>
          <p:cNvPr id="15" name="Text 13"/>
          <p:cNvSpPr/>
          <p:nvPr/>
        </p:nvSpPr>
        <p:spPr>
          <a:xfrm>
            <a:off x="16657141" y="1862138"/>
            <a:ext cx="792653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25" dirty="0">
                <a:solidFill>
                  <a:srgbClr val="8C8C86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Price $145</a:t>
            </a:r>
            <a:endParaRPr lang="en-US" sz="1125" dirty="0"/>
          </a:p>
        </p:txBody>
      </p:sp>
      <p:sp>
        <p:nvSpPr>
          <p:cNvPr id="16" name="Text 14"/>
          <p:cNvSpPr/>
          <p:nvPr/>
        </p:nvSpPr>
        <p:spPr>
          <a:xfrm>
            <a:off x="914400" y="2343150"/>
            <a:ext cx="2200275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75" b="1" dirty="0">
                <a:solidFill>
                  <a:srgbClr val="1C1C1A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NAV</a:t>
            </a:r>
            <a:endParaRPr lang="en-US" sz="1575" dirty="0"/>
          </a:p>
        </p:txBody>
      </p:sp>
      <p:sp>
        <p:nvSpPr>
          <p:cNvPr id="17" name="Text 15"/>
          <p:cNvSpPr/>
          <p:nvPr/>
        </p:nvSpPr>
        <p:spPr>
          <a:xfrm>
            <a:off x="914400" y="2581275"/>
            <a:ext cx="2200275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dirty="0">
                <a:solidFill>
                  <a:srgbClr val="8C8C86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$99 / 124 / 146</a:t>
            </a:r>
            <a:endParaRPr lang="en-US" sz="1125" dirty="0"/>
          </a:p>
        </p:txBody>
      </p:sp>
      <p:sp>
        <p:nvSpPr>
          <p:cNvPr id="18" name="Text 16"/>
          <p:cNvSpPr/>
          <p:nvPr/>
        </p:nvSpPr>
        <p:spPr>
          <a:xfrm>
            <a:off x="914400" y="3009900"/>
            <a:ext cx="2200275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75" b="1" dirty="0">
                <a:solidFill>
                  <a:srgbClr val="1C1C1A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DCF</a:t>
            </a:r>
            <a:endParaRPr lang="en-US" sz="1575" dirty="0"/>
          </a:p>
        </p:txBody>
      </p:sp>
      <p:sp>
        <p:nvSpPr>
          <p:cNvPr id="19" name="Text 17"/>
          <p:cNvSpPr/>
          <p:nvPr/>
        </p:nvSpPr>
        <p:spPr>
          <a:xfrm>
            <a:off x="914400" y="3248025"/>
            <a:ext cx="2200275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dirty="0">
                <a:solidFill>
                  <a:srgbClr val="8C8C86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$103 / 124 / 138</a:t>
            </a:r>
            <a:endParaRPr lang="en-US" sz="1125" dirty="0"/>
          </a:p>
        </p:txBody>
      </p:sp>
      <p:sp>
        <p:nvSpPr>
          <p:cNvPr id="20" name="Text 18"/>
          <p:cNvSpPr/>
          <p:nvPr/>
        </p:nvSpPr>
        <p:spPr>
          <a:xfrm>
            <a:off x="914400" y="3676650"/>
            <a:ext cx="2200275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75" b="1" dirty="0">
                <a:solidFill>
                  <a:srgbClr val="1C1C1A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Trading comps</a:t>
            </a:r>
            <a:endParaRPr lang="en-US" sz="1575" dirty="0"/>
          </a:p>
        </p:txBody>
      </p:sp>
      <p:sp>
        <p:nvSpPr>
          <p:cNvPr id="21" name="Text 19"/>
          <p:cNvSpPr/>
          <p:nvPr/>
        </p:nvSpPr>
        <p:spPr>
          <a:xfrm>
            <a:off x="914400" y="3914775"/>
            <a:ext cx="2200275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dirty="0">
                <a:solidFill>
                  <a:srgbClr val="8C8C86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$93 / 100 / 107</a:t>
            </a:r>
            <a:endParaRPr lang="en-US" sz="1125" dirty="0"/>
          </a:p>
        </p:txBody>
      </p:sp>
      <p:sp>
        <p:nvSpPr>
          <p:cNvPr id="22" name="Shape 20"/>
          <p:cNvSpPr/>
          <p:nvPr/>
        </p:nvSpPr>
        <p:spPr>
          <a:xfrm>
            <a:off x="16260217" y="2214563"/>
            <a:ext cx="19050" cy="2000250"/>
          </a:xfrm>
          <a:prstGeom prst="rect">
            <a:avLst/>
          </a:prstGeom>
          <a:solidFill>
            <a:srgbClr val="1C1C1A"/>
          </a:solidFill>
          <a:ln/>
        </p:spPr>
      </p:sp>
      <p:sp>
        <p:nvSpPr>
          <p:cNvPr id="23" name="Shape 21"/>
          <p:cNvSpPr/>
          <p:nvPr/>
        </p:nvSpPr>
        <p:spPr>
          <a:xfrm>
            <a:off x="10028337" y="2214563"/>
            <a:ext cx="19050" cy="2000250"/>
          </a:xfrm>
          <a:prstGeom prst="rect">
            <a:avLst/>
          </a:prstGeom>
          <a:solidFill>
            <a:srgbClr val="9E5A4A"/>
          </a:solidFill>
          <a:ln/>
        </p:spPr>
      </p:sp>
      <p:sp>
        <p:nvSpPr>
          <p:cNvPr id="24" name="Shape 22"/>
          <p:cNvSpPr/>
          <p:nvPr/>
        </p:nvSpPr>
        <p:spPr>
          <a:xfrm>
            <a:off x="6023223" y="2424113"/>
            <a:ext cx="10366921" cy="247650"/>
          </a:xfrm>
          <a:prstGeom prst="rect">
            <a:avLst/>
          </a:prstGeom>
          <a:solidFill>
            <a:srgbClr val="C2CAD8"/>
          </a:solidFill>
          <a:ln/>
        </p:spPr>
      </p:sp>
      <p:sp>
        <p:nvSpPr>
          <p:cNvPr id="25" name="Shape 23"/>
          <p:cNvSpPr/>
          <p:nvPr/>
        </p:nvSpPr>
        <p:spPr>
          <a:xfrm>
            <a:off x="11691193" y="2357438"/>
            <a:ext cx="28575" cy="381000"/>
          </a:xfrm>
          <a:prstGeom prst="rect">
            <a:avLst/>
          </a:prstGeom>
          <a:solidFill>
            <a:srgbClr val="2B3A52"/>
          </a:solidFill>
          <a:ln/>
        </p:spPr>
      </p:sp>
      <p:sp>
        <p:nvSpPr>
          <p:cNvPr id="26" name="Shape 24"/>
          <p:cNvSpPr/>
          <p:nvPr/>
        </p:nvSpPr>
        <p:spPr>
          <a:xfrm>
            <a:off x="6818561" y="3090863"/>
            <a:ext cx="7865566" cy="247650"/>
          </a:xfrm>
          <a:prstGeom prst="rect">
            <a:avLst/>
          </a:prstGeom>
          <a:solidFill>
            <a:srgbClr val="C2CAD8"/>
          </a:solidFill>
          <a:ln/>
        </p:spPr>
      </p:sp>
      <p:sp>
        <p:nvSpPr>
          <p:cNvPr id="27" name="Shape 25"/>
          <p:cNvSpPr/>
          <p:nvPr/>
        </p:nvSpPr>
        <p:spPr>
          <a:xfrm>
            <a:off x="11532096" y="3024188"/>
            <a:ext cx="28575" cy="381000"/>
          </a:xfrm>
          <a:prstGeom prst="rect">
            <a:avLst/>
          </a:prstGeom>
          <a:solidFill>
            <a:srgbClr val="2B3A52"/>
          </a:solidFill>
          <a:ln/>
        </p:spPr>
      </p:sp>
      <p:sp>
        <p:nvSpPr>
          <p:cNvPr id="28" name="Shape 26"/>
          <p:cNvSpPr/>
          <p:nvPr/>
        </p:nvSpPr>
        <p:spPr>
          <a:xfrm>
            <a:off x="4591794" y="3757613"/>
            <a:ext cx="3180904" cy="247650"/>
          </a:xfrm>
          <a:prstGeom prst="rect">
            <a:avLst/>
          </a:prstGeom>
          <a:solidFill>
            <a:srgbClr val="C2CAD8"/>
          </a:solidFill>
          <a:ln/>
        </p:spPr>
      </p:sp>
      <p:sp>
        <p:nvSpPr>
          <p:cNvPr id="29" name="Shape 27"/>
          <p:cNvSpPr/>
          <p:nvPr/>
        </p:nvSpPr>
        <p:spPr>
          <a:xfrm>
            <a:off x="6182320" y="3690937"/>
            <a:ext cx="28575" cy="381000"/>
          </a:xfrm>
          <a:prstGeom prst="rect">
            <a:avLst/>
          </a:prstGeom>
          <a:solidFill>
            <a:srgbClr val="2B3A52"/>
          </a:solidFill>
          <a:ln/>
        </p:spPr>
      </p:sp>
      <p:sp>
        <p:nvSpPr>
          <p:cNvPr id="30" name="Shape 28"/>
          <p:cNvSpPr/>
          <p:nvPr/>
        </p:nvSpPr>
        <p:spPr>
          <a:xfrm>
            <a:off x="2914650" y="2214563"/>
            <a:ext cx="14458950" cy="9525"/>
          </a:xfrm>
          <a:prstGeom prst="rect">
            <a:avLst/>
          </a:prstGeom>
          <a:solidFill>
            <a:srgbClr val="CFCFC9"/>
          </a:solidFill>
          <a:ln/>
        </p:spPr>
      </p:sp>
      <p:sp>
        <p:nvSpPr>
          <p:cNvPr id="31" name="Text 29"/>
          <p:cNvSpPr/>
          <p:nvPr/>
        </p:nvSpPr>
        <p:spPr>
          <a:xfrm>
            <a:off x="3896916" y="2281238"/>
            <a:ext cx="336352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8C8C86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$90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6090345" y="2281238"/>
            <a:ext cx="402431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8C8C86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$100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8333631" y="2281238"/>
            <a:ext cx="372814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8C8C86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$110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10536287" y="2281238"/>
            <a:ext cx="390674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8C8C86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$120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12760672" y="2281238"/>
            <a:ext cx="396180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8C8C86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$130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14987290" y="2281238"/>
            <a:ext cx="397222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8C8C86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$140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17211675" y="2281238"/>
            <a:ext cx="397966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8C8C86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$150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914400" y="4462463"/>
            <a:ext cx="16459200" cy="14288"/>
          </a:xfrm>
          <a:prstGeom prst="rect">
            <a:avLst/>
          </a:prstGeom>
          <a:solidFill>
            <a:srgbClr val="1C1C1A"/>
          </a:solidFill>
          <a:ln/>
        </p:spPr>
      </p:sp>
      <p:sp>
        <p:nvSpPr>
          <p:cNvPr id="39" name="Text 37"/>
          <p:cNvSpPr/>
          <p:nvPr/>
        </p:nvSpPr>
        <p:spPr>
          <a:xfrm>
            <a:off x="914400" y="4686300"/>
            <a:ext cx="4707181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b="1" spc="150" kern="0" dirty="0">
                <a:solidFill>
                  <a:srgbClr val="8C8C86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RECOMMENDATION</a:t>
            </a:r>
            <a:endParaRPr lang="en-US" sz="1125" dirty="0"/>
          </a:p>
        </p:txBody>
      </p:sp>
      <p:sp>
        <p:nvSpPr>
          <p:cNvPr id="40" name="Text 38"/>
          <p:cNvSpPr/>
          <p:nvPr/>
        </p:nvSpPr>
        <p:spPr>
          <a:xfrm>
            <a:off x="914400" y="4895850"/>
            <a:ext cx="4707181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150" dirty="0">
                <a:solidFill>
                  <a:srgbClr val="9E5A4A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Underweight</a:t>
            </a:r>
            <a:endParaRPr lang="en-US" sz="3150" dirty="0"/>
          </a:p>
        </p:txBody>
      </p:sp>
      <p:sp>
        <p:nvSpPr>
          <p:cNvPr id="41" name="Text 39"/>
          <p:cNvSpPr/>
          <p:nvPr/>
        </p:nvSpPr>
        <p:spPr>
          <a:xfrm>
            <a:off x="914400" y="5372100"/>
            <a:ext cx="4707181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4A4A47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PT </a:t>
            </a:r>
            <a:pPr algn="l" indent="0" marL="0">
              <a:buNone/>
            </a:pPr>
            <a:r>
              <a:rPr lang="en-US" sz="1650" b="1" dirty="0">
                <a:solidFill>
                  <a:srgbClr val="1C1C1A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$117 </a:t>
            </a:r>
            <a:pPr algn="l" indent="0" marL="0">
              <a:buNone/>
            </a:pPr>
            <a:r>
              <a:rPr lang="en-US" sz="1650" dirty="0">
                <a:solidFill>
                  <a:srgbClr val="4A4A47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· </a:t>
            </a:r>
            <a:pPr algn="l" indent="0" marL="0">
              <a:buNone/>
            </a:pPr>
            <a:r>
              <a:rPr lang="en-US" sz="1650" b="1" dirty="0">
                <a:solidFill>
                  <a:srgbClr val="9E5A4A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−19%</a:t>
            </a:r>
            <a:endParaRPr lang="en-US" sz="1650" dirty="0"/>
          </a:p>
        </p:txBody>
      </p:sp>
      <p:sp>
        <p:nvSpPr>
          <p:cNvPr id="42" name="Text 40"/>
          <p:cNvSpPr/>
          <p:nvPr/>
        </p:nvSpPr>
        <p:spPr>
          <a:xfrm>
            <a:off x="914400" y="5715000"/>
            <a:ext cx="4407633" cy="666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8C8C86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Probability-weighted across Bear / Base / Bull (25 / 50 / 25%). Intrinsic value triangulates near $124; the price already discounts the bull case.</a:t>
            </a:r>
            <a:endParaRPr lang="en-US" sz="1200" dirty="0"/>
          </a:p>
        </p:txBody>
      </p:sp>
      <p:sp>
        <p:nvSpPr>
          <p:cNvPr id="43" name="Shape 41"/>
          <p:cNvSpPr/>
          <p:nvPr/>
        </p:nvSpPr>
        <p:spPr>
          <a:xfrm>
            <a:off x="5650855" y="4686300"/>
            <a:ext cx="9525" cy="4819650"/>
          </a:xfrm>
          <a:prstGeom prst="rect">
            <a:avLst/>
          </a:prstGeom>
          <a:solidFill>
            <a:srgbClr val="E3E3DF"/>
          </a:solidFill>
          <a:ln/>
        </p:spPr>
      </p:sp>
      <p:sp>
        <p:nvSpPr>
          <p:cNvPr id="44" name="Text 42"/>
          <p:cNvSpPr/>
          <p:nvPr/>
        </p:nvSpPr>
        <p:spPr>
          <a:xfrm>
            <a:off x="6117580" y="4686300"/>
            <a:ext cx="5682734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b="1" spc="150" kern="0" dirty="0">
                <a:solidFill>
                  <a:srgbClr val="5E7A66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CATALYSTS TOWARD THE BULL CASE</a:t>
            </a:r>
            <a:endParaRPr lang="en-US" sz="1125" dirty="0"/>
          </a:p>
        </p:txBody>
      </p:sp>
      <p:sp>
        <p:nvSpPr>
          <p:cNvPr id="45" name="Text 43"/>
          <p:cNvSpPr/>
          <p:nvPr/>
        </p:nvSpPr>
        <p:spPr>
          <a:xfrm>
            <a:off x="5997565" y="4972050"/>
            <a:ext cx="5362337" cy="16478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350" dirty="0">
                <a:solidFill>
                  <a:srgbClr val="4A4A47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Cap-rate compression / lower rates — the dominant lever (~$6–7/sh per 25bps).</a:t>
            </a:r>
            <a:endParaRPr lang="en-US" sz="135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1350" dirty="0">
                <a:solidFill>
                  <a:srgbClr val="4A4A47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Data-center development scaling at premium value-creation margins.</a:t>
            </a:r>
            <a:endParaRPr lang="en-US" sz="135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1350" dirty="0">
                <a:solidFill>
                  <a:srgbClr val="4A4A47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Strategic-capital AUM growth and promote crystallization.</a:t>
            </a:r>
            <a:endParaRPr lang="en-US" sz="1350" dirty="0"/>
          </a:p>
        </p:txBody>
      </p:sp>
      <p:sp>
        <p:nvSpPr>
          <p:cNvPr id="46" name="Shape 44"/>
          <p:cNvSpPr/>
          <p:nvPr/>
        </p:nvSpPr>
        <p:spPr>
          <a:xfrm>
            <a:off x="11740902" y="4686300"/>
            <a:ext cx="9525" cy="4819650"/>
          </a:xfrm>
          <a:prstGeom prst="rect">
            <a:avLst/>
          </a:prstGeom>
          <a:solidFill>
            <a:srgbClr val="E3E3DF"/>
          </a:solidFill>
          <a:ln/>
        </p:spPr>
      </p:sp>
      <p:sp>
        <p:nvSpPr>
          <p:cNvPr id="47" name="Text 45"/>
          <p:cNvSpPr/>
          <p:nvPr/>
        </p:nvSpPr>
        <p:spPr>
          <a:xfrm>
            <a:off x="12207627" y="4686300"/>
            <a:ext cx="5682734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b="1" spc="150" kern="0" dirty="0">
                <a:solidFill>
                  <a:srgbClr val="9E5A4A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RISKS WE ARE WATCHING</a:t>
            </a:r>
            <a:endParaRPr lang="en-US" sz="1125" dirty="0"/>
          </a:p>
        </p:txBody>
      </p:sp>
      <p:sp>
        <p:nvSpPr>
          <p:cNvPr id="48" name="Text 46"/>
          <p:cNvSpPr/>
          <p:nvPr/>
        </p:nvSpPr>
        <p:spPr>
          <a:xfrm>
            <a:off x="12087612" y="4972050"/>
            <a:ext cx="5362337" cy="1409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350" dirty="0">
                <a:solidFill>
                  <a:srgbClr val="4A4A47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Rising cap &amp; discount rates with softening rents — bear implies ~30–50% downside.</a:t>
            </a:r>
            <a:endParaRPr lang="en-US" sz="135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1350" dirty="0">
                <a:solidFill>
                  <a:srgbClr val="4A4A47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Development margin compression and ATM-equity dilution.</a:t>
            </a:r>
            <a:endParaRPr lang="en-US" sz="135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1350" dirty="0">
                <a:solidFill>
                  <a:srgbClr val="4A4A47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Multiple compression from today's premium valuation.</a:t>
            </a:r>
            <a:endParaRPr lang="en-US" sz="1350" dirty="0"/>
          </a:p>
        </p:txBody>
      </p:sp>
      <p:sp>
        <p:nvSpPr>
          <p:cNvPr id="49" name="Shape 47"/>
          <p:cNvSpPr/>
          <p:nvPr/>
        </p:nvSpPr>
        <p:spPr>
          <a:xfrm>
            <a:off x="914400" y="9505950"/>
            <a:ext cx="16459200" cy="9525"/>
          </a:xfrm>
          <a:prstGeom prst="rect">
            <a:avLst/>
          </a:prstGeom>
          <a:solidFill>
            <a:srgbClr val="E3E3DF"/>
          </a:solidFill>
          <a:ln/>
        </p:spPr>
      </p:sp>
      <p:sp>
        <p:nvSpPr>
          <p:cNvPr id="50" name="Text 48"/>
          <p:cNvSpPr/>
          <p:nvPr/>
        </p:nvSpPr>
        <p:spPr>
          <a:xfrm>
            <a:off x="914400" y="9648825"/>
            <a:ext cx="10601757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A0A09A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Source: model Football Field, Scenarios &amp; Summary tabs. NAV = scenario range; DCF = 7.0–8.5% WACC band (g 2.5%); comps = P/AFFO–P/Core FFO implied.</a:t>
            </a:r>
            <a:endParaRPr lang="en-US" sz="1050" dirty="0"/>
          </a:p>
        </p:txBody>
      </p:sp>
      <p:sp>
        <p:nvSpPr>
          <p:cNvPr id="51" name="Text 49"/>
          <p:cNvSpPr/>
          <p:nvPr/>
        </p:nvSpPr>
        <p:spPr>
          <a:xfrm>
            <a:off x="17217033" y="9648825"/>
            <a:ext cx="232767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4A4A47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10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A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904875"/>
            <a:ext cx="16459200" cy="14288"/>
          </a:xfrm>
          <a:prstGeom prst="rect">
            <a:avLst/>
          </a:prstGeom>
          <a:solidFill>
            <a:srgbClr val="1C1C1A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590550"/>
            <a:ext cx="2935992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rgbClr val="8C8C86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PROLOGIS, INC. · NYSE: PLD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6291768" y="590550"/>
            <a:ext cx="1158032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rgbClr val="8C8C86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APPENDIX I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914400" y="1443038"/>
            <a:ext cx="318790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spc="188" kern="0" dirty="0">
                <a:solidFill>
                  <a:srgbClr val="2B3A52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A1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328440" y="1147763"/>
            <a:ext cx="7973541" cy="514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750" dirty="0">
                <a:solidFill>
                  <a:srgbClr val="1C1C1A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Key Assumptions — Scenario Levers</a:t>
            </a:r>
            <a:endParaRPr lang="en-US" sz="3750" dirty="0"/>
          </a:p>
        </p:txBody>
      </p:sp>
      <p:sp>
        <p:nvSpPr>
          <p:cNvPr id="7" name="Text 5"/>
          <p:cNvSpPr/>
          <p:nvPr/>
        </p:nvSpPr>
        <p:spPr>
          <a:xfrm>
            <a:off x="914400" y="1890713"/>
            <a:ext cx="8717280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rgbClr val="2B3A52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OPERATING &amp; DEVELOPMENT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914400" y="2528888"/>
            <a:ext cx="7924800" cy="14288"/>
          </a:xfrm>
          <a:prstGeom prst="rect">
            <a:avLst/>
          </a:prstGeom>
          <a:solidFill>
            <a:srgbClr val="1C1C1A"/>
          </a:solidFill>
          <a:ln/>
        </p:spPr>
      </p:sp>
      <p:sp>
        <p:nvSpPr>
          <p:cNvPr id="9" name="Text 7"/>
          <p:cNvSpPr/>
          <p:nvPr/>
        </p:nvSpPr>
        <p:spPr>
          <a:xfrm>
            <a:off x="5674072" y="2271713"/>
            <a:ext cx="1034951" cy="223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5A4A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Bear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709023" y="2271713"/>
            <a:ext cx="1062484" cy="223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2B3A52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Base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771507" y="2271713"/>
            <a:ext cx="1029891" cy="223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5E7A66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Bull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914400" y="2909888"/>
            <a:ext cx="7924800" cy="9525"/>
          </a:xfrm>
          <a:prstGeom prst="rect">
            <a:avLst/>
          </a:prstGeom>
          <a:solidFill>
            <a:srgbClr val="E3E3DF"/>
          </a:solidFill>
          <a:ln/>
        </p:spPr>
      </p:sp>
      <p:sp>
        <p:nvSpPr>
          <p:cNvPr id="13" name="Text 11"/>
          <p:cNvSpPr/>
          <p:nvPr/>
        </p:nvSpPr>
        <p:spPr>
          <a:xfrm>
            <a:off x="952500" y="2628900"/>
            <a:ext cx="4865505" cy="242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275" dirty="0">
                <a:solidFill>
                  <a:srgbClr val="4A4A47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Average occupancy</a:t>
            </a:r>
            <a:endParaRPr lang="en-US" sz="1275" dirty="0"/>
          </a:p>
        </p:txBody>
      </p:sp>
      <p:sp>
        <p:nvSpPr>
          <p:cNvPr id="14" name="Text 12"/>
          <p:cNvSpPr/>
          <p:nvPr/>
        </p:nvSpPr>
        <p:spPr>
          <a:xfrm>
            <a:off x="5674072" y="2628900"/>
            <a:ext cx="1034951" cy="242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1275" dirty="0">
                <a:solidFill>
                  <a:srgbClr val="1C1C1A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93.5%</a:t>
            </a:r>
            <a:endParaRPr lang="en-US" sz="1275" dirty="0"/>
          </a:p>
        </p:txBody>
      </p:sp>
      <p:sp>
        <p:nvSpPr>
          <p:cNvPr id="15" name="Text 13"/>
          <p:cNvSpPr/>
          <p:nvPr/>
        </p:nvSpPr>
        <p:spPr>
          <a:xfrm>
            <a:off x="6709023" y="2628900"/>
            <a:ext cx="1062484" cy="242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1275" b="1" dirty="0">
                <a:solidFill>
                  <a:srgbClr val="1C1C1A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95.3%</a:t>
            </a:r>
            <a:endParaRPr lang="en-US" sz="1275" dirty="0"/>
          </a:p>
        </p:txBody>
      </p:sp>
      <p:sp>
        <p:nvSpPr>
          <p:cNvPr id="16" name="Text 14"/>
          <p:cNvSpPr/>
          <p:nvPr/>
        </p:nvSpPr>
        <p:spPr>
          <a:xfrm>
            <a:off x="7771507" y="2628900"/>
            <a:ext cx="1029891" cy="242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1275" dirty="0">
                <a:solidFill>
                  <a:srgbClr val="1C1C1A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95.7%</a:t>
            </a:r>
            <a:endParaRPr lang="en-US" sz="1275" dirty="0"/>
          </a:p>
        </p:txBody>
      </p:sp>
      <p:sp>
        <p:nvSpPr>
          <p:cNvPr id="17" name="Shape 15"/>
          <p:cNvSpPr/>
          <p:nvPr/>
        </p:nvSpPr>
        <p:spPr>
          <a:xfrm>
            <a:off x="914400" y="3281363"/>
            <a:ext cx="7924800" cy="9525"/>
          </a:xfrm>
          <a:prstGeom prst="rect">
            <a:avLst/>
          </a:prstGeom>
          <a:solidFill>
            <a:srgbClr val="E3E3DF"/>
          </a:solidFill>
          <a:ln/>
        </p:spPr>
      </p:sp>
      <p:sp>
        <p:nvSpPr>
          <p:cNvPr id="18" name="Text 16"/>
          <p:cNvSpPr/>
          <p:nvPr/>
        </p:nvSpPr>
        <p:spPr>
          <a:xfrm>
            <a:off x="952500" y="3005138"/>
            <a:ext cx="4865505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275" dirty="0">
                <a:solidFill>
                  <a:srgbClr val="4A4A47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Market rent growth (Y1)</a:t>
            </a:r>
            <a:endParaRPr lang="en-US" sz="1275" dirty="0"/>
          </a:p>
        </p:txBody>
      </p:sp>
      <p:sp>
        <p:nvSpPr>
          <p:cNvPr id="19" name="Text 17"/>
          <p:cNvSpPr/>
          <p:nvPr/>
        </p:nvSpPr>
        <p:spPr>
          <a:xfrm>
            <a:off x="5674072" y="3005138"/>
            <a:ext cx="1034951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1275" dirty="0">
                <a:solidFill>
                  <a:srgbClr val="1C1C1A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−1.0%</a:t>
            </a:r>
            <a:endParaRPr lang="en-US" sz="1275" dirty="0"/>
          </a:p>
        </p:txBody>
      </p:sp>
      <p:sp>
        <p:nvSpPr>
          <p:cNvPr id="20" name="Text 18"/>
          <p:cNvSpPr/>
          <p:nvPr/>
        </p:nvSpPr>
        <p:spPr>
          <a:xfrm>
            <a:off x="6709023" y="3005138"/>
            <a:ext cx="1062484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1275" b="1" dirty="0">
                <a:solidFill>
                  <a:srgbClr val="1C1C1A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3.0%</a:t>
            </a:r>
            <a:endParaRPr lang="en-US" sz="1275" dirty="0"/>
          </a:p>
        </p:txBody>
      </p:sp>
      <p:sp>
        <p:nvSpPr>
          <p:cNvPr id="21" name="Text 19"/>
          <p:cNvSpPr/>
          <p:nvPr/>
        </p:nvSpPr>
        <p:spPr>
          <a:xfrm>
            <a:off x="7771507" y="3005138"/>
            <a:ext cx="1029891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1275" dirty="0">
                <a:solidFill>
                  <a:srgbClr val="1C1C1A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6.0%</a:t>
            </a:r>
            <a:endParaRPr lang="en-US" sz="1275" dirty="0"/>
          </a:p>
        </p:txBody>
      </p:sp>
      <p:sp>
        <p:nvSpPr>
          <p:cNvPr id="22" name="Shape 20"/>
          <p:cNvSpPr/>
          <p:nvPr/>
        </p:nvSpPr>
        <p:spPr>
          <a:xfrm>
            <a:off x="914400" y="3652838"/>
            <a:ext cx="7924800" cy="9525"/>
          </a:xfrm>
          <a:prstGeom prst="rect">
            <a:avLst/>
          </a:prstGeom>
          <a:solidFill>
            <a:srgbClr val="E3E3DF"/>
          </a:solidFill>
          <a:ln/>
        </p:spPr>
      </p:sp>
      <p:sp>
        <p:nvSpPr>
          <p:cNvPr id="23" name="Text 21"/>
          <p:cNvSpPr/>
          <p:nvPr/>
        </p:nvSpPr>
        <p:spPr>
          <a:xfrm>
            <a:off x="952500" y="3376613"/>
            <a:ext cx="4865505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275" dirty="0">
                <a:solidFill>
                  <a:srgbClr val="4A4A47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Contractual escalators</a:t>
            </a:r>
            <a:endParaRPr lang="en-US" sz="1275" dirty="0"/>
          </a:p>
        </p:txBody>
      </p:sp>
      <p:sp>
        <p:nvSpPr>
          <p:cNvPr id="24" name="Text 22"/>
          <p:cNvSpPr/>
          <p:nvPr/>
        </p:nvSpPr>
        <p:spPr>
          <a:xfrm>
            <a:off x="5674072" y="3376613"/>
            <a:ext cx="1034951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1275" dirty="0">
                <a:solidFill>
                  <a:srgbClr val="1C1C1A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3.5%</a:t>
            </a:r>
            <a:endParaRPr lang="en-US" sz="1275" dirty="0"/>
          </a:p>
        </p:txBody>
      </p:sp>
      <p:sp>
        <p:nvSpPr>
          <p:cNvPr id="25" name="Text 23"/>
          <p:cNvSpPr/>
          <p:nvPr/>
        </p:nvSpPr>
        <p:spPr>
          <a:xfrm>
            <a:off x="6709023" y="3376613"/>
            <a:ext cx="1062484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1275" b="1" dirty="0">
                <a:solidFill>
                  <a:srgbClr val="1C1C1A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4.0%</a:t>
            </a:r>
            <a:endParaRPr lang="en-US" sz="1275" dirty="0"/>
          </a:p>
        </p:txBody>
      </p:sp>
      <p:sp>
        <p:nvSpPr>
          <p:cNvPr id="26" name="Text 24"/>
          <p:cNvSpPr/>
          <p:nvPr/>
        </p:nvSpPr>
        <p:spPr>
          <a:xfrm>
            <a:off x="7771507" y="3376613"/>
            <a:ext cx="1029891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1275" dirty="0">
                <a:solidFill>
                  <a:srgbClr val="1C1C1A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4.5%</a:t>
            </a:r>
            <a:endParaRPr lang="en-US" sz="1275" dirty="0"/>
          </a:p>
        </p:txBody>
      </p:sp>
      <p:sp>
        <p:nvSpPr>
          <p:cNvPr id="27" name="Shape 25"/>
          <p:cNvSpPr/>
          <p:nvPr/>
        </p:nvSpPr>
        <p:spPr>
          <a:xfrm>
            <a:off x="914400" y="4024313"/>
            <a:ext cx="7924800" cy="9525"/>
          </a:xfrm>
          <a:prstGeom prst="rect">
            <a:avLst/>
          </a:prstGeom>
          <a:solidFill>
            <a:srgbClr val="E3E3DF"/>
          </a:solidFill>
          <a:ln/>
        </p:spPr>
      </p:sp>
      <p:sp>
        <p:nvSpPr>
          <p:cNvPr id="28" name="Text 26"/>
          <p:cNvSpPr/>
          <p:nvPr/>
        </p:nvSpPr>
        <p:spPr>
          <a:xfrm>
            <a:off x="952500" y="3748087"/>
            <a:ext cx="4865505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275" dirty="0">
                <a:solidFill>
                  <a:srgbClr val="4A4A47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Operating expense ratio</a:t>
            </a:r>
            <a:endParaRPr lang="en-US" sz="1275" dirty="0"/>
          </a:p>
        </p:txBody>
      </p:sp>
      <p:sp>
        <p:nvSpPr>
          <p:cNvPr id="29" name="Text 27"/>
          <p:cNvSpPr/>
          <p:nvPr/>
        </p:nvSpPr>
        <p:spPr>
          <a:xfrm>
            <a:off x="5674072" y="3748087"/>
            <a:ext cx="1034951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1275" dirty="0">
                <a:solidFill>
                  <a:srgbClr val="1C1C1A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25.5%</a:t>
            </a:r>
            <a:endParaRPr lang="en-US" sz="1275" dirty="0"/>
          </a:p>
        </p:txBody>
      </p:sp>
      <p:sp>
        <p:nvSpPr>
          <p:cNvPr id="30" name="Text 28"/>
          <p:cNvSpPr/>
          <p:nvPr/>
        </p:nvSpPr>
        <p:spPr>
          <a:xfrm>
            <a:off x="6709023" y="3748087"/>
            <a:ext cx="1062484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1275" b="1" dirty="0">
                <a:solidFill>
                  <a:srgbClr val="1C1C1A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24.5%</a:t>
            </a:r>
            <a:endParaRPr lang="en-US" sz="1275" dirty="0"/>
          </a:p>
        </p:txBody>
      </p:sp>
      <p:sp>
        <p:nvSpPr>
          <p:cNvPr id="31" name="Text 29"/>
          <p:cNvSpPr/>
          <p:nvPr/>
        </p:nvSpPr>
        <p:spPr>
          <a:xfrm>
            <a:off x="7771507" y="3748087"/>
            <a:ext cx="1029891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1275" dirty="0">
                <a:solidFill>
                  <a:srgbClr val="1C1C1A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24.0%</a:t>
            </a:r>
            <a:endParaRPr lang="en-US" sz="1275" dirty="0"/>
          </a:p>
        </p:txBody>
      </p:sp>
      <p:sp>
        <p:nvSpPr>
          <p:cNvPr id="32" name="Shape 30"/>
          <p:cNvSpPr/>
          <p:nvPr/>
        </p:nvSpPr>
        <p:spPr>
          <a:xfrm>
            <a:off x="914400" y="4395788"/>
            <a:ext cx="7924800" cy="9525"/>
          </a:xfrm>
          <a:prstGeom prst="rect">
            <a:avLst/>
          </a:prstGeom>
          <a:solidFill>
            <a:srgbClr val="E3E3DF"/>
          </a:solidFill>
          <a:ln/>
        </p:spPr>
      </p:sp>
      <p:sp>
        <p:nvSpPr>
          <p:cNvPr id="33" name="Text 31"/>
          <p:cNvSpPr/>
          <p:nvPr/>
        </p:nvSpPr>
        <p:spPr>
          <a:xfrm>
            <a:off x="952500" y="4119562"/>
            <a:ext cx="4865505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275" dirty="0">
                <a:solidFill>
                  <a:srgbClr val="4A4A47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Rollover spread (Y1)</a:t>
            </a:r>
            <a:endParaRPr lang="en-US" sz="1275" dirty="0"/>
          </a:p>
        </p:txBody>
      </p:sp>
      <p:sp>
        <p:nvSpPr>
          <p:cNvPr id="34" name="Text 32"/>
          <p:cNvSpPr/>
          <p:nvPr/>
        </p:nvSpPr>
        <p:spPr>
          <a:xfrm>
            <a:off x="5674072" y="4119562"/>
            <a:ext cx="1034951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1275" dirty="0">
                <a:solidFill>
                  <a:srgbClr val="1C1C1A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18%</a:t>
            </a:r>
            <a:endParaRPr lang="en-US" sz="1275" dirty="0"/>
          </a:p>
        </p:txBody>
      </p:sp>
      <p:sp>
        <p:nvSpPr>
          <p:cNvPr id="35" name="Text 33"/>
          <p:cNvSpPr/>
          <p:nvPr/>
        </p:nvSpPr>
        <p:spPr>
          <a:xfrm>
            <a:off x="6709023" y="4119562"/>
            <a:ext cx="1062484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1275" b="1" dirty="0">
                <a:solidFill>
                  <a:srgbClr val="1C1C1A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30%</a:t>
            </a:r>
            <a:endParaRPr lang="en-US" sz="1275" dirty="0"/>
          </a:p>
        </p:txBody>
      </p:sp>
      <p:sp>
        <p:nvSpPr>
          <p:cNvPr id="36" name="Text 34"/>
          <p:cNvSpPr/>
          <p:nvPr/>
        </p:nvSpPr>
        <p:spPr>
          <a:xfrm>
            <a:off x="7771507" y="4119562"/>
            <a:ext cx="1029891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1275" dirty="0">
                <a:solidFill>
                  <a:srgbClr val="1C1C1A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40%</a:t>
            </a:r>
            <a:endParaRPr lang="en-US" sz="1275" dirty="0"/>
          </a:p>
        </p:txBody>
      </p:sp>
      <p:sp>
        <p:nvSpPr>
          <p:cNvPr id="37" name="Shape 35"/>
          <p:cNvSpPr/>
          <p:nvPr/>
        </p:nvSpPr>
        <p:spPr>
          <a:xfrm>
            <a:off x="914400" y="4767263"/>
            <a:ext cx="7924800" cy="9525"/>
          </a:xfrm>
          <a:prstGeom prst="rect">
            <a:avLst/>
          </a:prstGeom>
          <a:solidFill>
            <a:srgbClr val="E3E3DF"/>
          </a:solidFill>
          <a:ln/>
        </p:spPr>
      </p:sp>
      <p:sp>
        <p:nvSpPr>
          <p:cNvPr id="38" name="Text 36"/>
          <p:cNvSpPr/>
          <p:nvPr/>
        </p:nvSpPr>
        <p:spPr>
          <a:xfrm>
            <a:off x="952500" y="4491038"/>
            <a:ext cx="4865505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275" dirty="0">
                <a:solidFill>
                  <a:srgbClr val="4A4A47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MTM realization (% pool)</a:t>
            </a:r>
            <a:endParaRPr lang="en-US" sz="1275" dirty="0"/>
          </a:p>
        </p:txBody>
      </p:sp>
      <p:sp>
        <p:nvSpPr>
          <p:cNvPr id="39" name="Text 37"/>
          <p:cNvSpPr/>
          <p:nvPr/>
        </p:nvSpPr>
        <p:spPr>
          <a:xfrm>
            <a:off x="5674072" y="4491038"/>
            <a:ext cx="1034951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1275" dirty="0">
                <a:solidFill>
                  <a:srgbClr val="1C1C1A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11%</a:t>
            </a:r>
            <a:endParaRPr lang="en-US" sz="1275" dirty="0"/>
          </a:p>
        </p:txBody>
      </p:sp>
      <p:sp>
        <p:nvSpPr>
          <p:cNvPr id="40" name="Text 38"/>
          <p:cNvSpPr/>
          <p:nvPr/>
        </p:nvSpPr>
        <p:spPr>
          <a:xfrm>
            <a:off x="6709023" y="4491038"/>
            <a:ext cx="1062484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1275" b="1" dirty="0">
                <a:solidFill>
                  <a:srgbClr val="1C1C1A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13%</a:t>
            </a:r>
            <a:endParaRPr lang="en-US" sz="1275" dirty="0"/>
          </a:p>
        </p:txBody>
      </p:sp>
      <p:sp>
        <p:nvSpPr>
          <p:cNvPr id="41" name="Text 39"/>
          <p:cNvSpPr/>
          <p:nvPr/>
        </p:nvSpPr>
        <p:spPr>
          <a:xfrm>
            <a:off x="7771507" y="4491038"/>
            <a:ext cx="1029891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1275" dirty="0">
                <a:solidFill>
                  <a:srgbClr val="1C1C1A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15%</a:t>
            </a:r>
            <a:endParaRPr lang="en-US" sz="1275" dirty="0"/>
          </a:p>
        </p:txBody>
      </p:sp>
      <p:sp>
        <p:nvSpPr>
          <p:cNvPr id="42" name="Shape 40"/>
          <p:cNvSpPr/>
          <p:nvPr/>
        </p:nvSpPr>
        <p:spPr>
          <a:xfrm>
            <a:off x="914400" y="5138738"/>
            <a:ext cx="7924800" cy="9525"/>
          </a:xfrm>
          <a:prstGeom prst="rect">
            <a:avLst/>
          </a:prstGeom>
          <a:solidFill>
            <a:srgbClr val="E3E3DF"/>
          </a:solidFill>
          <a:ln/>
        </p:spPr>
      </p:sp>
      <p:sp>
        <p:nvSpPr>
          <p:cNvPr id="43" name="Text 41"/>
          <p:cNvSpPr/>
          <p:nvPr/>
        </p:nvSpPr>
        <p:spPr>
          <a:xfrm>
            <a:off x="952500" y="4862513"/>
            <a:ext cx="4865505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275" dirty="0">
                <a:solidFill>
                  <a:srgbClr val="4A4A47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Logistics starts — TEI ($mm)</a:t>
            </a:r>
            <a:endParaRPr lang="en-US" sz="1275" dirty="0"/>
          </a:p>
        </p:txBody>
      </p:sp>
      <p:sp>
        <p:nvSpPr>
          <p:cNvPr id="44" name="Text 42"/>
          <p:cNvSpPr/>
          <p:nvPr/>
        </p:nvSpPr>
        <p:spPr>
          <a:xfrm>
            <a:off x="5674072" y="4862513"/>
            <a:ext cx="1034951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1275" dirty="0">
                <a:solidFill>
                  <a:srgbClr val="1C1C1A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2,500</a:t>
            </a:r>
            <a:endParaRPr lang="en-US" sz="1275" dirty="0"/>
          </a:p>
        </p:txBody>
      </p:sp>
      <p:sp>
        <p:nvSpPr>
          <p:cNvPr id="45" name="Text 43"/>
          <p:cNvSpPr/>
          <p:nvPr/>
        </p:nvSpPr>
        <p:spPr>
          <a:xfrm>
            <a:off x="6709023" y="4862513"/>
            <a:ext cx="1062484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1275" b="1" dirty="0">
                <a:solidFill>
                  <a:srgbClr val="1C1C1A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4,000</a:t>
            </a:r>
            <a:endParaRPr lang="en-US" sz="1275" dirty="0"/>
          </a:p>
        </p:txBody>
      </p:sp>
      <p:sp>
        <p:nvSpPr>
          <p:cNvPr id="46" name="Text 44"/>
          <p:cNvSpPr/>
          <p:nvPr/>
        </p:nvSpPr>
        <p:spPr>
          <a:xfrm>
            <a:off x="7771507" y="4862513"/>
            <a:ext cx="1029891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1275" dirty="0">
                <a:solidFill>
                  <a:srgbClr val="1C1C1A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5,500</a:t>
            </a:r>
            <a:endParaRPr lang="en-US" sz="1275" dirty="0"/>
          </a:p>
        </p:txBody>
      </p:sp>
      <p:sp>
        <p:nvSpPr>
          <p:cNvPr id="47" name="Shape 45"/>
          <p:cNvSpPr/>
          <p:nvPr/>
        </p:nvSpPr>
        <p:spPr>
          <a:xfrm>
            <a:off x="914400" y="5510213"/>
            <a:ext cx="7924800" cy="9525"/>
          </a:xfrm>
          <a:prstGeom prst="rect">
            <a:avLst/>
          </a:prstGeom>
          <a:solidFill>
            <a:srgbClr val="E3E3DF"/>
          </a:solidFill>
          <a:ln/>
        </p:spPr>
      </p:sp>
      <p:sp>
        <p:nvSpPr>
          <p:cNvPr id="48" name="Text 46"/>
          <p:cNvSpPr/>
          <p:nvPr/>
        </p:nvSpPr>
        <p:spPr>
          <a:xfrm>
            <a:off x="952500" y="5233988"/>
            <a:ext cx="4865505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275" dirty="0">
                <a:solidFill>
                  <a:srgbClr val="4A4A47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Data-center starts — TEI ($mm)</a:t>
            </a:r>
            <a:endParaRPr lang="en-US" sz="1275" dirty="0"/>
          </a:p>
        </p:txBody>
      </p:sp>
      <p:sp>
        <p:nvSpPr>
          <p:cNvPr id="49" name="Text 47"/>
          <p:cNvSpPr/>
          <p:nvPr/>
        </p:nvSpPr>
        <p:spPr>
          <a:xfrm>
            <a:off x="5674072" y="5233988"/>
            <a:ext cx="1034951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1275" dirty="0">
                <a:solidFill>
                  <a:srgbClr val="1C1C1A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500</a:t>
            </a:r>
            <a:endParaRPr lang="en-US" sz="1275" dirty="0"/>
          </a:p>
        </p:txBody>
      </p:sp>
      <p:sp>
        <p:nvSpPr>
          <p:cNvPr id="50" name="Text 48"/>
          <p:cNvSpPr/>
          <p:nvPr/>
        </p:nvSpPr>
        <p:spPr>
          <a:xfrm>
            <a:off x="6709023" y="5233988"/>
            <a:ext cx="1062484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1275" b="1" dirty="0">
                <a:solidFill>
                  <a:srgbClr val="1C1C1A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1,300</a:t>
            </a:r>
            <a:endParaRPr lang="en-US" sz="1275" dirty="0"/>
          </a:p>
        </p:txBody>
      </p:sp>
      <p:sp>
        <p:nvSpPr>
          <p:cNvPr id="51" name="Text 49"/>
          <p:cNvSpPr/>
          <p:nvPr/>
        </p:nvSpPr>
        <p:spPr>
          <a:xfrm>
            <a:off x="7771507" y="5233988"/>
            <a:ext cx="1029891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1275" dirty="0">
                <a:solidFill>
                  <a:srgbClr val="1C1C1A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2,500</a:t>
            </a:r>
            <a:endParaRPr lang="en-US" sz="1275" dirty="0"/>
          </a:p>
        </p:txBody>
      </p:sp>
      <p:sp>
        <p:nvSpPr>
          <p:cNvPr id="52" name="Shape 50"/>
          <p:cNvSpPr/>
          <p:nvPr/>
        </p:nvSpPr>
        <p:spPr>
          <a:xfrm>
            <a:off x="914400" y="5881688"/>
            <a:ext cx="7924800" cy="9525"/>
          </a:xfrm>
          <a:prstGeom prst="rect">
            <a:avLst/>
          </a:prstGeom>
          <a:solidFill>
            <a:srgbClr val="E3E3DF"/>
          </a:solidFill>
          <a:ln/>
        </p:spPr>
      </p:sp>
      <p:sp>
        <p:nvSpPr>
          <p:cNvPr id="53" name="Text 51"/>
          <p:cNvSpPr/>
          <p:nvPr/>
        </p:nvSpPr>
        <p:spPr>
          <a:xfrm>
            <a:off x="952500" y="5605463"/>
            <a:ext cx="4865505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275" dirty="0">
                <a:solidFill>
                  <a:srgbClr val="4A4A47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Logistics value-creation margin</a:t>
            </a:r>
            <a:endParaRPr lang="en-US" sz="1275" dirty="0"/>
          </a:p>
        </p:txBody>
      </p:sp>
      <p:sp>
        <p:nvSpPr>
          <p:cNvPr id="54" name="Text 52"/>
          <p:cNvSpPr/>
          <p:nvPr/>
        </p:nvSpPr>
        <p:spPr>
          <a:xfrm>
            <a:off x="5674072" y="5605463"/>
            <a:ext cx="1034951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1275" dirty="0">
                <a:solidFill>
                  <a:srgbClr val="1C1C1A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5%</a:t>
            </a:r>
            <a:endParaRPr lang="en-US" sz="1275" dirty="0"/>
          </a:p>
        </p:txBody>
      </p:sp>
      <p:sp>
        <p:nvSpPr>
          <p:cNvPr id="55" name="Text 53"/>
          <p:cNvSpPr/>
          <p:nvPr/>
        </p:nvSpPr>
        <p:spPr>
          <a:xfrm>
            <a:off x="6709023" y="5605463"/>
            <a:ext cx="1062484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1275" b="1" dirty="0">
                <a:solidFill>
                  <a:srgbClr val="1C1C1A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20%</a:t>
            </a:r>
            <a:endParaRPr lang="en-US" sz="1275" dirty="0"/>
          </a:p>
        </p:txBody>
      </p:sp>
      <p:sp>
        <p:nvSpPr>
          <p:cNvPr id="56" name="Text 54"/>
          <p:cNvSpPr/>
          <p:nvPr/>
        </p:nvSpPr>
        <p:spPr>
          <a:xfrm>
            <a:off x="7771507" y="5605463"/>
            <a:ext cx="1029891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1275" dirty="0">
                <a:solidFill>
                  <a:srgbClr val="1C1C1A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30%</a:t>
            </a:r>
            <a:endParaRPr lang="en-US" sz="1275" dirty="0"/>
          </a:p>
        </p:txBody>
      </p:sp>
      <p:sp>
        <p:nvSpPr>
          <p:cNvPr id="57" name="Text 55"/>
          <p:cNvSpPr/>
          <p:nvPr/>
        </p:nvSpPr>
        <p:spPr>
          <a:xfrm>
            <a:off x="952500" y="5976938"/>
            <a:ext cx="4865505" cy="2333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275" dirty="0">
                <a:solidFill>
                  <a:srgbClr val="4A4A47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Data-center value-creation margin</a:t>
            </a:r>
            <a:endParaRPr lang="en-US" sz="1275" dirty="0"/>
          </a:p>
        </p:txBody>
      </p:sp>
      <p:sp>
        <p:nvSpPr>
          <p:cNvPr id="58" name="Text 56"/>
          <p:cNvSpPr/>
          <p:nvPr/>
        </p:nvSpPr>
        <p:spPr>
          <a:xfrm>
            <a:off x="5674072" y="5976938"/>
            <a:ext cx="1034951" cy="2333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1275" dirty="0">
                <a:solidFill>
                  <a:srgbClr val="1C1C1A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10%</a:t>
            </a:r>
            <a:endParaRPr lang="en-US" sz="1275" dirty="0"/>
          </a:p>
        </p:txBody>
      </p:sp>
      <p:sp>
        <p:nvSpPr>
          <p:cNvPr id="59" name="Text 57"/>
          <p:cNvSpPr/>
          <p:nvPr/>
        </p:nvSpPr>
        <p:spPr>
          <a:xfrm>
            <a:off x="6709023" y="5976938"/>
            <a:ext cx="1062484" cy="2333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1275" b="1" dirty="0">
                <a:solidFill>
                  <a:srgbClr val="1C1C1A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25%</a:t>
            </a:r>
            <a:endParaRPr lang="en-US" sz="1275" dirty="0"/>
          </a:p>
        </p:txBody>
      </p:sp>
      <p:sp>
        <p:nvSpPr>
          <p:cNvPr id="60" name="Text 58"/>
          <p:cNvSpPr/>
          <p:nvPr/>
        </p:nvSpPr>
        <p:spPr>
          <a:xfrm>
            <a:off x="7771507" y="5976938"/>
            <a:ext cx="1029891" cy="2333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1275" dirty="0">
                <a:solidFill>
                  <a:srgbClr val="1C1C1A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35%</a:t>
            </a:r>
            <a:endParaRPr lang="en-US" sz="1275" dirty="0"/>
          </a:p>
        </p:txBody>
      </p:sp>
      <p:sp>
        <p:nvSpPr>
          <p:cNvPr id="61" name="Text 59"/>
          <p:cNvSpPr/>
          <p:nvPr/>
        </p:nvSpPr>
        <p:spPr>
          <a:xfrm>
            <a:off x="9448800" y="1890713"/>
            <a:ext cx="8717280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rgbClr val="2B3A52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CAPITAL &amp; VALUATION</a:t>
            </a:r>
            <a:endParaRPr lang="en-US" sz="1200" dirty="0"/>
          </a:p>
        </p:txBody>
      </p:sp>
      <p:sp>
        <p:nvSpPr>
          <p:cNvPr id="62" name="Shape 60"/>
          <p:cNvSpPr/>
          <p:nvPr/>
        </p:nvSpPr>
        <p:spPr>
          <a:xfrm>
            <a:off x="9448800" y="2528888"/>
            <a:ext cx="7924800" cy="14288"/>
          </a:xfrm>
          <a:prstGeom prst="rect">
            <a:avLst/>
          </a:prstGeom>
          <a:solidFill>
            <a:srgbClr val="1C1C1A"/>
          </a:solidFill>
          <a:ln/>
        </p:spPr>
      </p:sp>
      <p:sp>
        <p:nvSpPr>
          <p:cNvPr id="63" name="Text 61"/>
          <p:cNvSpPr/>
          <p:nvPr/>
        </p:nvSpPr>
        <p:spPr>
          <a:xfrm>
            <a:off x="14144774" y="2271713"/>
            <a:ext cx="993874" cy="223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5A4A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Bear</a:t>
            </a:r>
            <a:endParaRPr lang="en-US" sz="1200" dirty="0"/>
          </a:p>
        </p:txBody>
      </p:sp>
      <p:sp>
        <p:nvSpPr>
          <p:cNvPr id="64" name="Text 62"/>
          <p:cNvSpPr/>
          <p:nvPr/>
        </p:nvSpPr>
        <p:spPr>
          <a:xfrm>
            <a:off x="15138648" y="2271713"/>
            <a:ext cx="1016496" cy="223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2B3A52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Base</a:t>
            </a:r>
            <a:endParaRPr lang="en-US" sz="1200" dirty="0"/>
          </a:p>
        </p:txBody>
      </p:sp>
      <p:sp>
        <p:nvSpPr>
          <p:cNvPr id="65" name="Text 63"/>
          <p:cNvSpPr/>
          <p:nvPr/>
        </p:nvSpPr>
        <p:spPr>
          <a:xfrm>
            <a:off x="16155144" y="2271713"/>
            <a:ext cx="1180654" cy="223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5E7A66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Bull</a:t>
            </a:r>
            <a:endParaRPr lang="en-US" sz="1200" dirty="0"/>
          </a:p>
        </p:txBody>
      </p:sp>
      <p:sp>
        <p:nvSpPr>
          <p:cNvPr id="66" name="Shape 64"/>
          <p:cNvSpPr/>
          <p:nvPr/>
        </p:nvSpPr>
        <p:spPr>
          <a:xfrm>
            <a:off x="9448800" y="2909888"/>
            <a:ext cx="7924800" cy="9525"/>
          </a:xfrm>
          <a:prstGeom prst="rect">
            <a:avLst/>
          </a:prstGeom>
          <a:solidFill>
            <a:srgbClr val="E3E3DF"/>
          </a:solidFill>
          <a:ln/>
        </p:spPr>
      </p:sp>
      <p:sp>
        <p:nvSpPr>
          <p:cNvPr id="67" name="Text 65"/>
          <p:cNvSpPr/>
          <p:nvPr/>
        </p:nvSpPr>
        <p:spPr>
          <a:xfrm>
            <a:off x="9486900" y="2628900"/>
            <a:ext cx="4799896" cy="242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275" dirty="0">
                <a:solidFill>
                  <a:srgbClr val="4A4A47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Third-party AUM growth</a:t>
            </a:r>
            <a:endParaRPr lang="en-US" sz="1275" dirty="0"/>
          </a:p>
        </p:txBody>
      </p:sp>
      <p:sp>
        <p:nvSpPr>
          <p:cNvPr id="68" name="Text 66"/>
          <p:cNvSpPr/>
          <p:nvPr/>
        </p:nvSpPr>
        <p:spPr>
          <a:xfrm>
            <a:off x="14144774" y="2628900"/>
            <a:ext cx="993874" cy="242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1275" dirty="0">
                <a:solidFill>
                  <a:srgbClr val="1C1C1A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−5%</a:t>
            </a:r>
            <a:endParaRPr lang="en-US" sz="1275" dirty="0"/>
          </a:p>
        </p:txBody>
      </p:sp>
      <p:sp>
        <p:nvSpPr>
          <p:cNvPr id="69" name="Text 67"/>
          <p:cNvSpPr/>
          <p:nvPr/>
        </p:nvSpPr>
        <p:spPr>
          <a:xfrm>
            <a:off x="15138648" y="2628900"/>
            <a:ext cx="1016496" cy="242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1275" b="1" dirty="0">
                <a:solidFill>
                  <a:srgbClr val="1C1C1A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5%</a:t>
            </a:r>
            <a:endParaRPr lang="en-US" sz="1275" dirty="0"/>
          </a:p>
        </p:txBody>
      </p:sp>
      <p:sp>
        <p:nvSpPr>
          <p:cNvPr id="70" name="Text 68"/>
          <p:cNvSpPr/>
          <p:nvPr/>
        </p:nvSpPr>
        <p:spPr>
          <a:xfrm>
            <a:off x="16155144" y="2628900"/>
            <a:ext cx="1180654" cy="242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1275" dirty="0">
                <a:solidFill>
                  <a:srgbClr val="1C1C1A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10%</a:t>
            </a:r>
            <a:endParaRPr lang="en-US" sz="1275" dirty="0"/>
          </a:p>
        </p:txBody>
      </p:sp>
      <p:sp>
        <p:nvSpPr>
          <p:cNvPr id="71" name="Shape 69"/>
          <p:cNvSpPr/>
          <p:nvPr/>
        </p:nvSpPr>
        <p:spPr>
          <a:xfrm>
            <a:off x="9448800" y="3281363"/>
            <a:ext cx="7924800" cy="9525"/>
          </a:xfrm>
          <a:prstGeom prst="rect">
            <a:avLst/>
          </a:prstGeom>
          <a:solidFill>
            <a:srgbClr val="E3E3DF"/>
          </a:solidFill>
          <a:ln/>
        </p:spPr>
      </p:sp>
      <p:sp>
        <p:nvSpPr>
          <p:cNvPr id="72" name="Text 70"/>
          <p:cNvSpPr/>
          <p:nvPr/>
        </p:nvSpPr>
        <p:spPr>
          <a:xfrm>
            <a:off x="9486900" y="3005138"/>
            <a:ext cx="4799896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275" dirty="0">
                <a:solidFill>
                  <a:srgbClr val="4A4A47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Leverage — net debt/EBITDA</a:t>
            </a:r>
            <a:endParaRPr lang="en-US" sz="1275" dirty="0"/>
          </a:p>
        </p:txBody>
      </p:sp>
      <p:sp>
        <p:nvSpPr>
          <p:cNvPr id="73" name="Text 71"/>
          <p:cNvSpPr/>
          <p:nvPr/>
        </p:nvSpPr>
        <p:spPr>
          <a:xfrm>
            <a:off x="14144774" y="3005138"/>
            <a:ext cx="993874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1275" dirty="0">
                <a:solidFill>
                  <a:srgbClr val="1C1C1A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5.5×</a:t>
            </a:r>
            <a:endParaRPr lang="en-US" sz="1275" dirty="0"/>
          </a:p>
        </p:txBody>
      </p:sp>
      <p:sp>
        <p:nvSpPr>
          <p:cNvPr id="74" name="Text 72"/>
          <p:cNvSpPr/>
          <p:nvPr/>
        </p:nvSpPr>
        <p:spPr>
          <a:xfrm>
            <a:off x="15138648" y="3005138"/>
            <a:ext cx="1016496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1275" b="1" dirty="0">
                <a:solidFill>
                  <a:srgbClr val="1C1C1A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4.8×</a:t>
            </a:r>
            <a:endParaRPr lang="en-US" sz="1275" dirty="0"/>
          </a:p>
        </p:txBody>
      </p:sp>
      <p:sp>
        <p:nvSpPr>
          <p:cNvPr id="75" name="Text 73"/>
          <p:cNvSpPr/>
          <p:nvPr/>
        </p:nvSpPr>
        <p:spPr>
          <a:xfrm>
            <a:off x="16155144" y="3005138"/>
            <a:ext cx="1180654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1275" dirty="0">
                <a:solidFill>
                  <a:srgbClr val="1C1C1A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4.5×</a:t>
            </a:r>
            <a:endParaRPr lang="en-US" sz="1275" dirty="0"/>
          </a:p>
        </p:txBody>
      </p:sp>
      <p:sp>
        <p:nvSpPr>
          <p:cNvPr id="76" name="Shape 74"/>
          <p:cNvSpPr/>
          <p:nvPr/>
        </p:nvSpPr>
        <p:spPr>
          <a:xfrm>
            <a:off x="9448800" y="3652838"/>
            <a:ext cx="7924800" cy="9525"/>
          </a:xfrm>
          <a:prstGeom prst="rect">
            <a:avLst/>
          </a:prstGeom>
          <a:solidFill>
            <a:srgbClr val="E3E3DF"/>
          </a:solidFill>
          <a:ln/>
        </p:spPr>
      </p:sp>
      <p:sp>
        <p:nvSpPr>
          <p:cNvPr id="77" name="Text 75"/>
          <p:cNvSpPr/>
          <p:nvPr/>
        </p:nvSpPr>
        <p:spPr>
          <a:xfrm>
            <a:off x="9486900" y="3376613"/>
            <a:ext cx="4799896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275" dirty="0">
                <a:solidFill>
                  <a:srgbClr val="4A4A47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New-issue debt cost</a:t>
            </a:r>
            <a:endParaRPr lang="en-US" sz="1275" dirty="0"/>
          </a:p>
        </p:txBody>
      </p:sp>
      <p:sp>
        <p:nvSpPr>
          <p:cNvPr id="78" name="Text 76"/>
          <p:cNvSpPr/>
          <p:nvPr/>
        </p:nvSpPr>
        <p:spPr>
          <a:xfrm>
            <a:off x="14144774" y="3376613"/>
            <a:ext cx="993874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1275" dirty="0">
                <a:solidFill>
                  <a:srgbClr val="1C1C1A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6.0%</a:t>
            </a:r>
            <a:endParaRPr lang="en-US" sz="1275" dirty="0"/>
          </a:p>
        </p:txBody>
      </p:sp>
      <p:sp>
        <p:nvSpPr>
          <p:cNvPr id="79" name="Text 77"/>
          <p:cNvSpPr/>
          <p:nvPr/>
        </p:nvSpPr>
        <p:spPr>
          <a:xfrm>
            <a:off x="15138648" y="3376613"/>
            <a:ext cx="1016496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1275" b="1" dirty="0">
                <a:solidFill>
                  <a:srgbClr val="1C1C1A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5.0%</a:t>
            </a:r>
            <a:endParaRPr lang="en-US" sz="1275" dirty="0"/>
          </a:p>
        </p:txBody>
      </p:sp>
      <p:sp>
        <p:nvSpPr>
          <p:cNvPr id="80" name="Text 78"/>
          <p:cNvSpPr/>
          <p:nvPr/>
        </p:nvSpPr>
        <p:spPr>
          <a:xfrm>
            <a:off x="16155144" y="3376613"/>
            <a:ext cx="1180654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1275" dirty="0">
                <a:solidFill>
                  <a:srgbClr val="1C1C1A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4.25%</a:t>
            </a:r>
            <a:endParaRPr lang="en-US" sz="1275" dirty="0"/>
          </a:p>
        </p:txBody>
      </p:sp>
      <p:sp>
        <p:nvSpPr>
          <p:cNvPr id="81" name="Shape 79"/>
          <p:cNvSpPr/>
          <p:nvPr/>
        </p:nvSpPr>
        <p:spPr>
          <a:xfrm>
            <a:off x="9448800" y="4024313"/>
            <a:ext cx="7924800" cy="9525"/>
          </a:xfrm>
          <a:prstGeom prst="rect">
            <a:avLst/>
          </a:prstGeom>
          <a:solidFill>
            <a:srgbClr val="E3E3DF"/>
          </a:solidFill>
          <a:ln/>
        </p:spPr>
      </p:sp>
      <p:sp>
        <p:nvSpPr>
          <p:cNvPr id="82" name="Text 80"/>
          <p:cNvSpPr/>
          <p:nvPr/>
        </p:nvSpPr>
        <p:spPr>
          <a:xfrm>
            <a:off x="9486900" y="3748087"/>
            <a:ext cx="4799896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275" dirty="0">
                <a:solidFill>
                  <a:srgbClr val="4A4A47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Dividend payout (% AFFO)</a:t>
            </a:r>
            <a:endParaRPr lang="en-US" sz="1275" dirty="0"/>
          </a:p>
        </p:txBody>
      </p:sp>
      <p:sp>
        <p:nvSpPr>
          <p:cNvPr id="83" name="Text 81"/>
          <p:cNvSpPr/>
          <p:nvPr/>
        </p:nvSpPr>
        <p:spPr>
          <a:xfrm>
            <a:off x="14144774" y="3748087"/>
            <a:ext cx="993874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1275" dirty="0">
                <a:solidFill>
                  <a:srgbClr val="1C1C1A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92%</a:t>
            </a:r>
            <a:endParaRPr lang="en-US" sz="1275" dirty="0"/>
          </a:p>
        </p:txBody>
      </p:sp>
      <p:sp>
        <p:nvSpPr>
          <p:cNvPr id="84" name="Text 82"/>
          <p:cNvSpPr/>
          <p:nvPr/>
        </p:nvSpPr>
        <p:spPr>
          <a:xfrm>
            <a:off x="15138648" y="3748087"/>
            <a:ext cx="1016496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1275" b="1" dirty="0">
                <a:solidFill>
                  <a:srgbClr val="1C1C1A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87%</a:t>
            </a:r>
            <a:endParaRPr lang="en-US" sz="1275" dirty="0"/>
          </a:p>
        </p:txBody>
      </p:sp>
      <p:sp>
        <p:nvSpPr>
          <p:cNvPr id="85" name="Text 83"/>
          <p:cNvSpPr/>
          <p:nvPr/>
        </p:nvSpPr>
        <p:spPr>
          <a:xfrm>
            <a:off x="16155144" y="3748087"/>
            <a:ext cx="1180654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1275" dirty="0">
                <a:solidFill>
                  <a:srgbClr val="1C1C1A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85%</a:t>
            </a:r>
            <a:endParaRPr lang="en-US" sz="1275" dirty="0"/>
          </a:p>
        </p:txBody>
      </p:sp>
      <p:sp>
        <p:nvSpPr>
          <p:cNvPr id="86" name="Shape 84"/>
          <p:cNvSpPr/>
          <p:nvPr/>
        </p:nvSpPr>
        <p:spPr>
          <a:xfrm>
            <a:off x="9448800" y="4395788"/>
            <a:ext cx="7924800" cy="9525"/>
          </a:xfrm>
          <a:prstGeom prst="rect">
            <a:avLst/>
          </a:prstGeom>
          <a:solidFill>
            <a:srgbClr val="E3E3DF"/>
          </a:solidFill>
          <a:ln/>
        </p:spPr>
      </p:sp>
      <p:sp>
        <p:nvSpPr>
          <p:cNvPr id="87" name="Text 85"/>
          <p:cNvSpPr/>
          <p:nvPr/>
        </p:nvSpPr>
        <p:spPr>
          <a:xfrm>
            <a:off x="9486900" y="4119562"/>
            <a:ext cx="4799896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275" dirty="0">
                <a:solidFill>
                  <a:srgbClr val="4A4A47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NAV cap rate</a:t>
            </a:r>
            <a:endParaRPr lang="en-US" sz="1275" dirty="0"/>
          </a:p>
        </p:txBody>
      </p:sp>
      <p:sp>
        <p:nvSpPr>
          <p:cNvPr id="88" name="Text 86"/>
          <p:cNvSpPr/>
          <p:nvPr/>
        </p:nvSpPr>
        <p:spPr>
          <a:xfrm>
            <a:off x="14144774" y="4119562"/>
            <a:ext cx="993874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1275" dirty="0">
                <a:solidFill>
                  <a:srgbClr val="1C1C1A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5.8%</a:t>
            </a:r>
            <a:endParaRPr lang="en-US" sz="1275" dirty="0"/>
          </a:p>
        </p:txBody>
      </p:sp>
      <p:sp>
        <p:nvSpPr>
          <p:cNvPr id="89" name="Text 87"/>
          <p:cNvSpPr/>
          <p:nvPr/>
        </p:nvSpPr>
        <p:spPr>
          <a:xfrm>
            <a:off x="15138648" y="4119562"/>
            <a:ext cx="1016496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1275" b="1" dirty="0">
                <a:solidFill>
                  <a:srgbClr val="1C1C1A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5.0%</a:t>
            </a:r>
            <a:endParaRPr lang="en-US" sz="1275" dirty="0"/>
          </a:p>
        </p:txBody>
      </p:sp>
      <p:sp>
        <p:nvSpPr>
          <p:cNvPr id="90" name="Text 88"/>
          <p:cNvSpPr/>
          <p:nvPr/>
        </p:nvSpPr>
        <p:spPr>
          <a:xfrm>
            <a:off x="16155144" y="4119562"/>
            <a:ext cx="1180654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1275" dirty="0">
                <a:solidFill>
                  <a:srgbClr val="1C1C1A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4.5%</a:t>
            </a:r>
            <a:endParaRPr lang="en-US" sz="1275" dirty="0"/>
          </a:p>
        </p:txBody>
      </p:sp>
      <p:sp>
        <p:nvSpPr>
          <p:cNvPr id="91" name="Shape 89"/>
          <p:cNvSpPr/>
          <p:nvPr/>
        </p:nvSpPr>
        <p:spPr>
          <a:xfrm>
            <a:off x="9448800" y="4767263"/>
            <a:ext cx="7924800" cy="9525"/>
          </a:xfrm>
          <a:prstGeom prst="rect">
            <a:avLst/>
          </a:prstGeom>
          <a:solidFill>
            <a:srgbClr val="E3E3DF"/>
          </a:solidFill>
          <a:ln/>
        </p:spPr>
      </p:sp>
      <p:sp>
        <p:nvSpPr>
          <p:cNvPr id="92" name="Text 90"/>
          <p:cNvSpPr/>
          <p:nvPr/>
        </p:nvSpPr>
        <p:spPr>
          <a:xfrm>
            <a:off x="9486900" y="4491038"/>
            <a:ext cx="4799896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275" dirty="0">
                <a:solidFill>
                  <a:srgbClr val="4A4A47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Discount rate (WACC)</a:t>
            </a:r>
            <a:endParaRPr lang="en-US" sz="1275" dirty="0"/>
          </a:p>
        </p:txBody>
      </p:sp>
      <p:sp>
        <p:nvSpPr>
          <p:cNvPr id="93" name="Text 91"/>
          <p:cNvSpPr/>
          <p:nvPr/>
        </p:nvSpPr>
        <p:spPr>
          <a:xfrm>
            <a:off x="14144774" y="4491038"/>
            <a:ext cx="993874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1275" dirty="0">
                <a:solidFill>
                  <a:srgbClr val="1C1C1A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8.5%</a:t>
            </a:r>
            <a:endParaRPr lang="en-US" sz="1275" dirty="0"/>
          </a:p>
        </p:txBody>
      </p:sp>
      <p:sp>
        <p:nvSpPr>
          <p:cNvPr id="94" name="Text 92"/>
          <p:cNvSpPr/>
          <p:nvPr/>
        </p:nvSpPr>
        <p:spPr>
          <a:xfrm>
            <a:off x="15138648" y="4491038"/>
            <a:ext cx="1016496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1275" b="1" dirty="0">
                <a:solidFill>
                  <a:srgbClr val="1C1C1A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7.5%</a:t>
            </a:r>
            <a:endParaRPr lang="en-US" sz="1275" dirty="0"/>
          </a:p>
        </p:txBody>
      </p:sp>
      <p:sp>
        <p:nvSpPr>
          <p:cNvPr id="95" name="Text 93"/>
          <p:cNvSpPr/>
          <p:nvPr/>
        </p:nvSpPr>
        <p:spPr>
          <a:xfrm>
            <a:off x="16155144" y="4491038"/>
            <a:ext cx="1180654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1275" dirty="0">
                <a:solidFill>
                  <a:srgbClr val="1C1C1A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7.0%</a:t>
            </a:r>
            <a:endParaRPr lang="en-US" sz="1275" dirty="0"/>
          </a:p>
        </p:txBody>
      </p:sp>
      <p:sp>
        <p:nvSpPr>
          <p:cNvPr id="96" name="Shape 94"/>
          <p:cNvSpPr/>
          <p:nvPr/>
        </p:nvSpPr>
        <p:spPr>
          <a:xfrm>
            <a:off x="9448800" y="5138738"/>
            <a:ext cx="7924800" cy="9525"/>
          </a:xfrm>
          <a:prstGeom prst="rect">
            <a:avLst/>
          </a:prstGeom>
          <a:solidFill>
            <a:srgbClr val="E3E3DF"/>
          </a:solidFill>
          <a:ln/>
        </p:spPr>
      </p:sp>
      <p:sp>
        <p:nvSpPr>
          <p:cNvPr id="97" name="Text 95"/>
          <p:cNvSpPr/>
          <p:nvPr/>
        </p:nvSpPr>
        <p:spPr>
          <a:xfrm>
            <a:off x="9486900" y="4862513"/>
            <a:ext cx="4799896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275" dirty="0">
                <a:solidFill>
                  <a:srgbClr val="4A4A47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Exit / terminal cap rate</a:t>
            </a:r>
            <a:endParaRPr lang="en-US" sz="1275" dirty="0"/>
          </a:p>
        </p:txBody>
      </p:sp>
      <p:sp>
        <p:nvSpPr>
          <p:cNvPr id="98" name="Text 96"/>
          <p:cNvSpPr/>
          <p:nvPr/>
        </p:nvSpPr>
        <p:spPr>
          <a:xfrm>
            <a:off x="14144774" y="4862513"/>
            <a:ext cx="993874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1275" dirty="0">
                <a:solidFill>
                  <a:srgbClr val="1C1C1A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6.0%</a:t>
            </a:r>
            <a:endParaRPr lang="en-US" sz="1275" dirty="0"/>
          </a:p>
        </p:txBody>
      </p:sp>
      <p:sp>
        <p:nvSpPr>
          <p:cNvPr id="99" name="Text 97"/>
          <p:cNvSpPr/>
          <p:nvPr/>
        </p:nvSpPr>
        <p:spPr>
          <a:xfrm>
            <a:off x="15138648" y="4862513"/>
            <a:ext cx="1016496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1275" b="1" dirty="0">
                <a:solidFill>
                  <a:srgbClr val="1C1C1A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5.0%</a:t>
            </a:r>
            <a:endParaRPr lang="en-US" sz="1275" dirty="0"/>
          </a:p>
        </p:txBody>
      </p:sp>
      <p:sp>
        <p:nvSpPr>
          <p:cNvPr id="100" name="Text 98"/>
          <p:cNvSpPr/>
          <p:nvPr/>
        </p:nvSpPr>
        <p:spPr>
          <a:xfrm>
            <a:off x="16155144" y="4862513"/>
            <a:ext cx="1180654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1275" dirty="0">
                <a:solidFill>
                  <a:srgbClr val="1C1C1A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4.5%</a:t>
            </a:r>
            <a:endParaRPr lang="en-US" sz="1275" dirty="0"/>
          </a:p>
        </p:txBody>
      </p:sp>
      <p:sp>
        <p:nvSpPr>
          <p:cNvPr id="101" name="Shape 99"/>
          <p:cNvSpPr/>
          <p:nvPr/>
        </p:nvSpPr>
        <p:spPr>
          <a:xfrm>
            <a:off x="9448800" y="5510213"/>
            <a:ext cx="7924800" cy="9525"/>
          </a:xfrm>
          <a:prstGeom prst="rect">
            <a:avLst/>
          </a:prstGeom>
          <a:solidFill>
            <a:srgbClr val="E3E3DF"/>
          </a:solidFill>
          <a:ln/>
        </p:spPr>
      </p:sp>
      <p:sp>
        <p:nvSpPr>
          <p:cNvPr id="102" name="Text 100"/>
          <p:cNvSpPr/>
          <p:nvPr/>
        </p:nvSpPr>
        <p:spPr>
          <a:xfrm>
            <a:off x="9486900" y="5233988"/>
            <a:ext cx="4799896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275" dirty="0">
                <a:solidFill>
                  <a:srgbClr val="4A4A47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Terminal growth</a:t>
            </a:r>
            <a:endParaRPr lang="en-US" sz="1275" dirty="0"/>
          </a:p>
        </p:txBody>
      </p:sp>
      <p:sp>
        <p:nvSpPr>
          <p:cNvPr id="103" name="Text 101"/>
          <p:cNvSpPr/>
          <p:nvPr/>
        </p:nvSpPr>
        <p:spPr>
          <a:xfrm>
            <a:off x="14144774" y="5233988"/>
            <a:ext cx="993874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1275" dirty="0">
                <a:solidFill>
                  <a:srgbClr val="1C1C1A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1.5%</a:t>
            </a:r>
            <a:endParaRPr lang="en-US" sz="1275" dirty="0"/>
          </a:p>
        </p:txBody>
      </p:sp>
      <p:sp>
        <p:nvSpPr>
          <p:cNvPr id="104" name="Text 102"/>
          <p:cNvSpPr/>
          <p:nvPr/>
        </p:nvSpPr>
        <p:spPr>
          <a:xfrm>
            <a:off x="15138648" y="5233988"/>
            <a:ext cx="1016496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1275" b="1" dirty="0">
                <a:solidFill>
                  <a:srgbClr val="1C1C1A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2.5%</a:t>
            </a:r>
            <a:endParaRPr lang="en-US" sz="1275" dirty="0"/>
          </a:p>
        </p:txBody>
      </p:sp>
      <p:sp>
        <p:nvSpPr>
          <p:cNvPr id="105" name="Text 103"/>
          <p:cNvSpPr/>
          <p:nvPr/>
        </p:nvSpPr>
        <p:spPr>
          <a:xfrm>
            <a:off x="16155144" y="5233988"/>
            <a:ext cx="1180654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1275" dirty="0">
                <a:solidFill>
                  <a:srgbClr val="1C1C1A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3.0%</a:t>
            </a:r>
            <a:endParaRPr lang="en-US" sz="1275" dirty="0"/>
          </a:p>
        </p:txBody>
      </p:sp>
      <p:sp>
        <p:nvSpPr>
          <p:cNvPr id="106" name="Text 104"/>
          <p:cNvSpPr/>
          <p:nvPr/>
        </p:nvSpPr>
        <p:spPr>
          <a:xfrm>
            <a:off x="9486900" y="5605463"/>
            <a:ext cx="4799896" cy="2333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275" dirty="0">
                <a:solidFill>
                  <a:srgbClr val="4A4A47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FRE multiple (NAV)</a:t>
            </a:r>
            <a:endParaRPr lang="en-US" sz="1275" dirty="0"/>
          </a:p>
        </p:txBody>
      </p:sp>
      <p:sp>
        <p:nvSpPr>
          <p:cNvPr id="107" name="Text 105"/>
          <p:cNvSpPr/>
          <p:nvPr/>
        </p:nvSpPr>
        <p:spPr>
          <a:xfrm>
            <a:off x="14144774" y="5605463"/>
            <a:ext cx="993874" cy="2333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1275" dirty="0">
                <a:solidFill>
                  <a:srgbClr val="1C1C1A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9×</a:t>
            </a:r>
            <a:endParaRPr lang="en-US" sz="1275" dirty="0"/>
          </a:p>
        </p:txBody>
      </p:sp>
      <p:sp>
        <p:nvSpPr>
          <p:cNvPr id="108" name="Text 106"/>
          <p:cNvSpPr/>
          <p:nvPr/>
        </p:nvSpPr>
        <p:spPr>
          <a:xfrm>
            <a:off x="15138648" y="5605463"/>
            <a:ext cx="1016496" cy="2333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1275" b="1" dirty="0">
                <a:solidFill>
                  <a:srgbClr val="1C1C1A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13×</a:t>
            </a:r>
            <a:endParaRPr lang="en-US" sz="1275" dirty="0"/>
          </a:p>
        </p:txBody>
      </p:sp>
      <p:sp>
        <p:nvSpPr>
          <p:cNvPr id="109" name="Text 107"/>
          <p:cNvSpPr/>
          <p:nvPr/>
        </p:nvSpPr>
        <p:spPr>
          <a:xfrm>
            <a:off x="16155144" y="5605463"/>
            <a:ext cx="1180654" cy="2333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1275" dirty="0">
                <a:solidFill>
                  <a:srgbClr val="1C1C1A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16×</a:t>
            </a:r>
            <a:endParaRPr lang="en-US" sz="1275" dirty="0"/>
          </a:p>
        </p:txBody>
      </p:sp>
      <p:sp>
        <p:nvSpPr>
          <p:cNvPr id="110" name="Text 108"/>
          <p:cNvSpPr/>
          <p:nvPr/>
        </p:nvSpPr>
        <p:spPr>
          <a:xfrm>
            <a:off x="9448800" y="6057900"/>
            <a:ext cx="8162544" cy="476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200" dirty="0">
                <a:solidFill>
                  <a:srgbClr val="8C8C86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Only these levers move across cases; all other inputs are held identical so scenario deltas are fully attributable. Reference state = Base (Assumptions!B5 = 1).</a:t>
            </a:r>
            <a:endParaRPr lang="en-US" sz="1200" dirty="0"/>
          </a:p>
        </p:txBody>
      </p:sp>
      <p:sp>
        <p:nvSpPr>
          <p:cNvPr id="111" name="Shape 109"/>
          <p:cNvSpPr/>
          <p:nvPr/>
        </p:nvSpPr>
        <p:spPr>
          <a:xfrm>
            <a:off x="914400" y="9505950"/>
            <a:ext cx="16459200" cy="9525"/>
          </a:xfrm>
          <a:prstGeom prst="rect">
            <a:avLst/>
          </a:prstGeom>
          <a:solidFill>
            <a:srgbClr val="E3E3DF"/>
          </a:solidFill>
          <a:ln/>
        </p:spPr>
      </p:sp>
      <p:sp>
        <p:nvSpPr>
          <p:cNvPr id="112" name="Text 110"/>
          <p:cNvSpPr/>
          <p:nvPr/>
        </p:nvSpPr>
        <p:spPr>
          <a:xfrm>
            <a:off x="914400" y="9648825"/>
            <a:ext cx="6776651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A0A09A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Source: model Assumptions tab — ACTIVE column resolves the chosen case via the scenario switch.</a:t>
            </a:r>
            <a:endParaRPr lang="en-US" sz="1050" dirty="0"/>
          </a:p>
        </p:txBody>
      </p:sp>
      <p:sp>
        <p:nvSpPr>
          <p:cNvPr id="113" name="Text 111"/>
          <p:cNvSpPr/>
          <p:nvPr/>
        </p:nvSpPr>
        <p:spPr>
          <a:xfrm>
            <a:off x="17245757" y="9648825"/>
            <a:ext cx="204043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4A4A47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11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AFA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904875"/>
            <a:ext cx="16459200" cy="14288"/>
          </a:xfrm>
          <a:prstGeom prst="rect">
            <a:avLst/>
          </a:prstGeom>
          <a:solidFill>
            <a:srgbClr val="1C1C1A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590550"/>
            <a:ext cx="2935992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rgbClr val="8C8C86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PROLOGIS, INC. · NYSE: PLD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6225986" y="590550"/>
            <a:ext cx="1223814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rgbClr val="8C8C86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APPENDIX II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914400" y="1443038"/>
            <a:ext cx="339477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spc="188" kern="0" dirty="0">
                <a:solidFill>
                  <a:srgbClr val="2B3A52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A2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349127" y="1147763"/>
            <a:ext cx="5310128" cy="514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750" dirty="0">
                <a:solidFill>
                  <a:srgbClr val="1C1C1A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Methodology &amp; Sources</a:t>
            </a:r>
            <a:endParaRPr lang="en-US" sz="3750" dirty="0"/>
          </a:p>
        </p:txBody>
      </p:sp>
      <p:sp>
        <p:nvSpPr>
          <p:cNvPr id="7" name="Shape 5"/>
          <p:cNvSpPr/>
          <p:nvPr/>
        </p:nvSpPr>
        <p:spPr>
          <a:xfrm>
            <a:off x="914400" y="1909762"/>
            <a:ext cx="7924800" cy="14288"/>
          </a:xfrm>
          <a:prstGeom prst="rect">
            <a:avLst/>
          </a:prstGeom>
          <a:solidFill>
            <a:srgbClr val="1C1C1A"/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2076450"/>
            <a:ext cx="871728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C1C1A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Net asset value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914400" y="2428875"/>
            <a:ext cx="8162544" cy="1066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350" dirty="0">
                <a:solidFill>
                  <a:srgbClr val="4A4A47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Sum-of-the-parts on a Prologis-share basis: forward stabilized NOI capitalized at a 5.0% blended cap rate; in-process development at cost plus 50% margin realization; land at book; the strategic-capital platform at 13× fee-related earnings. Q1 2026 balance sheet nets cash, co-investments, debt, preferred and NCI to equity NAV.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9448800" y="1909762"/>
            <a:ext cx="7924800" cy="14288"/>
          </a:xfrm>
          <a:prstGeom prst="rect">
            <a:avLst/>
          </a:prstGeom>
          <a:solidFill>
            <a:srgbClr val="1C1C1A"/>
          </a:solidFill>
          <a:ln/>
        </p:spPr>
      </p:sp>
      <p:sp>
        <p:nvSpPr>
          <p:cNvPr id="11" name="Text 9"/>
          <p:cNvSpPr/>
          <p:nvPr/>
        </p:nvSpPr>
        <p:spPr>
          <a:xfrm>
            <a:off x="9448800" y="2076450"/>
            <a:ext cx="871728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C1C1A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Discounted cash flow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9448800" y="2428875"/>
            <a:ext cx="8162544" cy="809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350" dirty="0">
                <a:solidFill>
                  <a:srgbClr val="4A4A47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Equity DCF on AFFO — a levered, post-interest cash flow — so its present value is equity value directly; no debt is subtracted. Five explicit years (end-of-year convention) plus a Gordon-growth terminal value at 7.5% discount and 2.5% growth, divided by the 957.2M units-inclusive share count.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914400" y="5450681"/>
            <a:ext cx="7924800" cy="14288"/>
          </a:xfrm>
          <a:prstGeom prst="rect">
            <a:avLst/>
          </a:prstGeom>
          <a:solidFill>
            <a:srgbClr val="1C1C1A"/>
          </a:solidFill>
          <a:ln/>
        </p:spPr>
      </p:sp>
      <p:sp>
        <p:nvSpPr>
          <p:cNvPr id="14" name="Text 12"/>
          <p:cNvSpPr/>
          <p:nvPr/>
        </p:nvSpPr>
        <p:spPr>
          <a:xfrm>
            <a:off x="914400" y="5617369"/>
            <a:ext cx="871728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C1C1A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Trading comparables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914400" y="5969794"/>
            <a:ext cx="8162544" cy="809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350" dirty="0">
                <a:solidFill>
                  <a:srgbClr val="4A4A47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Forward (2026E) P/Core FFO, P/AFFO and EV/EBITDA across five logistics-REIT peers. Peer-median multiples applied to PLD's own forward metrics give a relative-value read. P/Core FFO is the cleaner cross-company multiple given differing AFFO conversion rates.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9448800" y="5450681"/>
            <a:ext cx="7924800" cy="14288"/>
          </a:xfrm>
          <a:prstGeom prst="rect">
            <a:avLst/>
          </a:prstGeom>
          <a:solidFill>
            <a:srgbClr val="1C1C1A"/>
          </a:solidFill>
          <a:ln/>
        </p:spPr>
      </p:sp>
      <p:sp>
        <p:nvSpPr>
          <p:cNvPr id="17" name="Text 15"/>
          <p:cNvSpPr/>
          <p:nvPr/>
        </p:nvSpPr>
        <p:spPr>
          <a:xfrm>
            <a:off x="9448800" y="5617369"/>
            <a:ext cx="871728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C1C1A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Recommendation framework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9448800" y="5969794"/>
            <a:ext cx="8162544" cy="809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350" dirty="0">
                <a:solidFill>
                  <a:srgbClr val="4A4A47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The blended Football Field midpoint averages the NAV, DCF and comps midpoints per scenario. The price target is the probability-weighted blended midpoint across Bear / Base / Bull at 25 / 50 / 25% — institutional judgment, symmetric, anchored by quality.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914400" y="8658225"/>
            <a:ext cx="16459200" cy="9525"/>
          </a:xfrm>
          <a:prstGeom prst="rect">
            <a:avLst/>
          </a:prstGeom>
          <a:solidFill>
            <a:srgbClr val="CFCFC9"/>
          </a:solidFill>
          <a:ln/>
        </p:spPr>
      </p:sp>
      <p:sp>
        <p:nvSpPr>
          <p:cNvPr id="20" name="Text 18"/>
          <p:cNvSpPr/>
          <p:nvPr/>
        </p:nvSpPr>
        <p:spPr>
          <a:xfrm>
            <a:off x="914400" y="8820150"/>
            <a:ext cx="18105120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b="1" spc="150" kern="0" dirty="0">
                <a:solidFill>
                  <a:srgbClr val="8C8C86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SOURCES</a:t>
            </a:r>
            <a:endParaRPr lang="en-US" sz="1125" dirty="0"/>
          </a:p>
        </p:txBody>
      </p:sp>
      <p:sp>
        <p:nvSpPr>
          <p:cNvPr id="21" name="Text 19"/>
          <p:cNvSpPr/>
          <p:nvPr/>
        </p:nvSpPr>
        <p:spPr>
          <a:xfrm>
            <a:off x="914400" y="9048750"/>
            <a:ext cx="16952976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C8C86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Prologis Form 10-K FY2025; Form 10-Q Q1 2026; Supplemental Information Q1 2026; Q1 2026 Earnings Release (SEC EDGAR CIK 1045609). Peer prices and 2026E estimates ~mid-June 2026. All figures tie to the company valuation model; $ in thousands unless noted; per-share on the units-inclusive Core FFO basis (957.2M). Independent analysis prepared from public filings — not investment advice.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914400" y="9505950"/>
            <a:ext cx="16459200" cy="9525"/>
          </a:xfrm>
          <a:prstGeom prst="rect">
            <a:avLst/>
          </a:prstGeom>
          <a:solidFill>
            <a:srgbClr val="E3E3DF"/>
          </a:solidFill>
          <a:ln/>
        </p:spPr>
      </p:sp>
      <p:sp>
        <p:nvSpPr>
          <p:cNvPr id="23" name="Text 21"/>
          <p:cNvSpPr/>
          <p:nvPr/>
        </p:nvSpPr>
        <p:spPr>
          <a:xfrm>
            <a:off x="914400" y="9648825"/>
            <a:ext cx="4502542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A0A09A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Prologis, Inc. (NYSE: PLD) — Equity Research Initiation · June 2026.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17227897" y="9648825"/>
            <a:ext cx="221903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4A4A47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12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2026-06-26T19:44:33Z</dcterms:created>
  <dcterms:modified xsi:type="dcterms:W3CDTF">2026-06-26T19:44:33Z</dcterms:modified>
</cp:coreProperties>
</file>