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57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817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Apex CRE Advisors: national middle-market CRE advisory. Board-approved five-year operating forecast. Headline: 8% revenue CAGR, double-digit EBITDA growth, 160bps margin expansion, resilient downside. Recommendation: proceed with Base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model works: a sequential driver-based pipeline from market assumptions through engines to P&amp;L and scenario output. 11 tabs, 25,554 formulas, 89 integrity checks, zero circular references. Key decisions: driver-based not grown-from-totals, Company Dollar as the operating spine, variable comp, market-rate fees.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operating leverage story. GCI grows 262 to 358 (8.1% CAGR); leasing leads and lifts to 45% of mix. EBITDA grows faster — 30 to 46 (11.6%) — because the corporate cost base is largely fixed, expanding margin from 11.4% to 13.0%.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brokerage economics scale. The waterfall: GCI 358, less 72% producer payouts, equals Company Dollar 100.8 (28.2% retained), less fixed-weighted opex, equals EBITDA 46.5. Company Dollar is the key operating metric — revenue after payouts, where fixed cost leverage shows up. EBITDA per EPE rises 179 to 220 (+23%) even as Company Dollar margin holds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scenarios at FY2030E. Upside 534 (1.49x), Base 358, Downside 196 (0.55x). EBITDA sensitivity is wider than revenue due to operating leverage — 0.42x to 1.62x — but the downside never breaches profitability: EBITDA stays positive at 19.6M, 10.0% margin, even under a sustained capital-markets slowdown. The realistic band is roughly +/-45% of Base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Investment thesis: a diversified, leasing-anchored national advisory platform that converts a recovering transaction market into widening margins through genuine operating leverage. Fund-and-grow with a defensible downside. Skills demonstrated: driver-based forecasting, financial modeling, scenario analysis, executive reporting, operating economics, Excel model design. Endorse the Base Case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 rot="2700000">
            <a:off x="762000" y="400050"/>
            <a:ext cx="247650" cy="2476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18473" y="456523"/>
            <a:ext cx="134704" cy="134704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423863"/>
            <a:ext cx="236775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kern="0" spc="38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APEX CRE ADVISORS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14734431" y="457200"/>
            <a:ext cx="30707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STRICTLY PRIVATE &amp; CONFIDENTIAL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314450"/>
            <a:ext cx="10341129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225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BOARD-APPROVED FIVE-YEAR OPERATING FORECAST · FY2026E–FY2030E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62000" y="1638300"/>
            <a:ext cx="9683057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550" b="1" kern="0" spc="-75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Driver-Based Operating Model &amp; Scenario Analysis</a:t>
            </a:r>
            <a:endParaRPr lang="en-US" sz="5550" dirty="0"/>
          </a:p>
        </p:txBody>
      </p:sp>
      <p:sp>
        <p:nvSpPr>
          <p:cNvPr id="10" name="Text 8"/>
          <p:cNvSpPr/>
          <p:nvPr/>
        </p:nvSpPr>
        <p:spPr>
          <a:xfrm>
            <a:off x="762000" y="3276600"/>
            <a:ext cx="8633460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national, middle-market commercial real estate advisory platform — four integrated business lines, a producer-led revenue engine, and a self-funding path from a recovering transaction market to widening margins.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14382750" y="1371600"/>
            <a:ext cx="9525" cy="219075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678025" y="1905000"/>
            <a:ext cx="2847975" cy="95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678025" y="1371600"/>
            <a:ext cx="31327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14678025" y="1533525"/>
            <a:ext cx="313277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middle-market CRE advisory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4678025" y="2819400"/>
            <a:ext cx="2847975" cy="95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4678025" y="2085975"/>
            <a:ext cx="31327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LINES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14678025" y="2247900"/>
            <a:ext cx="293341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Sales · Leasing · Debt &amp; Equity · Valuation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678025" y="3000375"/>
            <a:ext cx="313277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4678025" y="3162300"/>
            <a:ext cx="293341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the growth, profitability &amp; resilience of the operating plan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2000" y="5334000"/>
            <a:ext cx="4048125" cy="17907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62000" y="7115175"/>
            <a:ext cx="4048125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2000" y="5334000"/>
            <a:ext cx="4048125" cy="28575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62000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00600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38225" y="5610225"/>
            <a:ext cx="384524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CAGR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8225" y="5819775"/>
            <a:ext cx="384524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8.1%</a:t>
            </a:r>
            <a:endParaRPr lang="en-US" sz="4650" dirty="0"/>
          </a:p>
        </p:txBody>
      </p:sp>
      <p:sp>
        <p:nvSpPr>
          <p:cNvPr id="27" name="Text 25"/>
          <p:cNvSpPr/>
          <p:nvPr/>
        </p:nvSpPr>
        <p:spPr>
          <a:xfrm>
            <a:off x="1038225" y="6705600"/>
            <a:ext cx="384524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GCI $262M → $358M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5000625" y="5334000"/>
            <a:ext cx="4048125" cy="17907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000625" y="7115175"/>
            <a:ext cx="4048125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00625" y="5334000"/>
            <a:ext cx="4048125" cy="2857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000625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039225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276850" y="5610225"/>
            <a:ext cx="384524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CAGR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76850" y="5819775"/>
            <a:ext cx="384524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11.6%</a:t>
            </a:r>
            <a:endParaRPr lang="en-US" sz="4650" dirty="0"/>
          </a:p>
        </p:txBody>
      </p:sp>
      <p:sp>
        <p:nvSpPr>
          <p:cNvPr id="35" name="Text 33"/>
          <p:cNvSpPr/>
          <p:nvPr/>
        </p:nvSpPr>
        <p:spPr>
          <a:xfrm>
            <a:off x="5276850" y="6705600"/>
            <a:ext cx="384524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$29.9M → $46.5M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9239250" y="5334000"/>
            <a:ext cx="4048125" cy="17907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239250" y="7115175"/>
            <a:ext cx="4048125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239250" y="5334000"/>
            <a:ext cx="4048125" cy="28575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9239250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3277850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515475" y="5610225"/>
            <a:ext cx="384524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EXPANSION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515475" y="5819775"/>
            <a:ext cx="384524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+160</a:t>
            </a:r>
            <a:r>
              <a:rPr lang="en-US" sz="22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bps</a:t>
            </a:r>
            <a:endParaRPr lang="en-US" sz="4650" dirty="0"/>
          </a:p>
        </p:txBody>
      </p:sp>
      <p:sp>
        <p:nvSpPr>
          <p:cNvPr id="43" name="Text 41"/>
          <p:cNvSpPr/>
          <p:nvPr/>
        </p:nvSpPr>
        <p:spPr>
          <a:xfrm>
            <a:off x="9515475" y="6705600"/>
            <a:ext cx="384524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11.4% → 13.0%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13477875" y="5334000"/>
            <a:ext cx="4048125" cy="17907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3477875" y="7115175"/>
            <a:ext cx="4048125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3477875" y="5334000"/>
            <a:ext cx="4048125" cy="2857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3477875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7516475" y="5334000"/>
            <a:ext cx="9525" cy="1790700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3754100" y="5610225"/>
            <a:ext cx="3845243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EPE GROWTH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3754100" y="5819775"/>
            <a:ext cx="384524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+5.9%</a:t>
            </a:r>
            <a:endParaRPr lang="en-US" sz="4650" dirty="0"/>
          </a:p>
        </p:txBody>
      </p:sp>
      <p:sp>
        <p:nvSpPr>
          <p:cNvPr id="51" name="Text 49"/>
          <p:cNvSpPr/>
          <p:nvPr/>
        </p:nvSpPr>
        <p:spPr>
          <a:xfrm>
            <a:off x="13754100" y="6705600"/>
            <a:ext cx="384524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→ 211 effective producers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762000" y="8753475"/>
            <a:ext cx="16764000" cy="923925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 rot="2700000">
            <a:off x="1104900" y="9110662"/>
            <a:ext cx="209550" cy="20955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581150" y="8982075"/>
            <a:ext cx="6225927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88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RECOMMENDATION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581150" y="9153525"/>
            <a:ext cx="622592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Proceed with the Base Case Operating Plan</a:t>
            </a:r>
            <a:endParaRPr lang="en-US" sz="2025" dirty="0"/>
          </a:p>
        </p:txBody>
      </p:sp>
      <p:sp>
        <p:nvSpPr>
          <p:cNvPr id="56" name="Shape 54"/>
          <p:cNvSpPr/>
          <p:nvPr/>
        </p:nvSpPr>
        <p:spPr>
          <a:xfrm>
            <a:off x="14436923" y="9005888"/>
            <a:ext cx="9525" cy="419100"/>
          </a:xfrm>
          <a:prstGeom prst="rect">
            <a:avLst/>
          </a:prstGeom>
          <a:solidFill>
            <a:srgbClr val="2841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4630763" y="9005888"/>
            <a:ext cx="255233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0000"/>
              </a:lnSpc>
              <a:buNone/>
            </a:pPr>
            <a:r>
              <a:rPr lang="en-US" sz="1125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Self-funding growth · widening margins defensible, still-profitable downside</a:t>
            </a:r>
            <a:endParaRPr lang="en-US" sz="1125" dirty="0"/>
          </a:p>
        </p:txBody>
      </p:sp>
      <p:sp>
        <p:nvSpPr>
          <p:cNvPr id="58" name="Text 56"/>
          <p:cNvSpPr/>
          <p:nvPr/>
        </p:nvSpPr>
        <p:spPr>
          <a:xfrm>
            <a:off x="762000" y="9925050"/>
            <a:ext cx="280829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OF THE CFO · FORECAST MODEL V1.0</a:t>
            </a:r>
            <a:endParaRPr lang="en-US" sz="825" dirty="0"/>
          </a:p>
        </p:txBody>
      </p:sp>
      <p:sp>
        <p:nvSpPr>
          <p:cNvPr id="59" name="Text 57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06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343025"/>
            <a:ext cx="16764000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476250"/>
            <a:ext cx="704710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225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MODEL ARCHITECTURE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695325"/>
            <a:ext cx="704710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7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sequential, driver-based engine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425511" y="981075"/>
            <a:ext cx="561053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75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output dollar traces back to a producer, a transaction, and a fee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2000" y="1971675"/>
            <a:ext cx="57477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825" dirty="0"/>
          </a:p>
        </p:txBody>
      </p:sp>
      <p:sp>
        <p:nvSpPr>
          <p:cNvPr id="9" name="Shape 7"/>
          <p:cNvSpPr/>
          <p:nvPr/>
        </p:nvSpPr>
        <p:spPr>
          <a:xfrm>
            <a:off x="1905000" y="1504950"/>
            <a:ext cx="8382000" cy="4762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05000" y="1504950"/>
            <a:ext cx="28575" cy="476250"/>
          </a:xfrm>
          <a:prstGeom prst="rect">
            <a:avLst/>
          </a:prstGeom>
          <a:solidFill>
            <a:srgbClr val="7C95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24075" y="166211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C9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2524125" y="16383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Assumptions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5362575" y="1662113"/>
            <a:ext cx="333953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volumes · fee rates · cycle recovery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1905000" y="2076450"/>
            <a:ext cx="8382000" cy="4762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905000" y="2076450"/>
            <a:ext cx="28575" cy="476250"/>
          </a:xfrm>
          <a:prstGeom prst="rect">
            <a:avLst/>
          </a:prstGeom>
          <a:solidFill>
            <a:srgbClr val="7C95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124075" y="223361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C9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2524125" y="22098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Assumptions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5362575" y="2233613"/>
            <a:ext cx="27074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pace · ramp · attrition · split tiers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2190750" y="2686050"/>
            <a:ext cx="1524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7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2000" y="4029075"/>
            <a:ext cx="681186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ENGINES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1905000" y="2990850"/>
            <a:ext cx="8382000" cy="4762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095500" y="314801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2495550" y="31242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Engine</a:t>
            </a:r>
            <a:endParaRPr lang="en-US" sz="1425" dirty="0"/>
          </a:p>
        </p:txBody>
      </p:sp>
      <p:sp>
        <p:nvSpPr>
          <p:cNvPr id="24" name="Text 22"/>
          <p:cNvSpPr/>
          <p:nvPr/>
        </p:nvSpPr>
        <p:spPr>
          <a:xfrm>
            <a:off x="5334000" y="3148013"/>
            <a:ext cx="293222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Ramp-weighted effective producers (EPE)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905000" y="3562350"/>
            <a:ext cx="8382000" cy="4762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095500" y="3719512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2495550" y="36957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Engine</a:t>
            </a:r>
            <a:endParaRPr lang="en-US" sz="1425" dirty="0"/>
          </a:p>
        </p:txBody>
      </p:sp>
      <p:sp>
        <p:nvSpPr>
          <p:cNvPr id="28" name="Text 26"/>
          <p:cNvSpPr/>
          <p:nvPr/>
        </p:nvSpPr>
        <p:spPr>
          <a:xfrm>
            <a:off x="5334000" y="3719512"/>
            <a:ext cx="326717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GCI by business line · EPE × productivity × fee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905000" y="4133850"/>
            <a:ext cx="8382000" cy="4762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095500" y="429101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2495550" y="42672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Compensation Engine</a:t>
            </a:r>
            <a:endParaRPr lang="en-US" sz="1425" dirty="0"/>
          </a:p>
        </p:txBody>
      </p:sp>
      <p:sp>
        <p:nvSpPr>
          <p:cNvPr id="32" name="Text 30"/>
          <p:cNvSpPr/>
          <p:nvPr/>
        </p:nvSpPr>
        <p:spPr>
          <a:xfrm>
            <a:off x="5334000" y="4291013"/>
            <a:ext cx="260316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payouts → Company Dollar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1905000" y="4705350"/>
            <a:ext cx="8382000" cy="4762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095500" y="486251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2495550" y="4838700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Engine</a:t>
            </a:r>
            <a:endParaRPr lang="en-US" sz="1425" dirty="0"/>
          </a:p>
        </p:txBody>
      </p:sp>
      <p:sp>
        <p:nvSpPr>
          <p:cNvPr id="36" name="Text 34"/>
          <p:cNvSpPr/>
          <p:nvPr/>
        </p:nvSpPr>
        <p:spPr>
          <a:xfrm>
            <a:off x="5334000" y="4862513"/>
            <a:ext cx="253784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+ variable corporate cost base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2190750" y="5314950"/>
            <a:ext cx="1524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7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62000" y="6210300"/>
            <a:ext cx="710208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1905000" y="5619750"/>
            <a:ext cx="8382000" cy="4953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905000" y="6105525"/>
            <a:ext cx="8382000" cy="95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905000" y="5619750"/>
            <a:ext cx="8382000" cy="95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905000" y="5619750"/>
            <a:ext cx="28575" cy="4953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0277475" y="5619750"/>
            <a:ext cx="9525" cy="4953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124075" y="5786438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2524125" y="5762625"/>
            <a:ext cx="293370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P&amp;L</a:t>
            </a:r>
            <a:endParaRPr lang="en-US" sz="1425" dirty="0"/>
          </a:p>
        </p:txBody>
      </p:sp>
      <p:sp>
        <p:nvSpPr>
          <p:cNvPr id="46" name="Text 44"/>
          <p:cNvSpPr/>
          <p:nvPr/>
        </p:nvSpPr>
        <p:spPr>
          <a:xfrm>
            <a:off x="5362575" y="5786438"/>
            <a:ext cx="350226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GCI → Company Dollar → EBITDA → Net Income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1905000" y="6210300"/>
            <a:ext cx="8382000" cy="7048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905000" y="6905625"/>
            <a:ext cx="8382000" cy="95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905000" y="6210300"/>
            <a:ext cx="8382000" cy="95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905000" y="6210300"/>
            <a:ext cx="28575" cy="70485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0277475" y="6210300"/>
            <a:ext cx="9525" cy="70485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124075" y="6481763"/>
            <a:ext cx="3048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25" dirty="0"/>
          </a:p>
        </p:txBody>
      </p:sp>
      <p:sp>
        <p:nvSpPr>
          <p:cNvPr id="53" name="Text 51"/>
          <p:cNvSpPr/>
          <p:nvPr/>
        </p:nvSpPr>
        <p:spPr>
          <a:xfrm>
            <a:off x="2524125" y="6353175"/>
            <a:ext cx="274701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 &amp; Dashboard</a:t>
            </a:r>
            <a:endParaRPr lang="en-US" sz="1425" dirty="0"/>
          </a:p>
        </p:txBody>
      </p:sp>
      <p:sp>
        <p:nvSpPr>
          <p:cNvPr id="54" name="Text 52"/>
          <p:cNvSpPr/>
          <p:nvPr/>
        </p:nvSpPr>
        <p:spPr>
          <a:xfrm>
            <a:off x="5362575" y="6481763"/>
            <a:ext cx="294368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· Base · Downside · KPI scorecard</a:t>
            </a:r>
            <a:endParaRPr lang="en-US" sz="1125" dirty="0"/>
          </a:p>
        </p:txBody>
      </p:sp>
      <p:sp>
        <p:nvSpPr>
          <p:cNvPr id="55" name="Text 53"/>
          <p:cNvSpPr/>
          <p:nvPr/>
        </p:nvSpPr>
        <p:spPr>
          <a:xfrm>
            <a:off x="11239500" y="1504950"/>
            <a:ext cx="6915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INTEGRITY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1239500" y="1771650"/>
            <a:ext cx="3076575" cy="10477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1468100" y="1981200"/>
            <a:ext cx="288131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450" dirty="0"/>
          </a:p>
        </p:txBody>
      </p:sp>
      <p:sp>
        <p:nvSpPr>
          <p:cNvPr id="58" name="Text 56"/>
          <p:cNvSpPr/>
          <p:nvPr/>
        </p:nvSpPr>
        <p:spPr>
          <a:xfrm>
            <a:off x="11468100" y="2457450"/>
            <a:ext cx="288131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model tabs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14449425" y="1771650"/>
            <a:ext cx="3076575" cy="10477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14678025" y="1981200"/>
            <a:ext cx="288131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25,554</a:t>
            </a:r>
            <a:endParaRPr lang="en-US" sz="3450" dirty="0"/>
          </a:p>
        </p:txBody>
      </p:sp>
      <p:sp>
        <p:nvSpPr>
          <p:cNvPr id="61" name="Text 59"/>
          <p:cNvSpPr/>
          <p:nvPr/>
        </p:nvSpPr>
        <p:spPr>
          <a:xfrm>
            <a:off x="14678025" y="2457450"/>
            <a:ext cx="288131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1239500" y="2952750"/>
            <a:ext cx="3076575" cy="10477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1468100" y="3162300"/>
            <a:ext cx="288131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3450" dirty="0"/>
          </a:p>
        </p:txBody>
      </p:sp>
      <p:sp>
        <p:nvSpPr>
          <p:cNvPr id="64" name="Text 62"/>
          <p:cNvSpPr/>
          <p:nvPr/>
        </p:nvSpPr>
        <p:spPr>
          <a:xfrm>
            <a:off x="11468100" y="3638550"/>
            <a:ext cx="288131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 checks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4449425" y="2952750"/>
            <a:ext cx="3076575" cy="104775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4678025" y="3162300"/>
            <a:ext cx="288131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50" dirty="0"/>
          </a:p>
        </p:txBody>
      </p:sp>
      <p:sp>
        <p:nvSpPr>
          <p:cNvPr id="67" name="Text 65"/>
          <p:cNvSpPr/>
          <p:nvPr/>
        </p:nvSpPr>
        <p:spPr>
          <a:xfrm>
            <a:off x="14678025" y="3638550"/>
            <a:ext cx="288131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Circular references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11239500" y="4286250"/>
            <a:ext cx="691515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MODELING DECISIONS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1239500" y="4629150"/>
            <a:ext cx="76200" cy="76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1468100" y="4552950"/>
            <a:ext cx="623963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Driver-based, not grown-from-totals. </a:t>
            </a:r>
            <a:r>
              <a:rPr lang="en-US" sz="12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is built bottom-up from producers × productivity × fee — not a top-down growth rate.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11239500" y="5162550"/>
            <a:ext cx="76200" cy="76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11468100" y="5086350"/>
            <a:ext cx="623963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Dollar as the operating spine. </a:t>
            </a:r>
            <a:r>
              <a:rPr lang="en-US" sz="12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Economics measured after producer payouts, where the firm actually competes.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11239500" y="5695950"/>
            <a:ext cx="76200" cy="76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11468100" y="5619750"/>
            <a:ext cx="623963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compensation protects the downside. </a:t>
            </a:r>
            <a:r>
              <a:rPr lang="en-US" sz="12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~72% payout flexes directly with revenue, keeping fixed-comp risk low.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11239500" y="6229350"/>
            <a:ext cx="76200" cy="76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11468100" y="6153150"/>
            <a:ext cx="6239637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held at market. </a:t>
            </a:r>
            <a:r>
              <a:rPr lang="en-US" sz="1275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assumed fee inflation; growth is volume- and headcount-driven.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762000" y="9925050"/>
            <a:ext cx="3267998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 OPERATING MODEL · FORECAST V1.0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06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343025"/>
            <a:ext cx="16764000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476250"/>
            <a:ext cx="8008084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225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FORECAST RESULTS · BASE CASE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695325"/>
            <a:ext cx="8008084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7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compounds faster than revenue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091493" y="981075"/>
            <a:ext cx="3777957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75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leverage on a largely fixed cost base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62000" y="1581150"/>
            <a:ext cx="16764000" cy="923925"/>
          </a:xfrm>
          <a:prstGeom prst="rect">
            <a:avLst/>
          </a:prstGeom>
          <a:ln w="9525">
            <a:solidFill>
              <a:srgbClr val="E4E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346775" y="1590675"/>
            <a:ext cx="9525" cy="90487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38225" y="1762125"/>
            <a:ext cx="554603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GCI · '26→'30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38225" y="1952625"/>
            <a:ext cx="273266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$262M → $358M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3617714" y="2114550"/>
            <a:ext cx="100369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+8.1% CAGR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931551" y="1590675"/>
            <a:ext cx="9525" cy="90487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3000" y="1762125"/>
            <a:ext cx="554603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· '26→'30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23000" y="1952625"/>
            <a:ext cx="293058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$29.9M → $46.5M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382423" y="2114550"/>
            <a:ext cx="108004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+11.6% CAGR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207776" y="1762125"/>
            <a:ext cx="554603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· '26→'30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207776" y="1952625"/>
            <a:ext cx="255470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 → 13.0%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4625489" y="2114550"/>
            <a:ext cx="73283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+160 bps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2000" y="2819400"/>
            <a:ext cx="396164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Commission Income by business line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28434" y="2857500"/>
            <a:ext cx="79176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in millions</a:t>
            </a:r>
            <a:endParaRPr lang="en-US" sz="975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3095625"/>
            <a:ext cx="8382000" cy="4497586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19150" y="7700963"/>
            <a:ext cx="123825" cy="123825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019175" y="7686675"/>
            <a:ext cx="5801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770757" y="7700963"/>
            <a:ext cx="123825" cy="1238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970782" y="7686675"/>
            <a:ext cx="11657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Sales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308003" y="7700963"/>
            <a:ext cx="123825" cy="123825"/>
          </a:xfrm>
          <a:prstGeom prst="rect">
            <a:avLst/>
          </a:prstGeom>
          <a:solidFill>
            <a:srgbClr val="7C95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3508028" y="7686675"/>
            <a:ext cx="9503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Debt &amp; Equity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629894" y="7700963"/>
            <a:ext cx="123825" cy="123825"/>
          </a:xfrm>
          <a:prstGeom prst="rect">
            <a:avLst/>
          </a:prstGeom>
          <a:solidFill>
            <a:srgbClr val="C7D2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829919" y="7686675"/>
            <a:ext cx="14100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&amp; Advisory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9144000" y="2819400"/>
            <a:ext cx="254996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&amp; margin expansion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16686609" y="2857500"/>
            <a:ext cx="91559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$M · margin %</a:t>
            </a:r>
            <a:endParaRPr lang="en-US" sz="975" dirty="0"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0" y="3095625"/>
            <a:ext cx="8382000" cy="4497586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9201150" y="7700963"/>
            <a:ext cx="123825" cy="123825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9401175" y="7686675"/>
            <a:ext cx="5725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10145316" y="7748588"/>
            <a:ext cx="152400" cy="2857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10373916" y="7686675"/>
            <a:ext cx="12048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%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762000" y="9220200"/>
            <a:ext cx="16764000" cy="4953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762000" y="9220200"/>
            <a:ext cx="28575" cy="4953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1038225" y="9372600"/>
            <a:ext cx="167430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 leads the mix to 45% </a:t>
            </a:r>
            <a:r>
              <a:rPr lang="en-US" sz="1275" dirty="0">
                <a:solidFill>
                  <a:srgbClr val="1A2330"/>
                </a:solidFill>
                <a:highlight>
                  <a:srgbClr val="F5F7F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the most annuity-like, headcount-scalable line — while a fixed ~$8.5M corporate base lets each incremental Company Dollar drop through at a higher rate.</a:t>
            </a:r>
            <a:endParaRPr lang="en-US" sz="1275" dirty="0"/>
          </a:p>
        </p:txBody>
      </p:sp>
      <p:sp>
        <p:nvSpPr>
          <p:cNvPr id="41" name="Text 37"/>
          <p:cNvSpPr/>
          <p:nvPr/>
        </p:nvSpPr>
        <p:spPr>
          <a:xfrm>
            <a:off x="762000" y="9925050"/>
            <a:ext cx="1941612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· FY2026E–FY2030E</a:t>
            </a:r>
            <a:endParaRPr lang="en-US" sz="825" dirty="0"/>
          </a:p>
        </p:txBody>
      </p:sp>
      <p:sp>
        <p:nvSpPr>
          <p:cNvPr id="42" name="Text 38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06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343025"/>
            <a:ext cx="16764000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476250"/>
            <a:ext cx="831667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225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PRODUCTIVITY &amp; UNIT ECONOMICS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695325"/>
            <a:ext cx="8316679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7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Dollar is the operating metric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172009" y="981075"/>
            <a:ext cx="368939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75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2030E terminal year · per-producer economics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62000" y="1581150"/>
            <a:ext cx="2682925" cy="11049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71550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EPE</a:t>
            </a:r>
            <a:endParaRPr lang="en-US" sz="863" dirty="0"/>
          </a:p>
        </p:txBody>
      </p:sp>
      <p:sp>
        <p:nvSpPr>
          <p:cNvPr id="10" name="Text 8"/>
          <p:cNvSpPr/>
          <p:nvPr/>
        </p:nvSpPr>
        <p:spPr>
          <a:xfrm>
            <a:off x="971550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71550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+5.9% CAGR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3578275" y="1581150"/>
            <a:ext cx="2682925" cy="11049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87825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/ EPE</a:t>
            </a:r>
            <a:endParaRPr lang="en-US" sz="863" dirty="0"/>
          </a:p>
        </p:txBody>
      </p:sp>
      <p:sp>
        <p:nvSpPr>
          <p:cNvPr id="14" name="Text 12"/>
          <p:cNvSpPr/>
          <p:nvPr/>
        </p:nvSpPr>
        <p:spPr>
          <a:xfrm>
            <a:off x="3787825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$1.69M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3787825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$1.56M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6394549" y="1581150"/>
            <a:ext cx="2682925" cy="11049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04099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/ EPE</a:t>
            </a:r>
            <a:endParaRPr lang="en-US" sz="863" dirty="0"/>
          </a:p>
        </p:txBody>
      </p:sp>
      <p:sp>
        <p:nvSpPr>
          <p:cNvPr id="18" name="Text 16"/>
          <p:cNvSpPr/>
          <p:nvPr/>
        </p:nvSpPr>
        <p:spPr>
          <a:xfrm>
            <a:off x="6604099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$220K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6604099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+23% vs 2026E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9210824" y="1581150"/>
            <a:ext cx="2682925" cy="11049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420374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DOLLAR</a:t>
            </a:r>
            <a:endParaRPr lang="en-US" sz="863" dirty="0"/>
          </a:p>
        </p:txBody>
      </p:sp>
      <p:sp>
        <p:nvSpPr>
          <p:cNvPr id="22" name="Text 20"/>
          <p:cNvSpPr/>
          <p:nvPr/>
        </p:nvSpPr>
        <p:spPr>
          <a:xfrm>
            <a:off x="9420374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$100.8M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420374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+7.7% CAGR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12027098" y="1581150"/>
            <a:ext cx="2682925" cy="11049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236648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CO. DOLLAR MARGIN</a:t>
            </a:r>
            <a:endParaRPr lang="en-US" sz="863" dirty="0"/>
          </a:p>
        </p:txBody>
      </p:sp>
      <p:sp>
        <p:nvSpPr>
          <p:cNvPr id="26" name="Text 24"/>
          <p:cNvSpPr/>
          <p:nvPr/>
        </p:nvSpPr>
        <p:spPr>
          <a:xfrm>
            <a:off x="12236648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28.2%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2236648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~28%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14843373" y="1581150"/>
            <a:ext cx="2682925" cy="11049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5052923" y="1771650"/>
            <a:ext cx="249020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63" b="1" kern="0" spc="113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RATIO</a:t>
            </a:r>
            <a:endParaRPr lang="en-US" sz="863" dirty="0"/>
          </a:p>
        </p:txBody>
      </p:sp>
      <p:sp>
        <p:nvSpPr>
          <p:cNvPr id="30" name="Text 28"/>
          <p:cNvSpPr/>
          <p:nvPr/>
        </p:nvSpPr>
        <p:spPr>
          <a:xfrm>
            <a:off x="15052923" y="1943100"/>
            <a:ext cx="2490207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71.8%</a:t>
            </a:r>
            <a:endParaRPr lang="en-US" sz="2850" dirty="0"/>
          </a:p>
        </p:txBody>
      </p:sp>
      <p:sp>
        <p:nvSpPr>
          <p:cNvPr id="31" name="Text 29"/>
          <p:cNvSpPr/>
          <p:nvPr/>
        </p:nvSpPr>
        <p:spPr>
          <a:xfrm>
            <a:off x="15052923" y="2352675"/>
            <a:ext cx="2490207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senior-weighted desk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762000" y="3200400"/>
            <a:ext cx="942975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Brokerage waterfall — 2030E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62000" y="3438525"/>
            <a:ext cx="94297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GCI → Company Dollar → EBITDA · $ in millions</a:t>
            </a:r>
            <a:endParaRPr lang="en-US" sz="10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3667125"/>
            <a:ext cx="8572500" cy="4850160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10477500" y="3276600"/>
            <a:ext cx="7048500" cy="1857375"/>
          </a:xfrm>
          <a:prstGeom prst="rect">
            <a:avLst/>
          </a:prstGeom>
          <a:solidFill>
            <a:srgbClr val="FFFFFF"/>
          </a:solidFill>
          <a:ln w="9525">
            <a:solidFill>
              <a:srgbClr val="E4E8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0734675" y="3514725"/>
            <a:ext cx="718756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brokerage economics scale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10734675" y="3848100"/>
            <a:ext cx="66675" cy="457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934700" y="3848100"/>
            <a:ext cx="652414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Dollar is what the firm keeps </a:t>
            </a:r>
            <a:r>
              <a:rPr lang="en-US" sz="1200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paying producers — the true revenue line the platform competes on. It holds at </a:t>
            </a: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~28% </a:t>
            </a:r>
            <a:r>
              <a:rPr lang="en-US" sz="1200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regardless of volume.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10734675" y="4438650"/>
            <a:ext cx="66675" cy="457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10934700" y="4438650"/>
            <a:ext cx="652414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leverage sits below Company Dollar. </a:t>
            </a:r>
            <a:r>
              <a:rPr lang="en-US" sz="1200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corporate base spread over a growing pool lifts </a:t>
            </a: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per EPE from $179K to $220K (+23%)</a:t>
            </a:r>
            <a:r>
              <a:rPr lang="en-US" sz="1200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0477500" y="5305425"/>
            <a:ext cx="775335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per effective producer (EPE) · $K</a:t>
            </a:r>
            <a:endParaRPr lang="en-US" sz="1125" dirty="0"/>
          </a:p>
        </p:txBody>
      </p:sp>
      <p:pic>
        <p:nvPicPr>
          <p:cNvPr id="4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77500" y="5486400"/>
            <a:ext cx="7048500" cy="38445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62000" y="9925050"/>
            <a:ext cx="3156347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~72% BLENDED PAYOUT · SENIOR-WEIGHTED DESK</a:t>
            </a:r>
            <a:endParaRPr lang="en-US" sz="825" dirty="0"/>
          </a:p>
        </p:txBody>
      </p:sp>
      <p:sp>
        <p:nvSpPr>
          <p:cNvPr id="44" name="Text 40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06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343025"/>
            <a:ext cx="16764000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476250"/>
            <a:ext cx="5249882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225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SCENARIO ANALYSIS · FY2030E TERMINAL YEAR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695325"/>
            <a:ext cx="524988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7" dirty="0">
                <a:solidFill>
                  <a:srgbClr val="0E2A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Resilient across the cycle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5667137" y="981075"/>
            <a:ext cx="204475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75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· Base · Downside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2000" y="1619250"/>
            <a:ext cx="775335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GCI by scenario · $M</a:t>
            </a:r>
            <a:endParaRPr lang="en-US" sz="13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876425"/>
            <a:ext cx="7048500" cy="528637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7334250"/>
            <a:ext cx="7048500" cy="1905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762000" y="7686675"/>
            <a:ext cx="7048500" cy="9525"/>
          </a:xfrm>
          <a:prstGeom prst="rect">
            <a:avLst/>
          </a:prstGeom>
          <a:solidFill>
            <a:srgbClr val="E4E8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62000" y="7448550"/>
            <a:ext cx="2466960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75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 (FY2030E)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2844492" y="7448550"/>
            <a:ext cx="176218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975" b="1" kern="0" spc="75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4446478" y="7448550"/>
            <a:ext cx="176218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975" b="1" kern="0" spc="75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975" dirty="0"/>
          </a:p>
        </p:txBody>
      </p:sp>
      <p:sp>
        <p:nvSpPr>
          <p:cNvPr id="15" name="Text 12"/>
          <p:cNvSpPr/>
          <p:nvPr/>
        </p:nvSpPr>
        <p:spPr>
          <a:xfrm>
            <a:off x="6048464" y="7448550"/>
            <a:ext cx="1762185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975" b="1" kern="0" spc="75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</a:t>
            </a:r>
            <a:endParaRPr lang="en-US" sz="975" dirty="0"/>
          </a:p>
        </p:txBody>
      </p:sp>
      <p:sp>
        <p:nvSpPr>
          <p:cNvPr id="16" name="Shape 13"/>
          <p:cNvSpPr/>
          <p:nvPr/>
        </p:nvSpPr>
        <p:spPr>
          <a:xfrm>
            <a:off x="762000" y="8039100"/>
            <a:ext cx="7048500" cy="95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7781925"/>
            <a:ext cx="24669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(GCI)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844492" y="778192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$196M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446478" y="778192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$358M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048464" y="778192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$534M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2000" y="8391525"/>
            <a:ext cx="7048500" cy="95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62000" y="8134350"/>
            <a:ext cx="24669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844492" y="813435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$19.6M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446478" y="813435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$46.5M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048464" y="813435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$75.2M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62000" y="8743950"/>
            <a:ext cx="7048500" cy="95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762000" y="8486775"/>
            <a:ext cx="24669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844492" y="848677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F6F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446478" y="848677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13.0%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048464" y="8486775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14.1%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62000" y="8839200"/>
            <a:ext cx="246696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EPE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844492" y="883920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446478" y="883920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211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48464" y="8839200"/>
            <a:ext cx="176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00" dirty="0">
                <a:solidFill>
                  <a:srgbClr val="5A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144000" y="1619250"/>
            <a:ext cx="92202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to Base — terminal-year range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9144000" y="1838325"/>
            <a:ext cx="9220200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of Base case · operating leverage widens the EBITDA band</a:t>
            </a:r>
            <a:endParaRPr lang="en-US" sz="105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0" y="2047875"/>
            <a:ext cx="8382000" cy="2964359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0" y="5181600"/>
            <a:ext cx="4114800" cy="15240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5"/>
          <p:cNvSpPr/>
          <p:nvPr/>
        </p:nvSpPr>
        <p:spPr>
          <a:xfrm>
            <a:off x="9372600" y="5391150"/>
            <a:ext cx="402336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STAYS PROFITABLE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9372600" y="5600700"/>
            <a:ext cx="1537737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$19.6M</a:t>
            </a:r>
            <a:endParaRPr lang="en-US" sz="3300" dirty="0"/>
          </a:p>
        </p:txBody>
      </p:sp>
      <p:sp>
        <p:nvSpPr>
          <p:cNvPr id="41" name="Text 37"/>
          <p:cNvSpPr/>
          <p:nvPr/>
        </p:nvSpPr>
        <p:spPr>
          <a:xfrm>
            <a:off x="10884843" y="5810250"/>
            <a:ext cx="135110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 margin</a:t>
            </a:r>
            <a:endParaRPr lang="en-US" sz="1500" dirty="0"/>
          </a:p>
        </p:txBody>
      </p:sp>
      <p:sp>
        <p:nvSpPr>
          <p:cNvPr id="42" name="Text 38"/>
          <p:cNvSpPr/>
          <p:nvPr/>
        </p:nvSpPr>
        <p:spPr>
          <a:xfrm>
            <a:off x="9372600" y="6134100"/>
            <a:ext cx="3767328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dirty="0">
                <a:solidFill>
                  <a:srgbClr val="AEBE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Positive, growing EBITDA even under a sustained capital-markets slowdown.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13411200" y="5181600"/>
            <a:ext cx="4114800" cy="1524000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13639800" y="5391150"/>
            <a:ext cx="402336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C86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</a:t>
            </a:r>
            <a:endParaRPr lang="en-US" sz="900" dirty="0"/>
          </a:p>
        </p:txBody>
      </p:sp>
      <p:sp>
        <p:nvSpPr>
          <p:cNvPr id="45" name="Text 41"/>
          <p:cNvSpPr/>
          <p:nvPr/>
        </p:nvSpPr>
        <p:spPr>
          <a:xfrm>
            <a:off x="13639800" y="5619750"/>
            <a:ext cx="3767328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088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band ≈ </a:t>
            </a:r>
            <a:r>
              <a:rPr lang="en-US" sz="1088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±45% </a:t>
            </a:r>
            <a:r>
              <a:rPr lang="en-US" sz="1088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Base · downside elevates attrition to </a:t>
            </a:r>
            <a:r>
              <a:rPr lang="en-US" sz="1088" b="1" dirty="0">
                <a:solidFill>
                  <a:srgbClr val="1A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3–8%/qtr </a:t>
            </a:r>
            <a:r>
              <a:rPr lang="en-US" sz="1088" dirty="0">
                <a:solidFill>
                  <a:srgbClr val="3A46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tier · fees held at market · leasing &amp; advisory (≈49% of GCI) provide counter-cyclical ballast.</a:t>
            </a:r>
            <a:endParaRPr lang="en-US" sz="1088" dirty="0"/>
          </a:p>
        </p:txBody>
      </p:sp>
      <p:sp>
        <p:nvSpPr>
          <p:cNvPr id="46" name="Text 42"/>
          <p:cNvSpPr/>
          <p:nvPr/>
        </p:nvSpPr>
        <p:spPr>
          <a:xfrm>
            <a:off x="762000" y="9925050"/>
            <a:ext cx="6043553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PAYOUT ABSORBS REVENUE DECLINES · DOWNSIDE NEVER BREACHES PROFITABILITY</a:t>
            </a:r>
            <a:endParaRPr lang="en-US" sz="825" dirty="0"/>
          </a:p>
        </p:txBody>
      </p:sp>
      <p:sp>
        <p:nvSpPr>
          <p:cNvPr id="47" name="Text 43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06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E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8288000" cy="7620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343025"/>
            <a:ext cx="16764000" cy="9525"/>
          </a:xfrm>
          <a:prstGeom prst="rect">
            <a:avLst/>
          </a:prstGeom>
          <a:solidFill>
            <a:srgbClr val="2841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476250"/>
            <a:ext cx="11353026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75" b="1" kern="0" spc="225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INVESTMENT THESIS &amp; TAKEAWAYS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762000" y="695325"/>
            <a:ext cx="11353026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7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fund-and-grow platform with a defensible downside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5328702" y="981075"/>
            <a:ext cx="241702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kern="0" spc="75" dirty="0">
                <a:solidFill>
                  <a:srgbClr val="7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of the CFO · Model V1.0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62000" y="1657350"/>
            <a:ext cx="4062412" cy="2152650"/>
          </a:xfrm>
          <a:prstGeom prst="rect">
            <a:avLst/>
          </a:prstGeom>
          <a:solidFill>
            <a:srgbClr val="0B2138"/>
          </a:solidFill>
          <a:ln w="9525">
            <a:solidFill>
              <a:srgbClr val="284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0125" y="1895475"/>
            <a:ext cx="394477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00125" y="2162175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11-tab, 25,554-formula driver-based operating model</a:t>
            </a:r>
            <a:endParaRPr lang="en-US" sz="1163" dirty="0"/>
          </a:p>
        </p:txBody>
      </p:sp>
      <p:sp>
        <p:nvSpPr>
          <p:cNvPr id="11" name="Text 9"/>
          <p:cNvSpPr/>
          <p:nvPr/>
        </p:nvSpPr>
        <p:spPr>
          <a:xfrm>
            <a:off x="1000125" y="2667000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→ revenue → comp → opex → P&amp;L engine chain</a:t>
            </a:r>
            <a:endParaRPr lang="en-US" sz="1163" dirty="0"/>
          </a:p>
        </p:txBody>
      </p:sp>
      <p:sp>
        <p:nvSpPr>
          <p:cNvPr id="12" name="Text 10"/>
          <p:cNvSpPr/>
          <p:nvPr/>
        </p:nvSpPr>
        <p:spPr>
          <a:xfrm>
            <a:off x="1000125" y="3171825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Three-scenario framework with 89 integrity checks</a:t>
            </a:r>
            <a:endParaRPr lang="en-US" sz="1163" dirty="0"/>
          </a:p>
        </p:txBody>
      </p:sp>
      <p:sp>
        <p:nvSpPr>
          <p:cNvPr id="13" name="Shape 11"/>
          <p:cNvSpPr/>
          <p:nvPr/>
        </p:nvSpPr>
        <p:spPr>
          <a:xfrm>
            <a:off x="4995863" y="1657350"/>
            <a:ext cx="4062412" cy="2152650"/>
          </a:xfrm>
          <a:prstGeom prst="rect">
            <a:avLst/>
          </a:prstGeom>
          <a:solidFill>
            <a:srgbClr val="0B2138"/>
          </a:solidFill>
          <a:ln w="9525">
            <a:solidFill>
              <a:srgbClr val="284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33988" y="1895475"/>
            <a:ext cx="394477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LEARNED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33988" y="2162175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Dollar — not GCI — is the real operating metric</a:t>
            </a:r>
            <a:endParaRPr lang="en-US" sz="1163" dirty="0"/>
          </a:p>
        </p:txBody>
      </p:sp>
      <p:sp>
        <p:nvSpPr>
          <p:cNvPr id="16" name="Text 14"/>
          <p:cNvSpPr/>
          <p:nvPr/>
        </p:nvSpPr>
        <p:spPr>
          <a:xfrm>
            <a:off x="5233988" y="2667000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cost base converts revenue growth into margin</a:t>
            </a:r>
            <a:endParaRPr lang="en-US" sz="1163" dirty="0"/>
          </a:p>
        </p:txBody>
      </p:sp>
      <p:sp>
        <p:nvSpPr>
          <p:cNvPr id="17" name="Text 15"/>
          <p:cNvSpPr/>
          <p:nvPr/>
        </p:nvSpPr>
        <p:spPr>
          <a:xfrm>
            <a:off x="5233988" y="2971800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comp makes the downside structurally safe</a:t>
            </a:r>
            <a:endParaRPr lang="en-US" sz="1163" dirty="0"/>
          </a:p>
        </p:txBody>
      </p:sp>
      <p:sp>
        <p:nvSpPr>
          <p:cNvPr id="18" name="Shape 16"/>
          <p:cNvSpPr/>
          <p:nvPr/>
        </p:nvSpPr>
        <p:spPr>
          <a:xfrm>
            <a:off x="9229725" y="1657350"/>
            <a:ext cx="4062412" cy="2152650"/>
          </a:xfrm>
          <a:prstGeom prst="rect">
            <a:avLst/>
          </a:prstGeom>
          <a:solidFill>
            <a:srgbClr val="0B2138"/>
          </a:solidFill>
          <a:ln w="9525">
            <a:solidFill>
              <a:srgbClr val="284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467850" y="1895475"/>
            <a:ext cx="394477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E0A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RISKS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467850" y="2162175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attrition — the single largest value driver</a:t>
            </a:r>
            <a:endParaRPr lang="en-US" sz="1163" dirty="0"/>
          </a:p>
        </p:txBody>
      </p:sp>
      <p:sp>
        <p:nvSpPr>
          <p:cNvPr id="21" name="Text 19"/>
          <p:cNvSpPr/>
          <p:nvPr/>
        </p:nvSpPr>
        <p:spPr>
          <a:xfrm>
            <a:off x="9467850" y="2466975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Capital-markets cyclicality across ~50% of GCI</a:t>
            </a:r>
            <a:endParaRPr lang="en-US" sz="1163" dirty="0"/>
          </a:p>
        </p:txBody>
      </p:sp>
      <p:sp>
        <p:nvSpPr>
          <p:cNvPr id="22" name="Text 20"/>
          <p:cNvSpPr/>
          <p:nvPr/>
        </p:nvSpPr>
        <p:spPr>
          <a:xfrm>
            <a:off x="9467850" y="2771775"/>
            <a:ext cx="3944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compression on larger institutional deals</a:t>
            </a:r>
            <a:endParaRPr lang="en-US" sz="1163" dirty="0"/>
          </a:p>
        </p:txBody>
      </p:sp>
      <p:sp>
        <p:nvSpPr>
          <p:cNvPr id="23" name="Shape 21"/>
          <p:cNvSpPr/>
          <p:nvPr/>
        </p:nvSpPr>
        <p:spPr>
          <a:xfrm>
            <a:off x="13463588" y="1657350"/>
            <a:ext cx="4062412" cy="2152650"/>
          </a:xfrm>
          <a:prstGeom prst="rect">
            <a:avLst/>
          </a:prstGeom>
          <a:solidFill>
            <a:srgbClr val="0B2138"/>
          </a:solidFill>
          <a:ln w="9525">
            <a:solidFill>
              <a:srgbClr val="2841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3701713" y="1895475"/>
            <a:ext cx="3944779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MITIGANTS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701713" y="2162175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splits, deferred comp &amp; bench depth retain producers</a:t>
            </a:r>
            <a:endParaRPr lang="en-US" sz="1163" dirty="0"/>
          </a:p>
        </p:txBody>
      </p:sp>
      <p:sp>
        <p:nvSpPr>
          <p:cNvPr id="26" name="Text 24"/>
          <p:cNvSpPr/>
          <p:nvPr/>
        </p:nvSpPr>
        <p:spPr>
          <a:xfrm>
            <a:off x="13701713" y="2667000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 &amp; advisory (≈49%) provide counter-cyclical ballast</a:t>
            </a:r>
            <a:endParaRPr lang="en-US" sz="1163" dirty="0"/>
          </a:p>
        </p:txBody>
      </p:sp>
      <p:sp>
        <p:nvSpPr>
          <p:cNvPr id="27" name="Text 25"/>
          <p:cNvSpPr/>
          <p:nvPr/>
        </p:nvSpPr>
        <p:spPr>
          <a:xfrm>
            <a:off x="13701713" y="3171825"/>
            <a:ext cx="369374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63" dirty="0">
                <a:solidFill>
                  <a:srgbClr val="D6E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Base hiring; upside needs no heroic recruiting</a:t>
            </a:r>
            <a:endParaRPr lang="en-US" sz="1163" dirty="0"/>
          </a:p>
        </p:txBody>
      </p:sp>
      <p:sp>
        <p:nvSpPr>
          <p:cNvPr id="28" name="Shape 26"/>
          <p:cNvSpPr/>
          <p:nvPr/>
        </p:nvSpPr>
        <p:spPr>
          <a:xfrm>
            <a:off x="762000" y="4438650"/>
            <a:ext cx="16764000" cy="1571625"/>
          </a:xfrm>
          <a:prstGeom prst="rect">
            <a:avLst/>
          </a:prstGeom>
          <a:solidFill>
            <a:srgbClr val="0B21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62000" y="4438650"/>
            <a:ext cx="28575" cy="1571625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6325" y="4648200"/>
            <a:ext cx="17780318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FB7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MODEL MATTERS — INVESTMENT THESIS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6325" y="4857750"/>
            <a:ext cx="16648843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EA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diversified, leasing-anchored national platform that converts a recovering transaction market into widening margins through genuine operating leverage — ~28% Company Dollar retention, EBITDA growing $30M → $46M, and a downside that stays profitable. </a:t>
            </a:r>
            <a:r>
              <a:rPr lang="en-US" sz="1725" b="1" dirty="0">
                <a:solidFill>
                  <a:srgbClr val="7FB7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 the plan; prioritize producer retention as the highest-return investment.</a:t>
            </a:r>
            <a:endParaRPr lang="en-US" sz="1725" dirty="0"/>
          </a:p>
        </p:txBody>
      </p:sp>
      <p:sp>
        <p:nvSpPr>
          <p:cNvPr id="32" name="Text 30"/>
          <p:cNvSpPr/>
          <p:nvPr/>
        </p:nvSpPr>
        <p:spPr>
          <a:xfrm>
            <a:off x="762000" y="6057900"/>
            <a:ext cx="18440400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7E9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DEMONSTRATED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2000" y="6324600"/>
            <a:ext cx="2273945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71550" y="6438900"/>
            <a:ext cx="193104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 Forecasting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169295" y="6324600"/>
            <a:ext cx="1790849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378845" y="6438900"/>
            <a:ext cx="1447949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Modeling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93494" y="6324600"/>
            <a:ext cx="1732062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303044" y="6438900"/>
            <a:ext cx="138916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958905" y="6324600"/>
            <a:ext cx="1892647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168455" y="6438900"/>
            <a:ext cx="154974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Reporting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984903" y="6324600"/>
            <a:ext cx="1994297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194453" y="6438900"/>
            <a:ext cx="165139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Economics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1112550" y="6324600"/>
            <a:ext cx="1850380" cy="400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1322100" y="6438900"/>
            <a:ext cx="150748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Model Design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62000" y="8972550"/>
            <a:ext cx="16764000" cy="704850"/>
          </a:xfrm>
          <a:prstGeom prst="rect">
            <a:avLst/>
          </a:prstGeom>
          <a:solidFill>
            <a:srgbClr val="2F6F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rot="2700000">
            <a:off x="1104900" y="9229725"/>
            <a:ext cx="190500" cy="190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524000" y="9182100"/>
            <a:ext cx="3852937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Endorse the Base Case Plan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0687050" y="9244013"/>
            <a:ext cx="714565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kern="0" spc="38" dirty="0">
                <a:solidFill>
                  <a:srgbClr val="CDE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 revenue CAGR · double-digit EBITDA growth · expanding margins · resilient downside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762000" y="9925050"/>
            <a:ext cx="3663196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5E7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APEX CRE ADVISORS · STRICTLY PRIVATE &amp; CONFIDENTIAL</a:t>
            </a:r>
            <a:endParaRPr lang="en-US" sz="825" dirty="0"/>
          </a:p>
        </p:txBody>
      </p:sp>
      <p:sp>
        <p:nvSpPr>
          <p:cNvPr id="50" name="Text 48"/>
          <p:cNvSpPr/>
          <p:nvPr/>
        </p:nvSpPr>
        <p:spPr>
          <a:xfrm>
            <a:off x="17172236" y="9925050"/>
            <a:ext cx="429964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825" b="1" kern="0" spc="38" dirty="0">
                <a:solidFill>
                  <a:srgbClr val="5E7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06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1418</Words>
  <Application>Microsoft Macintosh PowerPoint</Application>
  <PresentationFormat>Custom</PresentationFormat>
  <Paragraphs>208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Sheikh, Muhammed T</cp:lastModifiedBy>
  <cp:revision>1</cp:revision>
  <dcterms:created xsi:type="dcterms:W3CDTF">2026-06-24T00:40:18Z</dcterms:created>
  <dcterms:modified xsi:type="dcterms:W3CDTF">2026-06-24T00:41:00Z</dcterms:modified>
</cp:coreProperties>
</file>