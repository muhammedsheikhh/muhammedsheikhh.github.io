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495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216" y="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089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Independent, hypothetical portfolio case study. Driver-based operating model for a producer-led commercial brokerage platform. Base Case: GCI grows $262M to $358M, EBITDA $38M to $57M, margin 14.4% to 16.0%. Scalable economics with positive downside EBITDA.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driver-based: transaction volume, deal size, commission rates and producer headcount build GCI, which flows through producer payouts to Company Dollar, then operating expenses to EBITDA and after-tax operating income. Architecture: 11 linked tabs, four business lines, three scenarios, 89 integrity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exhibits. Left: revenue mix by business line, 2026E to 2030E in dollars. Right: EBITDA growth with margin expansion on a secondary axis. GCI grows from about $262M to $358M while EBITDA expands from about $38M to $57M as fixed-cost leverage improves profitability. Margin framed 2026E to 2030E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Dollar connects producer economics to profitability. The waterfall shows 2030E Base Case: GCI $357.6M less producer payouts $256.8M equals Company Dollar $100.8M, less operating expenses $43.6M equals EBITDA $57.2M. Company Dollar stays stable as a share of GCI near 28%, while EBITDA margin expands below it as fixed corporate costs spread across a larger producer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analysis tests downside resilience using the integrated 2028E scenario-comparison framework. EBITDA by scenario: Downside $39.6M, Base $48.1M, Upside $56.1M. Even the downside stays solidly positive. Key risks - producer attrition, market cyclicality, fee compression, hiring execution - are mitigated by variable payout structure, a diversified business-line mix, Company Dollar focus, and disciplined hiring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this model demonstrates: revenue built from operating drivers not a top-down assumption; producer payouts and Company Dollar determine true operating economics; fixed-cost leverage supports margin expansion while variable comp protects downside. Skills: driver-based forecasting, operating model design, scenario planning, producer and commission economics, executive reporting, model integrity controls. Conclusion: brokerage profitability is shaped by transaction activity, producer productivity, compensation economics and operating leverage - not revenue growth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38150"/>
            <a:ext cx="1223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CASE STUDY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685800"/>
            <a:ext cx="981075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kern="0" spc="-31" dirty="0">
                <a:solidFill>
                  <a:srgbClr val="16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Brokerage Revenue Forecasting &amp; Pricing Model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533400" y="1657350"/>
            <a:ext cx="122377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Case Study | Hypothetical Commercial Real Estate Brokerage Platform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3400" y="1981200"/>
            <a:ext cx="902589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38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driver-based operating model to assess the growth, profitability, and downside resilience of a producer-led commercial brokerage platform.</a:t>
            </a:r>
            <a:endParaRPr lang="en-US" sz="1238" dirty="0"/>
          </a:p>
        </p:txBody>
      </p:sp>
      <p:sp>
        <p:nvSpPr>
          <p:cNvPr id="6" name="Shape 4"/>
          <p:cNvSpPr/>
          <p:nvPr/>
        </p:nvSpPr>
        <p:spPr>
          <a:xfrm>
            <a:off x="533400" y="3705225"/>
            <a:ext cx="266700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33400" y="2647950"/>
            <a:ext cx="2667000" cy="28575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33400" y="2647950"/>
            <a:ext cx="9525" cy="1066800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90875" y="2647950"/>
            <a:ext cx="9525" cy="1066800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14375" y="2828925"/>
            <a:ext cx="25355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GCI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714375" y="3019425"/>
            <a:ext cx="25355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$262.3M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14375" y="3395663"/>
            <a:ext cx="4342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39130" y="3395663"/>
            <a:ext cx="2000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1329630" y="3381375"/>
            <a:ext cx="6692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$357.6M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89386" y="3395663"/>
            <a:ext cx="4342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2030E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3352800" y="3705225"/>
            <a:ext cx="266700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52800" y="2647950"/>
            <a:ext cx="2667000" cy="28575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52800" y="2647950"/>
            <a:ext cx="9525" cy="1066800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10275" y="2647950"/>
            <a:ext cx="9525" cy="1066800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533775" y="2828925"/>
            <a:ext cx="25355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533775" y="3019425"/>
            <a:ext cx="25355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$37.8M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3533775" y="3395663"/>
            <a:ext cx="4342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958530" y="3395663"/>
            <a:ext cx="2000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149030" y="3381375"/>
            <a:ext cx="5845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$57.2M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24102" y="3395663"/>
            <a:ext cx="4342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2030E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6172200" y="3705225"/>
            <a:ext cx="266700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72200" y="2647950"/>
            <a:ext cx="2667000" cy="28575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72200" y="2647950"/>
            <a:ext cx="9525" cy="1066800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829675" y="2647950"/>
            <a:ext cx="9525" cy="1066800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53175" y="2828925"/>
            <a:ext cx="25355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353175" y="3019425"/>
            <a:ext cx="25355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6353175" y="3395663"/>
            <a:ext cx="4342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777930" y="3395663"/>
            <a:ext cx="2000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6968430" y="3381375"/>
            <a:ext cx="50839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467302" y="3395663"/>
            <a:ext cx="4342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2030E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8991600" y="3705225"/>
            <a:ext cx="266700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991600" y="2647950"/>
            <a:ext cx="2667000" cy="28575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991600" y="2647950"/>
            <a:ext cx="9525" cy="1066800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649075" y="2647950"/>
            <a:ext cx="9525" cy="1066800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172575" y="2828925"/>
            <a:ext cx="253555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83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EPE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9172575" y="3019425"/>
            <a:ext cx="253555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167.7</a:t>
            </a:r>
            <a:endParaRPr lang="en-US" sz="2250" dirty="0"/>
          </a:p>
        </p:txBody>
      </p:sp>
      <p:sp>
        <p:nvSpPr>
          <p:cNvPr id="42" name="Text 40"/>
          <p:cNvSpPr/>
          <p:nvPr/>
        </p:nvSpPr>
        <p:spPr>
          <a:xfrm>
            <a:off x="9172575" y="3395663"/>
            <a:ext cx="4342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9597330" y="3395663"/>
            <a:ext cx="20002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9787830" y="3381375"/>
            <a:ext cx="44916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211.3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227469" y="3395663"/>
            <a:ext cx="43428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2030E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523875" y="5767388"/>
            <a:ext cx="11125200" cy="495300"/>
          </a:xfrm>
          <a:prstGeom prst="roundRect">
            <a:avLst>
              <a:gd name="adj" fmla="val 7692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95313" y="5767388"/>
            <a:ext cx="38100" cy="495300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81050" y="5953125"/>
            <a:ext cx="1892990" cy="1524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116" dirty="0">
                <a:solidFill>
                  <a:srgbClr val="D7B8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MODELING TAKEAWAY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2789761" y="5891213"/>
            <a:ext cx="712682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Case Indicates Scalable Operating Economics with Positive Downside EBITDA</a:t>
            </a:r>
            <a:endParaRPr lang="en-US" sz="1275" dirty="0"/>
          </a:p>
        </p:txBody>
      </p:sp>
      <p:sp>
        <p:nvSpPr>
          <p:cNvPr id="50" name="Shape 48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3400" y="6496050"/>
            <a:ext cx="47084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case study · Hypothetical CRE brokerage platform · Figures illustrative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11541919" y="6496050"/>
            <a:ext cx="19288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00050"/>
            <a:ext cx="1223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609600"/>
            <a:ext cx="1223772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kern="0" spc="-24" dirty="0">
                <a:solidFill>
                  <a:srgbClr val="16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Model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3400" y="1162050"/>
            <a:ext cx="67242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CHAIN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533400" y="1390650"/>
            <a:ext cx="3018383" cy="333375"/>
          </a:xfrm>
          <a:prstGeom prst="roundRect">
            <a:avLst>
              <a:gd name="adj" fmla="val 11429"/>
            </a:avLst>
          </a:prstGeom>
          <a:solidFill>
            <a:srgbClr val="F6F7F9"/>
          </a:solidFill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7225" y="1485900"/>
            <a:ext cx="28612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Volume</a:t>
            </a:r>
            <a:endParaRPr lang="en-US" sz="975" dirty="0"/>
          </a:p>
        </p:txBody>
      </p:sp>
      <p:sp>
        <p:nvSpPr>
          <p:cNvPr id="7" name="Shape 5"/>
          <p:cNvSpPr/>
          <p:nvPr/>
        </p:nvSpPr>
        <p:spPr>
          <a:xfrm>
            <a:off x="3627983" y="1390650"/>
            <a:ext cx="3018383" cy="333375"/>
          </a:xfrm>
          <a:prstGeom prst="roundRect">
            <a:avLst>
              <a:gd name="adj" fmla="val 11429"/>
            </a:avLst>
          </a:prstGeom>
          <a:solidFill>
            <a:srgbClr val="F6F7F9"/>
          </a:solidFill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751808" y="1485900"/>
            <a:ext cx="28612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Deal Size</a:t>
            </a:r>
            <a:endParaRPr lang="en-US" sz="975" dirty="0"/>
          </a:p>
        </p:txBody>
      </p:sp>
      <p:sp>
        <p:nvSpPr>
          <p:cNvPr id="9" name="Shape 7"/>
          <p:cNvSpPr/>
          <p:nvPr/>
        </p:nvSpPr>
        <p:spPr>
          <a:xfrm>
            <a:off x="533400" y="1800225"/>
            <a:ext cx="3018383" cy="333375"/>
          </a:xfrm>
          <a:prstGeom prst="roundRect">
            <a:avLst>
              <a:gd name="adj" fmla="val 11429"/>
            </a:avLst>
          </a:prstGeom>
          <a:solidFill>
            <a:srgbClr val="F6F7F9"/>
          </a:solidFill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7225" y="1895475"/>
            <a:ext cx="28612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Rates</a:t>
            </a:r>
            <a:endParaRPr lang="en-US" sz="975" dirty="0"/>
          </a:p>
        </p:txBody>
      </p:sp>
      <p:sp>
        <p:nvSpPr>
          <p:cNvPr id="11" name="Shape 9"/>
          <p:cNvSpPr/>
          <p:nvPr/>
        </p:nvSpPr>
        <p:spPr>
          <a:xfrm>
            <a:off x="3627983" y="1800225"/>
            <a:ext cx="3018383" cy="333375"/>
          </a:xfrm>
          <a:prstGeom prst="roundRect">
            <a:avLst>
              <a:gd name="adj" fmla="val 11429"/>
            </a:avLst>
          </a:prstGeom>
          <a:solidFill>
            <a:srgbClr val="F6F7F9"/>
          </a:solidFill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51808" y="1895475"/>
            <a:ext cx="286128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· Ramp · Attrition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551783" y="2209800"/>
            <a:ext cx="1524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120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0050" y="2343150"/>
            <a:ext cx="6379666" cy="342900"/>
          </a:xfrm>
          <a:prstGeom prst="roundRect">
            <a:avLst>
              <a:gd name="adj" fmla="val 11111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37705" y="2438400"/>
            <a:ext cx="63043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Commission Income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51783" y="2733675"/>
            <a:ext cx="1524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120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90525" y="2867025"/>
            <a:ext cx="6398716" cy="333375"/>
          </a:xfrm>
          <a:prstGeom prst="roundRect">
            <a:avLst>
              <a:gd name="adj" fmla="val 11429"/>
            </a:avLst>
          </a:prstGeom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7419" y="2962275"/>
            <a:ext cx="63049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Payouts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3551783" y="3248025"/>
            <a:ext cx="1524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120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00050" y="3381375"/>
            <a:ext cx="6379666" cy="342900"/>
          </a:xfrm>
          <a:prstGeom prst="roundRect">
            <a:avLst>
              <a:gd name="adj" fmla="val 11111"/>
            </a:avLst>
          </a:prstGeom>
          <a:solidFill>
            <a:srgbClr val="4F72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7705" y="3476625"/>
            <a:ext cx="63043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Dollar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551783" y="3771900"/>
            <a:ext cx="1524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120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0525" y="3905250"/>
            <a:ext cx="6398716" cy="333375"/>
          </a:xfrm>
          <a:prstGeom prst="roundRect">
            <a:avLst>
              <a:gd name="adj" fmla="val 11429"/>
            </a:avLst>
          </a:prstGeom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7419" y="4000500"/>
            <a:ext cx="630492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Expenses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3551783" y="4286250"/>
            <a:ext cx="152400" cy="123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60000"/>
              </a:lnSpc>
              <a:buNone/>
            </a:pPr>
            <a:r>
              <a:rPr lang="en-US" sz="120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00050" y="4419600"/>
            <a:ext cx="6379666" cy="390525"/>
          </a:xfrm>
          <a:prstGeom prst="roundRect">
            <a:avLst>
              <a:gd name="adj" fmla="val 9756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0050" y="4781550"/>
            <a:ext cx="6379666" cy="28575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37705" y="4524375"/>
            <a:ext cx="630435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highlight>
                  <a:srgbClr val="16304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EBITDA &amp; After-Tax Operating Income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(Unlevered)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027366" y="1162050"/>
            <a:ext cx="50941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STRUCTURE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7027366" y="1390650"/>
            <a:ext cx="547688" cy="247650"/>
          </a:xfrm>
          <a:prstGeom prst="roundRect">
            <a:avLst>
              <a:gd name="adj" fmla="val 11538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22616" y="1447800"/>
            <a:ext cx="43338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938" dirty="0"/>
          </a:p>
        </p:txBody>
      </p:sp>
      <p:sp>
        <p:nvSpPr>
          <p:cNvPr id="32" name="Text 30"/>
          <p:cNvSpPr/>
          <p:nvPr/>
        </p:nvSpPr>
        <p:spPr>
          <a:xfrm>
            <a:off x="7632204" y="1447800"/>
            <a:ext cx="19526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38" dirty="0"/>
          </a:p>
        </p:txBody>
      </p:sp>
      <p:sp>
        <p:nvSpPr>
          <p:cNvPr id="33" name="Shape 31"/>
          <p:cNvSpPr/>
          <p:nvPr/>
        </p:nvSpPr>
        <p:spPr>
          <a:xfrm>
            <a:off x="7808416" y="1390650"/>
            <a:ext cx="1249114" cy="247650"/>
          </a:xfrm>
          <a:prstGeom prst="roundRect">
            <a:avLst>
              <a:gd name="adj" fmla="val 11538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903666" y="1447800"/>
            <a:ext cx="113481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Engines</a:t>
            </a:r>
            <a:endParaRPr lang="en-US" sz="938" dirty="0"/>
          </a:p>
        </p:txBody>
      </p:sp>
      <p:sp>
        <p:nvSpPr>
          <p:cNvPr id="35" name="Text 33"/>
          <p:cNvSpPr/>
          <p:nvPr/>
        </p:nvSpPr>
        <p:spPr>
          <a:xfrm>
            <a:off x="9114681" y="1447800"/>
            <a:ext cx="19526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38" dirty="0"/>
          </a:p>
        </p:txBody>
      </p:sp>
      <p:sp>
        <p:nvSpPr>
          <p:cNvPr id="36" name="Shape 34"/>
          <p:cNvSpPr/>
          <p:nvPr/>
        </p:nvSpPr>
        <p:spPr>
          <a:xfrm>
            <a:off x="9290893" y="1390650"/>
            <a:ext cx="428625" cy="247650"/>
          </a:xfrm>
          <a:prstGeom prst="roundRect">
            <a:avLst>
              <a:gd name="adj" fmla="val 11538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386143" y="1447800"/>
            <a:ext cx="3143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</a:t>
            </a:r>
            <a:endParaRPr lang="en-US" sz="938" dirty="0"/>
          </a:p>
        </p:txBody>
      </p:sp>
      <p:sp>
        <p:nvSpPr>
          <p:cNvPr id="38" name="Text 36"/>
          <p:cNvSpPr/>
          <p:nvPr/>
        </p:nvSpPr>
        <p:spPr>
          <a:xfrm>
            <a:off x="9776668" y="1447800"/>
            <a:ext cx="19526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38" dirty="0"/>
          </a:p>
        </p:txBody>
      </p:sp>
      <p:sp>
        <p:nvSpPr>
          <p:cNvPr id="39" name="Shape 37"/>
          <p:cNvSpPr/>
          <p:nvPr/>
        </p:nvSpPr>
        <p:spPr>
          <a:xfrm>
            <a:off x="9952881" y="1390650"/>
            <a:ext cx="759768" cy="247650"/>
          </a:xfrm>
          <a:prstGeom prst="roundRect">
            <a:avLst>
              <a:gd name="adj" fmla="val 11538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10048131" y="1447800"/>
            <a:ext cx="64546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</a:t>
            </a:r>
            <a:endParaRPr lang="en-US" sz="938" dirty="0"/>
          </a:p>
        </p:txBody>
      </p:sp>
      <p:sp>
        <p:nvSpPr>
          <p:cNvPr id="41" name="Text 39"/>
          <p:cNvSpPr/>
          <p:nvPr/>
        </p:nvSpPr>
        <p:spPr>
          <a:xfrm>
            <a:off x="10769798" y="1447800"/>
            <a:ext cx="19526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38" dirty="0"/>
          </a:p>
        </p:txBody>
      </p:sp>
      <p:sp>
        <p:nvSpPr>
          <p:cNvPr id="42" name="Shape 40"/>
          <p:cNvSpPr/>
          <p:nvPr/>
        </p:nvSpPr>
        <p:spPr>
          <a:xfrm>
            <a:off x="7027366" y="1695450"/>
            <a:ext cx="1388120" cy="247650"/>
          </a:xfrm>
          <a:prstGeom prst="roundRect">
            <a:avLst>
              <a:gd name="adj" fmla="val 11538"/>
            </a:avLst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122616" y="1752600"/>
            <a:ext cx="12738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Checks</a:t>
            </a:r>
            <a:endParaRPr lang="en-US" sz="938" dirty="0"/>
          </a:p>
        </p:txBody>
      </p:sp>
      <p:sp>
        <p:nvSpPr>
          <p:cNvPr id="44" name="Shape 42"/>
          <p:cNvSpPr/>
          <p:nvPr/>
        </p:nvSpPr>
        <p:spPr>
          <a:xfrm>
            <a:off x="7027366" y="2114550"/>
            <a:ext cx="2267843" cy="647700"/>
          </a:xfrm>
          <a:prstGeom prst="roundRect">
            <a:avLst>
              <a:gd name="adj" fmla="val 5882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170241" y="2238375"/>
            <a:ext cx="21803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170241" y="2524125"/>
            <a:ext cx="21803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 model tabs</a:t>
            </a:r>
            <a:endParaRPr lang="en-US" sz="863" dirty="0"/>
          </a:p>
        </p:txBody>
      </p:sp>
      <p:sp>
        <p:nvSpPr>
          <p:cNvPr id="47" name="Shape 45"/>
          <p:cNvSpPr/>
          <p:nvPr/>
        </p:nvSpPr>
        <p:spPr>
          <a:xfrm>
            <a:off x="9390459" y="2114550"/>
            <a:ext cx="2267992" cy="647700"/>
          </a:xfrm>
          <a:prstGeom prst="roundRect">
            <a:avLst>
              <a:gd name="adj" fmla="val 5882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533334" y="2238375"/>
            <a:ext cx="21804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9533334" y="2524125"/>
            <a:ext cx="218046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r>
              <a:rPr lang="en-US" sz="900" b="1" dirty="0">
                <a:solidFill>
                  <a:srgbClr val="5A6675"/>
                </a:solidFill>
                <a:latin typeface="Arial" pitchFamily="34" charset="0"/>
                <a:cs typeface="Arial" pitchFamily="34" charset="-120"/>
              </a:rPr>
              <a:t>Revenue</a:t>
            </a:r>
            <a:r>
              <a:rPr lang="en-US" sz="9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900" b="1" dirty="0">
                <a:solidFill>
                  <a:srgbClr val="5A6675"/>
                </a:solidFill>
                <a:latin typeface="Arial" pitchFamily="34" charset="0"/>
                <a:cs typeface="Arial" pitchFamily="34" charset="-120"/>
              </a:rPr>
              <a:t>Streams</a:t>
            </a:r>
          </a:p>
        </p:txBody>
      </p:sp>
      <p:sp>
        <p:nvSpPr>
          <p:cNvPr id="50" name="Shape 48"/>
          <p:cNvSpPr/>
          <p:nvPr/>
        </p:nvSpPr>
        <p:spPr>
          <a:xfrm>
            <a:off x="7027366" y="2857500"/>
            <a:ext cx="2267843" cy="647700"/>
          </a:xfrm>
          <a:prstGeom prst="roundRect">
            <a:avLst>
              <a:gd name="adj" fmla="val 5882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170241" y="2981325"/>
            <a:ext cx="21803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170241" y="3267075"/>
            <a:ext cx="21803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</a:t>
            </a:r>
            <a:endParaRPr lang="en-US" sz="863" dirty="0"/>
          </a:p>
        </p:txBody>
      </p:sp>
      <p:sp>
        <p:nvSpPr>
          <p:cNvPr id="53" name="Shape 51"/>
          <p:cNvSpPr/>
          <p:nvPr/>
        </p:nvSpPr>
        <p:spPr>
          <a:xfrm>
            <a:off x="9390459" y="2857500"/>
            <a:ext cx="2267992" cy="647700"/>
          </a:xfrm>
          <a:prstGeom prst="roundRect">
            <a:avLst>
              <a:gd name="adj" fmla="val 5882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9533334" y="2981325"/>
            <a:ext cx="21804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9533334" y="3267075"/>
            <a:ext cx="218046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checks</a:t>
            </a:r>
            <a:endParaRPr lang="en-US" sz="863" dirty="0"/>
          </a:p>
        </p:txBody>
      </p:sp>
      <p:sp>
        <p:nvSpPr>
          <p:cNvPr id="56" name="Text 54"/>
          <p:cNvSpPr/>
          <p:nvPr/>
        </p:nvSpPr>
        <p:spPr>
          <a:xfrm>
            <a:off x="7027366" y="3695700"/>
            <a:ext cx="509419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BUSINESS LINES</a:t>
            </a:r>
            <a:endParaRPr lang="en-US" sz="825" dirty="0"/>
          </a:p>
        </p:txBody>
      </p:sp>
      <p:sp>
        <p:nvSpPr>
          <p:cNvPr id="57" name="Shape 55"/>
          <p:cNvSpPr/>
          <p:nvPr/>
        </p:nvSpPr>
        <p:spPr>
          <a:xfrm>
            <a:off x="7027366" y="3929063"/>
            <a:ext cx="95250" cy="95250"/>
          </a:xfrm>
          <a:prstGeom prst="roundRect">
            <a:avLst>
              <a:gd name="adj" fmla="val 20000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7217866" y="3905250"/>
            <a:ext cx="56210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013" dirty="0"/>
          </a:p>
        </p:txBody>
      </p:sp>
      <p:sp>
        <p:nvSpPr>
          <p:cNvPr id="59" name="Shape 57"/>
          <p:cNvSpPr/>
          <p:nvPr/>
        </p:nvSpPr>
        <p:spPr>
          <a:xfrm>
            <a:off x="7027366" y="4138613"/>
            <a:ext cx="95250" cy="95250"/>
          </a:xfrm>
          <a:prstGeom prst="roundRect">
            <a:avLst>
              <a:gd name="adj" fmla="val 20000"/>
            </a:avLst>
          </a:prstGeom>
          <a:solidFill>
            <a:srgbClr val="4F72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7217866" y="4114800"/>
            <a:ext cx="11268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Sales</a:t>
            </a:r>
            <a:endParaRPr lang="en-US" sz="1013" dirty="0"/>
          </a:p>
        </p:txBody>
      </p:sp>
      <p:sp>
        <p:nvSpPr>
          <p:cNvPr id="61" name="Shape 59"/>
          <p:cNvSpPr/>
          <p:nvPr/>
        </p:nvSpPr>
        <p:spPr>
          <a:xfrm>
            <a:off x="7027366" y="4348163"/>
            <a:ext cx="95250" cy="95250"/>
          </a:xfrm>
          <a:prstGeom prst="roundRect">
            <a:avLst>
              <a:gd name="adj" fmla="val 20000"/>
            </a:avLst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217866" y="4324350"/>
            <a:ext cx="15981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&amp; Equity Placement</a:t>
            </a:r>
            <a:endParaRPr lang="en-US" sz="1013" dirty="0"/>
          </a:p>
        </p:txBody>
      </p:sp>
      <p:sp>
        <p:nvSpPr>
          <p:cNvPr id="63" name="Shape 61"/>
          <p:cNvSpPr/>
          <p:nvPr/>
        </p:nvSpPr>
        <p:spPr>
          <a:xfrm>
            <a:off x="7027366" y="4557713"/>
            <a:ext cx="95250" cy="95250"/>
          </a:xfrm>
          <a:prstGeom prst="roundRect">
            <a:avLst>
              <a:gd name="adj" fmla="val 20000"/>
            </a:avLst>
          </a:prstGeom>
          <a:solidFill>
            <a:srgbClr val="C7D0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7217866" y="4533900"/>
            <a:ext cx="13623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Valuation &amp; Advisory</a:t>
            </a:r>
            <a:endParaRPr lang="en-US" sz="1013" dirty="0"/>
          </a:p>
        </p:txBody>
      </p:sp>
      <p:sp>
        <p:nvSpPr>
          <p:cNvPr id="65" name="Shape 63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33400" y="6496050"/>
            <a:ext cx="47084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case study · Hypothetical CRE brokerage platform · Figures illustrative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11541919" y="6496050"/>
            <a:ext cx="19288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00050"/>
            <a:ext cx="1223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OPERATING OUTLOOK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609600"/>
            <a:ext cx="10301288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75" b="1" kern="0" spc="-22" dirty="0">
                <a:solidFill>
                  <a:srgbClr val="16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 Growth Is Driven by Operating Capacity and Transaction Activity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533400" y="1390650"/>
            <a:ext cx="5419725" cy="4314825"/>
          </a:xfrm>
          <a:prstGeom prst="roundRect">
            <a:avLst>
              <a:gd name="adj" fmla="val 1104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4375" y="1552575"/>
            <a:ext cx="55635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Mix by Business Line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714375" y="1714500"/>
            <a:ext cx="556355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2026E–2030E · Gross Commission Income, $M</a:t>
            </a:r>
            <a:endParaRPr lang="en-US" sz="86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905000"/>
            <a:ext cx="5057775" cy="34671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4375" y="54387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66775" y="5429250"/>
            <a:ext cx="4901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863" dirty="0"/>
          </a:p>
        </p:txBody>
      </p:sp>
      <p:sp>
        <p:nvSpPr>
          <p:cNvPr id="10" name="Shape 7"/>
          <p:cNvSpPr/>
          <p:nvPr/>
        </p:nvSpPr>
        <p:spPr>
          <a:xfrm>
            <a:off x="1433215" y="54387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4F72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585615" y="5429250"/>
            <a:ext cx="9711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Sales</a:t>
            </a:r>
            <a:endParaRPr lang="en-US" sz="863" dirty="0"/>
          </a:p>
        </p:txBody>
      </p:sp>
      <p:sp>
        <p:nvSpPr>
          <p:cNvPr id="12" name="Shape 9"/>
          <p:cNvSpPr/>
          <p:nvPr/>
        </p:nvSpPr>
        <p:spPr>
          <a:xfrm>
            <a:off x="2633067" y="54387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785467" y="5429250"/>
            <a:ext cx="7942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Debt &amp; Equity</a:t>
            </a:r>
            <a:endParaRPr lang="en-US" sz="863" dirty="0"/>
          </a:p>
        </p:txBody>
      </p:sp>
      <p:sp>
        <p:nvSpPr>
          <p:cNvPr id="14" name="Shape 11"/>
          <p:cNvSpPr/>
          <p:nvPr/>
        </p:nvSpPr>
        <p:spPr>
          <a:xfrm>
            <a:off x="3655963" y="54387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7D0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08363" y="5429250"/>
            <a:ext cx="5449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863" dirty="0"/>
          </a:p>
        </p:txBody>
      </p:sp>
      <p:sp>
        <p:nvSpPr>
          <p:cNvPr id="16" name="Shape 13"/>
          <p:cNvSpPr/>
          <p:nvPr/>
        </p:nvSpPr>
        <p:spPr>
          <a:xfrm>
            <a:off x="6238875" y="1390650"/>
            <a:ext cx="5419725" cy="4314825"/>
          </a:xfrm>
          <a:prstGeom prst="roundRect">
            <a:avLst>
              <a:gd name="adj" fmla="val 1104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19850" y="1552575"/>
            <a:ext cx="55635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Growth &amp; Margin Expansion</a:t>
            </a:r>
            <a:endParaRPr lang="en-US" sz="1013" dirty="0"/>
          </a:p>
        </p:txBody>
      </p:sp>
      <p:sp>
        <p:nvSpPr>
          <p:cNvPr id="18" name="Text 15"/>
          <p:cNvSpPr/>
          <p:nvPr/>
        </p:nvSpPr>
        <p:spPr>
          <a:xfrm>
            <a:off x="6419850" y="1714500"/>
            <a:ext cx="556355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2026E–2030E · EBITDA $M (bars) · EBITDA Margin % (line)</a:t>
            </a:r>
            <a:endParaRPr lang="en-US" sz="863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1905000"/>
            <a:ext cx="5057775" cy="346710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419850" y="54387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572250" y="5429250"/>
            <a:ext cx="7354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($M)</a:t>
            </a:r>
            <a:endParaRPr lang="en-US" sz="863" dirty="0"/>
          </a:p>
        </p:txBody>
      </p:sp>
      <p:sp>
        <p:nvSpPr>
          <p:cNvPr id="22" name="Shape 18"/>
          <p:cNvSpPr/>
          <p:nvPr/>
        </p:nvSpPr>
        <p:spPr>
          <a:xfrm>
            <a:off x="7383959" y="5472113"/>
            <a:ext cx="152400" cy="28575"/>
          </a:xfrm>
          <a:prstGeom prst="roundRect">
            <a:avLst>
              <a:gd name="adj" fmla="val 50000"/>
            </a:avLst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7593509" y="5429250"/>
            <a:ext cx="1070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3" b="1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Margin (%)</a:t>
            </a:r>
            <a:endParaRPr lang="en-US" sz="863" dirty="0"/>
          </a:p>
        </p:txBody>
      </p:sp>
      <p:sp>
        <p:nvSpPr>
          <p:cNvPr id="24" name="Shape 20"/>
          <p:cNvSpPr/>
          <p:nvPr/>
        </p:nvSpPr>
        <p:spPr>
          <a:xfrm>
            <a:off x="533400" y="5857875"/>
            <a:ext cx="11125200" cy="409575"/>
          </a:xfrm>
          <a:prstGeom prst="roundRect">
            <a:avLst>
              <a:gd name="adj" fmla="val 9302"/>
            </a:avLst>
          </a:prstGeom>
          <a:solidFill>
            <a:srgbClr val="F6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33400" y="5857875"/>
            <a:ext cx="38100" cy="409575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742950" y="5972175"/>
            <a:ext cx="1107795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GCI grows from approximately $262M to $358M</a:t>
            </a:r>
            <a:r>
              <a:rPr lang="en-US" sz="1050" dirty="0">
                <a:solidFill>
                  <a:srgbClr val="2C3A4B"/>
                </a:solidFill>
                <a:highlight>
                  <a:srgbClr val="F6F7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while EBITDA expands from approximately $38M to $57M as fixed-cost leverage improves profitability.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533400" y="6496050"/>
            <a:ext cx="55008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expansion framed 2026E–2030E. Revised referral-fee treatment limits 2025A→2026E comparability.</a:t>
            </a:r>
            <a:endParaRPr lang="en-US" sz="825" dirty="0"/>
          </a:p>
        </p:txBody>
      </p:sp>
      <p:sp>
        <p:nvSpPr>
          <p:cNvPr id="29" name="Text 25"/>
          <p:cNvSpPr/>
          <p:nvPr/>
        </p:nvSpPr>
        <p:spPr>
          <a:xfrm>
            <a:off x="11541919" y="6496050"/>
            <a:ext cx="19288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00050"/>
            <a:ext cx="1223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&amp; UNIT 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609600"/>
            <a:ext cx="122377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kern="0" spc="-22" dirty="0">
                <a:solidFill>
                  <a:srgbClr val="16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Dollar Connects Producer Economics to Profitability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533400" y="1076325"/>
            <a:ext cx="6415088" cy="4676775"/>
          </a:xfrm>
          <a:prstGeom prst="roundRect">
            <a:avLst>
              <a:gd name="adj" fmla="val 1018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4375" y="1238250"/>
            <a:ext cx="665845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GCI → Company Dollar → EBITDA Waterfall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714375" y="1400175"/>
            <a:ext cx="66584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2030E Base Case · $M</a:t>
            </a:r>
            <a:endParaRPr lang="en-US" sz="86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571625"/>
            <a:ext cx="6053138" cy="40195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34238" y="1076325"/>
            <a:ext cx="1417588" cy="552450"/>
          </a:xfrm>
          <a:prstGeom prst="roundRect">
            <a:avLst>
              <a:gd name="adj" fmla="val 6897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48538" y="1181100"/>
            <a:ext cx="126518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4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EPE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348538" y="1314450"/>
            <a:ext cx="12651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211.3</a:t>
            </a:r>
            <a:endParaRPr lang="en-US" sz="1425" dirty="0"/>
          </a:p>
        </p:txBody>
      </p:sp>
      <p:sp>
        <p:nvSpPr>
          <p:cNvPr id="11" name="Shape 8"/>
          <p:cNvSpPr/>
          <p:nvPr/>
        </p:nvSpPr>
        <p:spPr>
          <a:xfrm>
            <a:off x="8737550" y="1076325"/>
            <a:ext cx="1417588" cy="552450"/>
          </a:xfrm>
          <a:prstGeom prst="roundRect">
            <a:avLst>
              <a:gd name="adj" fmla="val 6897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851850" y="1181100"/>
            <a:ext cx="126518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4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/ EPE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8851850" y="1314450"/>
            <a:ext cx="12651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$1,692K</a:t>
            </a:r>
            <a:endParaRPr lang="en-US" sz="1425" dirty="0"/>
          </a:p>
        </p:txBody>
      </p:sp>
      <p:sp>
        <p:nvSpPr>
          <p:cNvPr id="14" name="Shape 11"/>
          <p:cNvSpPr/>
          <p:nvPr/>
        </p:nvSpPr>
        <p:spPr>
          <a:xfrm>
            <a:off x="10240863" y="1076325"/>
            <a:ext cx="1417588" cy="552450"/>
          </a:xfrm>
          <a:prstGeom prst="roundRect">
            <a:avLst>
              <a:gd name="adj" fmla="val 6897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355163" y="1181100"/>
            <a:ext cx="126518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4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/ EPE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0355163" y="1314450"/>
            <a:ext cx="12651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$270.6K</a:t>
            </a:r>
            <a:endParaRPr lang="en-US" sz="1425" dirty="0"/>
          </a:p>
        </p:txBody>
      </p:sp>
      <p:sp>
        <p:nvSpPr>
          <p:cNvPr id="17" name="Shape 14"/>
          <p:cNvSpPr/>
          <p:nvPr/>
        </p:nvSpPr>
        <p:spPr>
          <a:xfrm>
            <a:off x="7234238" y="1714500"/>
            <a:ext cx="1417588" cy="552450"/>
          </a:xfrm>
          <a:prstGeom prst="roundRect">
            <a:avLst>
              <a:gd name="adj" fmla="val 6897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48538" y="1819275"/>
            <a:ext cx="126518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4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DOLLAR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348538" y="1952625"/>
            <a:ext cx="12651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$100.8M</a:t>
            </a:r>
            <a:endParaRPr lang="en-US" sz="1425" dirty="0"/>
          </a:p>
        </p:txBody>
      </p:sp>
      <p:sp>
        <p:nvSpPr>
          <p:cNvPr id="20" name="Shape 17"/>
          <p:cNvSpPr/>
          <p:nvPr/>
        </p:nvSpPr>
        <p:spPr>
          <a:xfrm>
            <a:off x="8737550" y="1714500"/>
            <a:ext cx="1417588" cy="552450"/>
          </a:xfrm>
          <a:prstGeom prst="roundRect">
            <a:avLst>
              <a:gd name="adj" fmla="val 6897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851850" y="1819275"/>
            <a:ext cx="126518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4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CO$ MARGIN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8851850" y="1952625"/>
            <a:ext cx="12651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28.2%</a:t>
            </a:r>
            <a:endParaRPr lang="en-US" sz="1425" dirty="0"/>
          </a:p>
        </p:txBody>
      </p:sp>
      <p:sp>
        <p:nvSpPr>
          <p:cNvPr id="23" name="Shape 20"/>
          <p:cNvSpPr/>
          <p:nvPr/>
        </p:nvSpPr>
        <p:spPr>
          <a:xfrm>
            <a:off x="10240863" y="1714500"/>
            <a:ext cx="1417588" cy="552450"/>
          </a:xfrm>
          <a:prstGeom prst="roundRect">
            <a:avLst>
              <a:gd name="adj" fmla="val 6897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355163" y="1819275"/>
            <a:ext cx="1265188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50" b="1" kern="0" spc="4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EFF. PAYOUT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10355163" y="1952625"/>
            <a:ext cx="1265188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71.8%</a:t>
            </a:r>
            <a:endParaRPr lang="en-US" sz="1425" dirty="0"/>
          </a:p>
        </p:txBody>
      </p:sp>
      <p:sp>
        <p:nvSpPr>
          <p:cNvPr id="26" name="Shape 23"/>
          <p:cNvSpPr/>
          <p:nvPr/>
        </p:nvSpPr>
        <p:spPr>
          <a:xfrm>
            <a:off x="7234238" y="2371725"/>
            <a:ext cx="4424214" cy="3381375"/>
          </a:xfrm>
          <a:prstGeom prst="roundRect">
            <a:avLst>
              <a:gd name="adj" fmla="val 1408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377113" y="2495550"/>
            <a:ext cx="455231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per EPE Trend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377113" y="2638425"/>
            <a:ext cx="455231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788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2026E–2030E · $K per effective producer</a:t>
            </a:r>
            <a:endParaRPr lang="en-US" sz="788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113" y="2790825"/>
            <a:ext cx="4138464" cy="283845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533400" y="5886450"/>
            <a:ext cx="11125200" cy="400050"/>
          </a:xfrm>
          <a:prstGeom prst="roundRect">
            <a:avLst>
              <a:gd name="adj" fmla="val 9524"/>
            </a:avLst>
          </a:prstGeom>
          <a:solidFill>
            <a:srgbClr val="F6F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33400" y="5886450"/>
            <a:ext cx="38100" cy="400050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742950" y="6000750"/>
            <a:ext cx="1107795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Dollar remains relatively stable as a share of GCI</a:t>
            </a:r>
            <a:r>
              <a:rPr lang="en-US" sz="1013" dirty="0">
                <a:solidFill>
                  <a:srgbClr val="2C3A4B"/>
                </a:solidFill>
                <a:highlight>
                  <a:srgbClr val="F6F7F9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, while EBITDA margin expands below Company Dollar as fixed corporate costs are spread across a larger producer base.</a:t>
            </a:r>
            <a:endParaRPr lang="en-US" sz="1013" dirty="0"/>
          </a:p>
        </p:txBody>
      </p:sp>
      <p:sp>
        <p:nvSpPr>
          <p:cNvPr id="33" name="Shape 29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0"/>
          <p:cNvSpPr/>
          <p:nvPr/>
        </p:nvSpPr>
        <p:spPr>
          <a:xfrm>
            <a:off x="533400" y="6496050"/>
            <a:ext cx="47084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case study · Hypothetical CRE brokerage platform · Figures illustrative</a:t>
            </a:r>
            <a:endParaRPr lang="en-US" sz="825" dirty="0"/>
          </a:p>
        </p:txBody>
      </p:sp>
      <p:sp>
        <p:nvSpPr>
          <p:cNvPr id="35" name="Text 31"/>
          <p:cNvSpPr/>
          <p:nvPr/>
        </p:nvSpPr>
        <p:spPr>
          <a:xfrm>
            <a:off x="11541919" y="6496050"/>
            <a:ext cx="19288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00050"/>
            <a:ext cx="1223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DOWNSIDE RESILIENCE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609600"/>
            <a:ext cx="122377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kern="0" spc="-22" dirty="0">
                <a:solidFill>
                  <a:srgbClr val="16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Analysis Tests Downside Resilience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533400" y="1095375"/>
            <a:ext cx="4986040" cy="5153025"/>
          </a:xfrm>
          <a:prstGeom prst="roundRect">
            <a:avLst>
              <a:gd name="adj" fmla="val 955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4375" y="1257300"/>
            <a:ext cx="50864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EBITDA by Scenario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714375" y="1419225"/>
            <a:ext cx="50864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63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2028E Representative (Scenario Comparison) · $M</a:t>
            </a:r>
            <a:endParaRPr lang="en-US" sz="863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1590675"/>
            <a:ext cx="4624090" cy="4191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4375" y="5819775"/>
            <a:ext cx="47628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788" dirty="0">
                <a:solidFill>
                  <a:srgbClr val="8A93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estimates are derived from the integrated scenario framework; see model methodology for detailed assumptions.</a:t>
            </a:r>
            <a:endParaRPr lang="en-US" sz="788" dirty="0"/>
          </a:p>
        </p:txBody>
      </p:sp>
      <p:sp>
        <p:nvSpPr>
          <p:cNvPr id="9" name="Text 6"/>
          <p:cNvSpPr/>
          <p:nvPr/>
        </p:nvSpPr>
        <p:spPr>
          <a:xfrm>
            <a:off x="5805190" y="1095375"/>
            <a:ext cx="643875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MITIGANTS</a:t>
            </a:r>
            <a:endParaRPr lang="en-US" sz="825" dirty="0"/>
          </a:p>
        </p:txBody>
      </p:sp>
      <p:sp>
        <p:nvSpPr>
          <p:cNvPr id="10" name="Shape 7"/>
          <p:cNvSpPr/>
          <p:nvPr/>
        </p:nvSpPr>
        <p:spPr>
          <a:xfrm>
            <a:off x="5805190" y="1304925"/>
            <a:ext cx="5853410" cy="4943475"/>
          </a:xfrm>
          <a:prstGeom prst="roundRect">
            <a:avLst>
              <a:gd name="adj" fmla="val 963"/>
            </a:avLst>
          </a:prstGeom>
          <a:ln w="9525">
            <a:solidFill>
              <a:srgbClr val="E3E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814715" y="1314450"/>
            <a:ext cx="5834360" cy="304800"/>
          </a:xfrm>
          <a:prstGeom prst="rect">
            <a:avLst/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948065" y="1409700"/>
            <a:ext cx="266456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8660606" y="1314450"/>
            <a:ext cx="9525" cy="304800"/>
          </a:xfrm>
          <a:prstGeom prst="rect">
            <a:avLst/>
          </a:prstGeom>
          <a:solidFill>
            <a:srgbClr val="2C48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803481" y="1409700"/>
            <a:ext cx="28018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6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MITIGANT</a:t>
            </a:r>
            <a:endParaRPr lang="en-US" sz="825" dirty="0"/>
          </a:p>
        </p:txBody>
      </p:sp>
      <p:sp>
        <p:nvSpPr>
          <p:cNvPr id="15" name="Shape 12"/>
          <p:cNvSpPr/>
          <p:nvPr/>
        </p:nvSpPr>
        <p:spPr>
          <a:xfrm>
            <a:off x="5814715" y="2767013"/>
            <a:ext cx="5834360" cy="95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948065" y="2121694"/>
            <a:ext cx="26645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attrition</a:t>
            </a:r>
            <a:endParaRPr lang="en-US" sz="1013" dirty="0"/>
          </a:p>
        </p:txBody>
      </p:sp>
      <p:sp>
        <p:nvSpPr>
          <p:cNvPr id="17" name="Shape 14"/>
          <p:cNvSpPr/>
          <p:nvPr/>
        </p:nvSpPr>
        <p:spPr>
          <a:xfrm>
            <a:off x="8660606" y="2016919"/>
            <a:ext cx="9525" cy="3524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803481" y="2121694"/>
            <a:ext cx="28018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payout structure</a:t>
            </a:r>
            <a:endParaRPr lang="en-US" sz="1013" dirty="0"/>
          </a:p>
        </p:txBody>
      </p:sp>
      <p:sp>
        <p:nvSpPr>
          <p:cNvPr id="19" name="Shape 16"/>
          <p:cNvSpPr/>
          <p:nvPr/>
        </p:nvSpPr>
        <p:spPr>
          <a:xfrm>
            <a:off x="5814715" y="2776538"/>
            <a:ext cx="5834360" cy="1157288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814715" y="3924300"/>
            <a:ext cx="5834360" cy="95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5948065" y="3278981"/>
            <a:ext cx="26645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Transaction-market cyclicality</a:t>
            </a:r>
            <a:endParaRPr lang="en-US" sz="1013" dirty="0"/>
          </a:p>
        </p:txBody>
      </p:sp>
      <p:sp>
        <p:nvSpPr>
          <p:cNvPr id="22" name="Shape 19"/>
          <p:cNvSpPr/>
          <p:nvPr/>
        </p:nvSpPr>
        <p:spPr>
          <a:xfrm>
            <a:off x="8660606" y="3174206"/>
            <a:ext cx="9525" cy="3524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803481" y="3278981"/>
            <a:ext cx="28018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Diversified business-line mix</a:t>
            </a:r>
            <a:endParaRPr lang="en-US" sz="1013" dirty="0"/>
          </a:p>
        </p:txBody>
      </p:sp>
      <p:sp>
        <p:nvSpPr>
          <p:cNvPr id="24" name="Shape 21"/>
          <p:cNvSpPr/>
          <p:nvPr/>
        </p:nvSpPr>
        <p:spPr>
          <a:xfrm>
            <a:off x="5814715" y="5081588"/>
            <a:ext cx="5834360" cy="95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948065" y="4436269"/>
            <a:ext cx="26645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compression</a:t>
            </a:r>
            <a:endParaRPr lang="en-US" sz="1013" dirty="0"/>
          </a:p>
        </p:txBody>
      </p:sp>
      <p:sp>
        <p:nvSpPr>
          <p:cNvPr id="26" name="Shape 23"/>
          <p:cNvSpPr/>
          <p:nvPr/>
        </p:nvSpPr>
        <p:spPr>
          <a:xfrm>
            <a:off x="8660606" y="4331494"/>
            <a:ext cx="9525" cy="3524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803481" y="4436269"/>
            <a:ext cx="28018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Dollar focus</a:t>
            </a:r>
            <a:endParaRPr lang="en-US" sz="1013" dirty="0"/>
          </a:p>
        </p:txBody>
      </p:sp>
      <p:sp>
        <p:nvSpPr>
          <p:cNvPr id="28" name="Shape 25"/>
          <p:cNvSpPr/>
          <p:nvPr/>
        </p:nvSpPr>
        <p:spPr>
          <a:xfrm>
            <a:off x="5814715" y="5091113"/>
            <a:ext cx="5834360" cy="1147763"/>
          </a:xfrm>
          <a:prstGeom prst="rect">
            <a:avLst/>
          </a:prstGeom>
          <a:solidFill>
            <a:srgbClr val="FAFB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948065" y="5593556"/>
            <a:ext cx="266456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&amp; ramp execution</a:t>
            </a:r>
            <a:endParaRPr lang="en-US" sz="1013" dirty="0"/>
          </a:p>
        </p:txBody>
      </p:sp>
      <p:sp>
        <p:nvSpPr>
          <p:cNvPr id="30" name="Shape 27"/>
          <p:cNvSpPr/>
          <p:nvPr/>
        </p:nvSpPr>
        <p:spPr>
          <a:xfrm>
            <a:off x="8660606" y="5488781"/>
            <a:ext cx="9525" cy="3524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8803481" y="5593556"/>
            <a:ext cx="28018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Disciplined hiring assumptions</a:t>
            </a:r>
            <a:endParaRPr lang="en-US" sz="1013" dirty="0"/>
          </a:p>
        </p:txBody>
      </p:sp>
      <p:sp>
        <p:nvSpPr>
          <p:cNvPr id="32" name="Shape 29"/>
          <p:cNvSpPr/>
          <p:nvPr/>
        </p:nvSpPr>
        <p:spPr>
          <a:xfrm>
            <a:off x="533400" y="6400800"/>
            <a:ext cx="1112520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533400" y="6496050"/>
            <a:ext cx="466379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operating case · Scenario outputs from the integrated 2028E framework (Tab 09)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11541919" y="6496050"/>
            <a:ext cx="19288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400050"/>
            <a:ext cx="1223772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00" b="1" kern="0" spc="18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MODELING TAKEAWAYS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609600"/>
            <a:ext cx="1223772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kern="0" spc="-22" dirty="0">
                <a:solidFill>
                  <a:srgbClr val="1630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Model Demonstrates</a:t>
            </a:r>
            <a:endParaRPr lang="en-US" sz="2175" dirty="0"/>
          </a:p>
        </p:txBody>
      </p:sp>
      <p:sp>
        <p:nvSpPr>
          <p:cNvPr id="4" name="Shape 2"/>
          <p:cNvSpPr/>
          <p:nvPr/>
        </p:nvSpPr>
        <p:spPr>
          <a:xfrm>
            <a:off x="533400" y="2143125"/>
            <a:ext cx="3606701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3400" y="1114425"/>
            <a:ext cx="3606701" cy="28575"/>
          </a:xfrm>
          <a:prstGeom prst="rect">
            <a:avLst/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33400" y="1114425"/>
            <a:ext cx="9525" cy="10382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30576" y="1114425"/>
            <a:ext cx="9525" cy="10382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4375" y="1295400"/>
            <a:ext cx="3569226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08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14375" y="1609725"/>
            <a:ext cx="334209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built from operating drivers rather than a top-down growth assumption.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2501" y="2143125"/>
            <a:ext cx="360685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92501" y="1114425"/>
            <a:ext cx="3606850" cy="28575"/>
          </a:xfrm>
          <a:prstGeom prst="rect">
            <a:avLst/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2501" y="1114425"/>
            <a:ext cx="9525" cy="10382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889825" y="1114425"/>
            <a:ext cx="9525" cy="10382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73476" y="1295400"/>
            <a:ext cx="35693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08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473476" y="1609725"/>
            <a:ext cx="334224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payouts and Company Dollar determine the platform's true operating economics.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51750" y="2143125"/>
            <a:ext cx="360685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51750" y="1114425"/>
            <a:ext cx="3606850" cy="28575"/>
          </a:xfrm>
          <a:prstGeom prst="rect">
            <a:avLst/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51750" y="1114425"/>
            <a:ext cx="9525" cy="10382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649075" y="1114425"/>
            <a:ext cx="9525" cy="10382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32725" y="1295400"/>
            <a:ext cx="356939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B08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232725" y="1609725"/>
            <a:ext cx="334224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050" dirty="0">
                <a:solidFill>
                  <a:srgbClr val="2C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Fixed-cost leverage supports margin expansion while variable compensation protects downside profitability.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3400" y="2362200"/>
            <a:ext cx="1223772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25" b="1" kern="0" spc="99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DEMONSTRATED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533400" y="2581275"/>
            <a:ext cx="1831032" cy="314325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5325" y="2667000"/>
            <a:ext cx="158338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Driver-Based Forecasting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2450157" y="2581275"/>
            <a:ext cx="1747986" cy="314325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612082" y="2667000"/>
            <a:ext cx="15003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Model Design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4283869" y="2581275"/>
            <a:ext cx="1404193" cy="314325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445794" y="2667000"/>
            <a:ext cx="115654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Planning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5773787" y="2581275"/>
            <a:ext cx="2463850" cy="314325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35712" y="2667000"/>
            <a:ext cx="22162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&amp; Commission Economics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8323362" y="2581275"/>
            <a:ext cx="1521172" cy="314325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85287" y="2667000"/>
            <a:ext cx="127352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Reporting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533400" y="2981325"/>
            <a:ext cx="1747838" cy="314325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7DE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95325" y="3067050"/>
            <a:ext cx="150018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1630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Integrity Controls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533400" y="5505450"/>
            <a:ext cx="11125200" cy="762000"/>
          </a:xfrm>
          <a:prstGeom prst="roundRect">
            <a:avLst>
              <a:gd name="adj" fmla="val 5000"/>
            </a:avLst>
          </a:prstGeom>
          <a:solidFill>
            <a:srgbClr val="1630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33400" y="5505450"/>
            <a:ext cx="38100" cy="762000"/>
          </a:xfrm>
          <a:prstGeom prst="rect">
            <a:avLst/>
          </a:prstGeom>
          <a:solidFill>
            <a:srgbClr val="B08D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81050" y="5657850"/>
            <a:ext cx="1100175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1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 brokerage profitability is shaped by transaction activity, producer productivity, compensation economics, and operating leverage—not revenue growth alone.</a:t>
            </a:r>
            <a:endParaRPr lang="en-US" sz="1313" dirty="0"/>
          </a:p>
        </p:txBody>
      </p:sp>
      <p:sp>
        <p:nvSpPr>
          <p:cNvPr id="38" name="Shape 36"/>
          <p:cNvSpPr/>
          <p:nvPr/>
        </p:nvSpPr>
        <p:spPr>
          <a:xfrm>
            <a:off x="533400" y="6381750"/>
            <a:ext cx="11125200" cy="9525"/>
          </a:xfrm>
          <a:prstGeom prst="rect">
            <a:avLst/>
          </a:prstGeom>
          <a:solidFill>
            <a:srgbClr val="E3E7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33400" y="6477000"/>
            <a:ext cx="1145895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788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portfolio case study. Forecasts are illustrative. After-Tax Operating Income is unlevered and assumes a 26.0% illustrative effective tax rate; no financing schedule is modeled. · 06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1006</Words>
  <Application>Microsoft Macintosh PowerPoint</Application>
  <PresentationFormat>Widescreen</PresentationFormat>
  <Paragraphs>157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Sheikh, Muhammed T</cp:lastModifiedBy>
  <cp:revision>3</cp:revision>
  <dcterms:created xsi:type="dcterms:W3CDTF">2026-06-25T15:00:01Z</dcterms:created>
  <dcterms:modified xsi:type="dcterms:W3CDTF">2026-06-25T15:07:15Z</dcterms:modified>
</cp:coreProperties>
</file>